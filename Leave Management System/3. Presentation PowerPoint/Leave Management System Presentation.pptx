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3"/>
  </p:notesMasterIdLst>
  <p:handoutMasterIdLst>
    <p:handoutMasterId r:id="rId24"/>
  </p:handoutMasterIdLst>
  <p:sldIdLst>
    <p:sldId id="256" r:id="rId2"/>
    <p:sldId id="257" r:id="rId3"/>
    <p:sldId id="268" r:id="rId4"/>
    <p:sldId id="269" r:id="rId5"/>
    <p:sldId id="270" r:id="rId6"/>
    <p:sldId id="272" r:id="rId7"/>
    <p:sldId id="273" r:id="rId8"/>
    <p:sldId id="274" r:id="rId9"/>
    <p:sldId id="282" r:id="rId10"/>
    <p:sldId id="284" r:id="rId11"/>
    <p:sldId id="281" r:id="rId12"/>
    <p:sldId id="289" r:id="rId13"/>
    <p:sldId id="292" r:id="rId14"/>
    <p:sldId id="293" r:id="rId15"/>
    <p:sldId id="290" r:id="rId16"/>
    <p:sldId id="295" r:id="rId17"/>
    <p:sldId id="275" r:id="rId18"/>
    <p:sldId id="294" r:id="rId19"/>
    <p:sldId id="283" r:id="rId20"/>
    <p:sldId id="288" r:id="rId21"/>
    <p:sldId id="267"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2BDAE9"/>
    <a:srgbClr val="D3F0FD"/>
    <a:srgbClr val="FFFFFF"/>
    <a:srgbClr val="0793EA"/>
    <a:srgbClr val="026DCF"/>
    <a:srgbClr val="4BACC6"/>
    <a:srgbClr val="EEC725"/>
    <a:srgbClr val="0B2046"/>
    <a:srgbClr val="B6802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548" autoAdjust="0"/>
    <p:restoredTop sz="76235" autoAdjust="0"/>
  </p:normalViewPr>
  <p:slideViewPr>
    <p:cSldViewPr snapToGrid="0" snapToObjects="1" showGuides="1">
      <p:cViewPr varScale="1">
        <p:scale>
          <a:sx n="73" d="100"/>
          <a:sy n="73" d="100"/>
        </p:scale>
        <p:origin x="907" y="4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0DB028-F3B4-43E5-BFBA-646A4FDD009C}" type="datetimeFigureOut">
              <a:rPr lang="en-US" smtClean="0"/>
              <a:t>31/08/2026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A4CD491-0E23-4B54-977F-25F05F4A6BE5}" type="slidenum">
              <a:rPr lang="en-US" smtClean="0"/>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9B787F3-EBD3-4FC2-A889-C00EA6EB85D1}" type="datetimeFigureOut">
              <a:rPr lang="en-US" smtClean="0"/>
              <a:t>31/08/2026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EA0FD98-7654-445C-8E24-0AB7F0410E36}" type="slidenum">
              <a:rPr lang="en-US" smtClean="0"/>
              <a:t>‹#›</a:t>
            </a:fld>
            <a:endParaRPr lang="en-US"/>
          </a:p>
        </p:txBody>
      </p:sp>
    </p:spTree>
    <p:extLst>
      <p:ext uri="{BB962C8B-B14F-4D97-AF65-F5344CB8AC3E}">
        <p14:creationId xmlns:p14="http://schemas.microsoft.com/office/powerpoint/2010/main" val="2623737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[20/08/2026 9:39 AM] Hsu Wai: </a:t>
            </a:r>
            <a:r>
              <a:rPr lang="my-MM" dirty="0"/>
              <a:t>ရှေးဦးစွာ ကျွန်မတို့ စနစ်၏ အနှစ်ချုပ်ဖြစ်သော </a:t>
            </a:r>
            <a:r>
              <a:rPr lang="en-US" dirty="0"/>
              <a:t>Abstract </a:t>
            </a:r>
            <a:r>
              <a:rPr lang="my-MM" dirty="0"/>
              <a:t>ပိုင်းကို စတင် တင်ပြပါရစေရှင့်။</a:t>
            </a:r>
            <a:br>
              <a:rPr lang="my-MM" dirty="0"/>
            </a:br>
            <a:br>
              <a:rPr lang="my-MM" dirty="0"/>
            </a:br>
            <a:r>
              <a:rPr lang="my-MM" dirty="0"/>
              <a:t>ကျွန်မတို့ ရေးဆွဲထားတဲ့ </a:t>
            </a:r>
            <a:r>
              <a:rPr lang="en-US" dirty="0"/>
              <a:t>UCSH Leave Management System (LMS) </a:t>
            </a:r>
            <a:r>
              <a:rPr lang="my-MM" dirty="0"/>
              <a:t>ဟာ </a:t>
            </a:r>
            <a:r>
              <a:rPr lang="en-US" dirty="0"/>
              <a:t>UCSH </a:t>
            </a:r>
            <a:r>
              <a:rPr lang="my-MM" dirty="0"/>
              <a:t>တက္ကသိုလ်ရဲ့ ဝန်ထမ်းများ ခွင့်လျှောက်ထားခြင်း၊ စိစစ်ထောက်ခံခြင်း၊ အပြီးသတ် အတည်ပြုခြင်းနဲ့ ခွင့်မှတ်တမ်းများကို </a:t>
            </a:r>
            <a:r>
              <a:rPr lang="en-US" dirty="0" err="1"/>
              <a:t>စနစ်တကျကြည</a:t>
            </a:r>
            <a:r>
              <a:rPr lang="en-US" dirty="0"/>
              <a:t>့်</a:t>
            </a:r>
            <a:r>
              <a:rPr lang="en-US" dirty="0" err="1"/>
              <a:t>ရှူခြင်း</a:t>
            </a:r>
            <a:r>
              <a:rPr lang="en-US" dirty="0"/>
              <a:t> </a:t>
            </a:r>
            <a:r>
              <a:rPr lang="my-MM" dirty="0"/>
              <a:t>စတဲ့ လုပ်ငန်းစဉ်တစ်ခုလုံးကို ပိုမို လွယ်ကူ လျင်မြန်စေဖို့ ထောက်ပံ့ပေးမည့် </a:t>
            </a:r>
            <a:r>
              <a:rPr lang="en-US" dirty="0"/>
              <a:t>Web-based Platform </a:t>
            </a:r>
            <a:r>
              <a:rPr lang="my-MM" dirty="0"/>
              <a:t>တစ်ခု ဖြစ်ပါတယ်ရှင့်။</a:t>
            </a:r>
            <a:br>
              <a:rPr lang="my-MM" dirty="0"/>
            </a:br>
            <a:br>
              <a:rPr lang="my-MM" dirty="0"/>
            </a:br>
            <a:r>
              <a:rPr lang="my-MM" dirty="0"/>
              <a:t>ဒီ စနစ်ဟာ </a:t>
            </a:r>
            <a:r>
              <a:rPr lang="en-US" dirty="0"/>
              <a:t>Staff </a:t>
            </a:r>
            <a:r>
              <a:rPr lang="my-MM" dirty="0"/>
              <a:t>များအတွက် </a:t>
            </a:r>
            <a:r>
              <a:rPr lang="en-US" dirty="0"/>
              <a:t>Online </a:t>
            </a:r>
            <a:r>
              <a:rPr lang="my-MM" dirty="0"/>
              <a:t>မှ ခွင့်</a:t>
            </a:r>
            <a:r>
              <a:rPr lang="en-US" dirty="0"/>
              <a:t>လျှ</a:t>
            </a:r>
            <a:r>
              <a:rPr lang="en-US" dirty="0" err="1"/>
              <a:t>ောက်ထား</a:t>
            </a:r>
            <a:r>
              <a:rPr lang="my-MM" dirty="0"/>
              <a:t>နိုင်ခြင်း၊ </a:t>
            </a:r>
            <a:r>
              <a:rPr lang="en-US" dirty="0"/>
              <a:t>Department Head </a:t>
            </a:r>
            <a:r>
              <a:rPr lang="my-MM" dirty="0"/>
              <a:t>များအတွက် စိစစ်ပြီး ထောက်ခံချက်ပေးနိုင်ခြင်း၊ စနစ်စီမံခန့်ခွဲသူ </a:t>
            </a:r>
            <a:r>
              <a:rPr lang="en-US" dirty="0"/>
              <a:t>Administrator </a:t>
            </a:r>
            <a:r>
              <a:rPr lang="my-MM" dirty="0"/>
              <a:t>အတွက် အပြီးသတ် အတည်ပြု ဆုံးဖြတ်နိုင်ခြင်း စသည်တို့ကို ဗဟိုပြု ဆောင်ရွက်ပေးနိုင်ပါတယ်။မူလ စာရွက်စာတမ်း သုံးစွဲမှုများကို လျှော့ချပေးပြီး </a:t>
            </a:r>
            <a:r>
              <a:rPr lang="en-US" dirty="0">
                <a:highlight>
                  <a:srgbClr val="FFFF00"/>
                </a:highlight>
              </a:rPr>
              <a:t>Automated Notification Workflow </a:t>
            </a:r>
            <a:r>
              <a:rPr lang="my-MM" dirty="0">
                <a:highlight>
                  <a:srgbClr val="FFFF00"/>
                </a:highlight>
              </a:rPr>
              <a:t>များဖြင့် </a:t>
            </a:r>
            <a:r>
              <a:rPr lang="my-MM" dirty="0"/>
              <a:t>မှားယွင်းမှုများကို အနည်းဆုံးအထိ လျှော့ချပေးနိုင်သည့်အတွက် ပွင့်လင်းမြင်သာပြီး တိကျသော ခွင့်မှတ်တမ်းများကို ထိန်းသိမ်းနိုင်မည် ဖြစ်ပါတယ်။</a:t>
            </a:r>
            <a:br>
              <a:rPr lang="my-MM" dirty="0"/>
            </a:br>
            <a:br>
              <a:rPr lang="my-MM" dirty="0"/>
            </a:br>
            <a:r>
              <a:rPr lang="my-MM" dirty="0"/>
              <a:t>ဒါ့အပြင် တိကျသော ခွင့်အစီရင်ခံစာ (</a:t>
            </a:r>
            <a:r>
              <a:rPr lang="en-US" dirty="0"/>
              <a:t>Leave Reports) </a:t>
            </a:r>
            <a:r>
              <a:rPr lang="my-MM" dirty="0"/>
              <a:t>များကို ထုတ်ယူပေးနိုင်တာကြောင့် တက္ကသိုလ်၏ စီမံခန့်ခွဲမှု ဆုံးဖြတ်ချက်များနှင့် ရုံးလုပ်ငန်း ထိရောက်မှုကို စဉ်ဆက်မပြတ် တိုးတက်စေမှာ ဖြစ်ပါတယ်ရှင့်။"</a:t>
            </a:r>
            <a:endParaRPr lang="en-US" dirty="0"/>
          </a:p>
        </p:txBody>
      </p:sp>
      <p:sp>
        <p:nvSpPr>
          <p:cNvPr id="4" name="Slide Number Placeholder 3"/>
          <p:cNvSpPr>
            <a:spLocks noGrp="1"/>
          </p:cNvSpPr>
          <p:nvPr>
            <p:ph type="sldNum" sz="quarter" idx="5"/>
          </p:nvPr>
        </p:nvSpPr>
        <p:spPr/>
        <p:txBody>
          <a:bodyPr/>
          <a:lstStyle/>
          <a:p>
            <a:fld id="{AEA0FD98-7654-445C-8E24-0AB7F0410E36}" type="slidenum">
              <a:rPr lang="en-US" smtClean="0"/>
              <a:t>3</a:t>
            </a:fld>
            <a:endParaRPr lang="en-US"/>
          </a:p>
        </p:txBody>
      </p:sp>
    </p:spTree>
    <p:extLst>
      <p:ext uri="{BB962C8B-B14F-4D97-AF65-F5344CB8AC3E}">
        <p14:creationId xmlns:p14="http://schemas.microsoft.com/office/powerpoint/2010/main" val="33511050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[20/08/2026 9:40 AM] Hsu Wai: </a:t>
            </a:r>
            <a:r>
              <a:rPr lang="my-MM" dirty="0"/>
              <a:t>ဆက်လက်ပြီး </a:t>
            </a:r>
            <a:r>
              <a:rPr lang="en-US" dirty="0"/>
              <a:t>Introduction </a:t>
            </a:r>
            <a:r>
              <a:rPr lang="my-MM" dirty="0"/>
              <a:t>ပိုင်းကို တင်ပြသွားပါမယ်ရှင့်။</a:t>
            </a:r>
            <a:br>
              <a:rPr lang="my-MM" dirty="0"/>
            </a:br>
            <a:br>
              <a:rPr lang="my-MM" dirty="0"/>
            </a:br>
            <a:r>
              <a:rPr lang="my-MM" dirty="0"/>
              <a:t>လက်ရှိ တက္ကသိုလ်အများစုမှာ ခွင့်လျှောက်ထားရာမှာ </a:t>
            </a:r>
            <a:r>
              <a:rPr lang="en-US" dirty="0"/>
              <a:t>Paper-based </a:t>
            </a:r>
            <a:r>
              <a:rPr lang="my-MM" dirty="0"/>
              <a:t>စာရွက်စာတမ်း အဆင့်ဆင့်နဲ့ ဆောင်ရွက်နေရတာကြောင့် ရုံးလုပ်ငန်းစဉ် အချိန်ကြန့်ကြာခြင်းနဲ့ မှတ်တမ်းများကို ခြေရာခံရာမှာ စိန်ခေါ်မှုများ ရှိနေပါတယ်။</a:t>
            </a:r>
            <a:br>
              <a:rPr lang="my-MM" dirty="0"/>
            </a:br>
            <a:br>
              <a:rPr lang="my-MM" dirty="0"/>
            </a:br>
            <a:r>
              <a:rPr lang="my-MM" dirty="0"/>
              <a:t>ကျွန်မတို့ ရေးဆွဲထားတဲ့ </a:t>
            </a:r>
            <a:r>
              <a:rPr lang="en-US" dirty="0"/>
              <a:t>Leave Management System (LMS) </a:t>
            </a:r>
            <a:r>
              <a:rPr lang="my-MM" dirty="0"/>
              <a:t>ဟာ အဆိုပါ လုပ်ငန်းစဉ် တစ်ခုလုံးကို ဗဟိုပြု စီမံခန့်ခွဲပေးမည့် </a:t>
            </a:r>
            <a:r>
              <a:rPr lang="en-US" dirty="0"/>
              <a:t>Web-based Platform </a:t>
            </a:r>
            <a:r>
              <a:rPr lang="my-MM" dirty="0"/>
              <a:t>တစ်ခု ဖြစ်ပါတယ်ရှင့်။</a:t>
            </a:r>
            <a:br>
              <a:rPr lang="my-MM" dirty="0"/>
            </a:br>
            <a:br>
              <a:rPr lang="my-MM" dirty="0"/>
            </a:br>
            <a:r>
              <a:rPr lang="my-MM" dirty="0"/>
              <a:t>စနစ်အတွင်းမှာ </a:t>
            </a:r>
            <a:r>
              <a:rPr lang="en-US" dirty="0"/>
              <a:t>Administrator </a:t>
            </a:r>
            <a:r>
              <a:rPr lang="my-MM" dirty="0"/>
              <a:t>များအတွက် ခွင့်အမျိုးအစားများ သတ်မှတ်ခြင်းနှင့် </a:t>
            </a:r>
            <a:r>
              <a:rPr lang="en-US" dirty="0"/>
              <a:t>Final Approvals </a:t>
            </a:r>
            <a:r>
              <a:rPr lang="my-MM" dirty="0"/>
              <a:t>ပေးခြင်း၊ </a:t>
            </a:r>
            <a:r>
              <a:rPr lang="en-US" dirty="0"/>
              <a:t>Staff </a:t>
            </a:r>
            <a:r>
              <a:rPr lang="my-MM" dirty="0"/>
              <a:t>များအတွက် </a:t>
            </a:r>
            <a:r>
              <a:rPr lang="en-US" dirty="0"/>
              <a:t>Online </a:t>
            </a:r>
            <a:r>
              <a:rPr lang="my-MM" dirty="0"/>
              <a:t>မှ ခွင့်လျှောက်ထားနိုင်ခြင်း၊ </a:t>
            </a:r>
            <a:r>
              <a:rPr lang="en-US" dirty="0"/>
              <a:t>Department Head </a:t>
            </a:r>
            <a:r>
              <a:rPr lang="my-MM" dirty="0"/>
              <a:t>များအတွက် ခွင့်</a:t>
            </a:r>
            <a:br>
              <a:rPr lang="my-MM" dirty="0"/>
            </a:br>
            <a:r>
              <a:rPr lang="en-US" dirty="0"/>
              <a:t> Department Head </a:t>
            </a:r>
            <a:r>
              <a:rPr lang="my-MM" dirty="0"/>
              <a:t>များအတွက် ခွင့်လျှောက်လွှာများကို စိစစ်၍ </a:t>
            </a:r>
            <a:r>
              <a:rPr lang="en-US" dirty="0"/>
              <a:t>Recommendations </a:t>
            </a:r>
            <a:r>
              <a:rPr lang="my-MM" dirty="0"/>
              <a:t>ပေးနိုင်ခြင်း စသည်ဖြင့် အဆင့်ဆင့် ပါဝင်ပါတယ်။</a:t>
            </a:r>
            <a:endParaRPr lang="en-US" dirty="0"/>
          </a:p>
          <a:p>
            <a:r>
              <a:rPr lang="my-MM" dirty="0"/>
              <a:t>ဝန်ထမ်းများအနေဖြင့်လည်း မိမိတို့၏ ကျန်ရှိခွင့်ရက်များကို အချိန်နှင့်တစ်ပြေးညီ (</a:t>
            </a:r>
            <a:r>
              <a:rPr lang="en-US" dirty="0"/>
              <a:t>Real-time) </a:t>
            </a:r>
            <a:r>
              <a:rPr lang="my-MM" dirty="0"/>
              <a:t>စိစစ်ကြည့်ရှုနိုင်မည်ဖြစ်၍ ကြိုတင် အစီအစဉ်ဆွဲရန် လွယ်ကူသွားမည် ဖြစ်ပါတယ်ရှင့်။"</a:t>
            </a:r>
            <a:br>
              <a:rPr lang="my-MM" dirty="0"/>
            </a:br>
            <a:r>
              <a:rPr lang="my-MM" dirty="0"/>
              <a:t>ခွင့်လျှောက်ထားမှု၊ ခွင့်ရက်ကျန် စိစစ်မှုနှင့် အစီရင်ခံစာ ထုတ်ယူမှုများကို </a:t>
            </a:r>
            <a:r>
              <a:rPr lang="en-US" dirty="0"/>
              <a:t>Automation </a:t>
            </a:r>
            <a:r>
              <a:rPr lang="my-MM" dirty="0"/>
              <a:t>ပြုလုပ်ပေးခြင်းဖြင့် စီမံခန့်ခွဲမှု ရုံးလုပ်ငန်းများကို ပိုမို တိကျ ထိရောက်စေမှာ ဖြစ်ပါတယ်။</a:t>
            </a:r>
            <a:br>
              <a:rPr lang="my-MM" dirty="0"/>
            </a:br>
            <a:endParaRPr lang="en-US" dirty="0"/>
          </a:p>
        </p:txBody>
      </p:sp>
      <p:sp>
        <p:nvSpPr>
          <p:cNvPr id="4" name="Slide Number Placeholder 3"/>
          <p:cNvSpPr>
            <a:spLocks noGrp="1"/>
          </p:cNvSpPr>
          <p:nvPr>
            <p:ph type="sldNum" sz="quarter" idx="5"/>
          </p:nvPr>
        </p:nvSpPr>
        <p:spPr/>
        <p:txBody>
          <a:bodyPr/>
          <a:lstStyle/>
          <a:p>
            <a:fld id="{AEA0FD98-7654-445C-8E24-0AB7F0410E36}" type="slidenum">
              <a:rPr lang="en-US" smtClean="0"/>
              <a:t>4</a:t>
            </a:fld>
            <a:endParaRPr lang="en-US"/>
          </a:p>
        </p:txBody>
      </p:sp>
    </p:spTree>
    <p:extLst>
      <p:ext uri="{BB962C8B-B14F-4D97-AF65-F5344CB8AC3E}">
        <p14:creationId xmlns:p14="http://schemas.microsoft.com/office/powerpoint/2010/main" val="13236253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my-MM" dirty="0"/>
              <a:t>ဆက်လက်ပြီး စနစ်၏ အဓိက </a:t>
            </a:r>
            <a:r>
              <a:rPr lang="en-US" dirty="0"/>
              <a:t>Objectives (</a:t>
            </a:r>
            <a:r>
              <a:rPr lang="my-MM" dirty="0"/>
              <a:t>ရည်ရွယ်ချက်များ) ကို တင်ပြသွားပါမယ်ရှင့်။</a:t>
            </a:r>
            <a:br>
              <a:rPr lang="my-MM" dirty="0"/>
            </a:br>
            <a:br>
              <a:rPr lang="my-MM" dirty="0"/>
            </a:br>
            <a:r>
              <a:rPr lang="my-MM" dirty="0"/>
              <a:t>ပထမဦးစွာ— ဝန်ထမ်းများ၏ ခွင့်လျှောက်ထားခြင်း၊ စိစစ်ထောက်ခံခြင်း၊ အပြီးသတ် အတည်ပြုခြင်းနှင့် မှတ်တမ်းကြည့်ရှုခြင်းတို့ကို ဗဟိုပြု ဆောင်ရွက်နိုင်မည့် ထိရောက်မှုရှိသော </a:t>
            </a:r>
            <a:r>
              <a:rPr lang="en-US" dirty="0"/>
              <a:t>Web-based Platform </a:t>
            </a:r>
            <a:r>
              <a:rPr lang="my-MM" dirty="0"/>
              <a:t>တစ်ခု ပံ့ပိုးပေးရန် ဖြစ်ပါတယ်ရှင့်။</a:t>
            </a:r>
            <a:br>
              <a:rPr lang="my-MM" dirty="0"/>
            </a:br>
            <a:br>
              <a:rPr lang="my-MM" dirty="0"/>
            </a:br>
            <a:r>
              <a:rPr lang="my-MM" dirty="0"/>
              <a:t>ဒုတိယ အချက်အနေဖြင့်— ခွင့်လျှောက်ထားမှု လုပ်ငန်းစဉ်များကို ပိုမို ချောမွေ့ မြန်ဆန်စေရန်နှင့် အဆင့်ဆင့် စနစ်တကျ စိစစ်အတည်ပြုနိုင်ရန်အတွက် </a:t>
            </a:r>
            <a:r>
              <a:rPr lang="en-US" dirty="0"/>
              <a:t>Recommendation &amp; Approval Workflow </a:t>
            </a:r>
            <a:r>
              <a:rPr lang="my-MM" dirty="0"/>
              <a:t>ကို အကောင်အထည်ဖော်ရန် ဖြစ်ပါတယ်။</a:t>
            </a:r>
            <a:br>
              <a:rPr lang="my-MM" dirty="0"/>
            </a:br>
            <a:r>
              <a:rPr lang="my-MM" dirty="0"/>
              <a:t>တတိယ အချက်အနေဖြင့်— စနစ်စီမံခန့်ခွဲသူ၊ ဌာနမှူးနှင့် ဝန်ထမ်းများ၏ ကိုယ်ရေးအချက်အလက်များနှင့် ခွင့်ဆိုင်ရာ အချက်အလက်များကို စနစ်တကျ စီမံခန့်ခွဲနိုင်ရေးအတွက် လုံခြုံစိတ်ချရသော </a:t>
            </a:r>
            <a:r>
              <a:rPr lang="en-US" dirty="0"/>
              <a:t>Multi-role Access </a:t>
            </a:r>
            <a:r>
              <a:rPr lang="my-MM" dirty="0"/>
              <a:t>ပံ့ပိုးပေးရန် ဖြစ်ပါတယ်။</a:t>
            </a:r>
            <a:br>
              <a:rPr lang="my-MM" dirty="0"/>
            </a:br>
            <a:r>
              <a:rPr lang="my-MM" dirty="0"/>
              <a:t>စတုတ္ထ အချက်အနေဖြင့်— စာရွက်စာတမ်း သုံးစွဲမှုများကို လျှော့ချပြီး ကျန်ရှိသော ခွင့်ရက်များကို အချိန်နှင့်တစ်ပြေးညီ (</a:t>
            </a:r>
            <a:r>
              <a:rPr lang="en-US" dirty="0"/>
              <a:t>Real-time) </a:t>
            </a:r>
            <a:r>
              <a:rPr lang="my-MM" dirty="0"/>
              <a:t>အလိုအလျောက် တိကျစွာ တွက်ချက်ပေးနိုင်ရန် ဖြစ်ပါတယ်။</a:t>
            </a:r>
            <a:br>
              <a:rPr lang="my-MM" dirty="0"/>
            </a:br>
            <a:r>
              <a:rPr lang="my-MM" dirty="0"/>
              <a:t>ပဉ္စမ အချက်အနေဖြင့်— ခွင့်လျှောက်ထားမှု လုပ်ငန်းစဉ်တစ်ခုလုံး၏ ပွင့်လင်းမြင်သာမှုနှင့် တာဝန်ယူမှု၊ တာဝန်ခံမှုများကို တိုးမြှင့်ပေးနိုင်ရန်အတွက် ခွင့်အခြေအနေများကို </a:t>
            </a:r>
            <a:r>
              <a:rPr lang="en-US" dirty="0"/>
              <a:t>Real-time </a:t>
            </a:r>
            <a:r>
              <a:rPr lang="my-MM" dirty="0"/>
              <a:t>ခြေရာခံ စိစစ်နိုင်မည့် </a:t>
            </a:r>
            <a:r>
              <a:rPr lang="en-US" dirty="0"/>
              <a:t>Status Tracking Logic </a:t>
            </a:r>
            <a:r>
              <a:rPr lang="my-MM" dirty="0"/>
              <a:t>ထည့်သွင်းပေးရန် ဖြစ်ပါတယ်။</a:t>
            </a:r>
            <a:br>
              <a:rPr lang="my-MM" dirty="0"/>
            </a:br>
            <a:r>
              <a:rPr lang="my-MM" dirty="0"/>
              <a:t>နောက်ဆုံး အချက်အနေဖြင့်— စီမံခန့်ခွဲသူများဘက်မှ မှန်ကန်သော ဆုံးဖြတ်ချက်များ ချမှတ်နိုင်ရေးနှင့် တိကျသော မှတ်တမ်းများ ထိန်းသိမ်းနိုင်ရေးအတွက် ပြည့်စုံသော ခွင့်အစီရင်ခံစာ (</a:t>
            </a:r>
            <a:r>
              <a:rPr lang="en-US" dirty="0"/>
              <a:t>Leave Reports) </a:t>
            </a:r>
            <a:r>
              <a:rPr lang="my-MM" dirty="0"/>
              <a:t>များကို ထုတ်ယူပေးရန်တို့ ဖြစ်ပါတယ်ရှင့်။“</a:t>
            </a:r>
            <a:endParaRPr lang="en-US" dirty="0"/>
          </a:p>
          <a:p>
            <a:endParaRPr lang="en-US" dirty="0"/>
          </a:p>
          <a:p>
            <a:r>
              <a:rPr lang="my-MM" dirty="0"/>
              <a:t>ပထမဆုံးအနေနဲ့ ဝန်ထမ်းတွေအတွက် </a:t>
            </a:r>
            <a:r>
              <a:rPr lang="my-MM" b="1" dirty="0"/>
              <a:t>ခွင့်တင်တာ၊ အကြံပြုတာ၊ အတည်ပြုတာနဲ့ ခွင့်မှတ်တမ်းတွေကို စောင့်ကြည့်တာ</a:t>
            </a:r>
            <a:r>
              <a:rPr lang="my-MM" dirty="0"/>
              <a:t> တွေကို လွယ်လွယ်ကူကူ လုပ်နိုင်အောင် </a:t>
            </a:r>
            <a:r>
              <a:rPr lang="en-US" dirty="0"/>
              <a:t>Web-based Platform </a:t>
            </a:r>
            <a:r>
              <a:rPr lang="my-MM" dirty="0"/>
              <a:t>တစ်ခု ဖန်တီးပေးဖို့ ဖြစ်ပါတယ်။ နောက်တစ်ခုကတော့ ခွင့်တင်တဲ့အခါ </a:t>
            </a:r>
            <a:r>
              <a:rPr lang="my-MM" b="1" dirty="0"/>
              <a:t>ဘယ်သူက စစ်ဆေးရမလဲ၊ ဘယ်သူက အကြံပြုပေးရမလဲ၊ ဘယ်သူက အတည်ပြုပေးရမလဲ</a:t>
            </a:r>
            <a:r>
              <a:rPr lang="my-MM" dirty="0"/>
              <a:t> ဆိုတဲ့ လုပ်ငန်းစဉ်ကို စနစ်တကျ သတ်မှတ်ပေးပြီး ခွင့်လုပ်ငန်းစဉ်ကို ပိုပြီးမြန်ဆန်လွယ်ကူအောင် လုပ်ပေးဖို့ ဖြစ်ပါတယ်။ ပြီးတော့ </a:t>
            </a:r>
            <a:r>
              <a:rPr lang="en-US" b="1" dirty="0"/>
              <a:t>System Administrator, Department Head </a:t>
            </a:r>
            <a:r>
              <a:rPr lang="my-MM" b="1" dirty="0"/>
              <a:t>နဲ့ </a:t>
            </a:r>
            <a:r>
              <a:rPr lang="en-US" b="1" dirty="0"/>
              <a:t>Staff</a:t>
            </a:r>
            <a:r>
              <a:rPr lang="en-US" dirty="0"/>
              <a:t> </a:t>
            </a:r>
            <a:r>
              <a:rPr lang="my-MM" dirty="0"/>
              <a:t>တွေအတွက် ကိုယ့်ရဲ့ သက်ဆိုင်ရာအချက်အလက်တွေနဲ့ ခွင့်ဆိုင်ရာအချက်အလက်တွေကို လုံခြုံစွာ အသုံးပြုစီမံနိုင်အောင် ပြုလုပ်ပေးဖို့ ဖြစ်ပါတယ်။ နောက်ထပ်အနေနဲ့ စာရွက်စာတမ်းတွေနဲ့ လက်နဲ့လုပ်ရတဲ့အလုပ်တွေကို လျှော့ချပြီး ဝန်ထမ်းတစ်ယောက်ချင်းစီရဲ့ </a:t>
            </a:r>
            <a:r>
              <a:rPr lang="my-MM" b="1" dirty="0"/>
              <a:t>ကျန်ရှိတဲ့ခွင့်ရက်တွေကို </a:t>
            </a:r>
            <a:r>
              <a:rPr lang="en-US" b="1" dirty="0"/>
              <a:t>System </a:t>
            </a:r>
            <a:r>
              <a:rPr lang="my-MM" b="1" dirty="0"/>
              <a:t>က အလိုအလျောက်တွက်ပေးနိုင်အောင်</a:t>
            </a:r>
            <a:r>
              <a:rPr lang="my-MM" dirty="0"/>
              <a:t> လုပ်ပေးဖို့ ဖြစ်ပါတယ်။ ခွင့်တင်ထားတဲ့အခါမှာလည်း </a:t>
            </a:r>
            <a:r>
              <a:rPr lang="my-MM" b="1" dirty="0"/>
              <a:t>ခွင့်တောင်းခံမှုက ဘယ်အဆင့်ရောက်နေပြီလဲ၊ အတည်ပြုပြီးပြီလား၊ မပြေသေးဘူးလား</a:t>
            </a:r>
            <a:r>
              <a:rPr lang="my-MM" dirty="0"/>
              <a:t> ဆိုတာကို အချိန်နဲ့တပြေးညီ ကြည့်နိုင်အောင် ပြုလုပ်ပေးဖို့ ဖြစ်ပါတယ်။ ဒါကြောင့် ခွင့်လုပ်ငန်းစဉ်မှာ ပွင့်လင်းမြင်သာမှုနဲ့ တာဝန်ယူမှု ပိုရှိလာမှာ ဖြစ်ပါတယ်။ နောက်ဆုံးအနေနဲ့ ဝန်ထမ်းတွေရဲ့ ခွင့်မှတ်တမ်းတွေကို အခြေခံပြီး </a:t>
            </a:r>
            <a:r>
              <a:rPr lang="my-MM" b="1" dirty="0"/>
              <a:t>အသေးစိတ် </a:t>
            </a:r>
            <a:r>
              <a:rPr lang="en-US" b="1" dirty="0"/>
              <a:t>Leave Reports</a:t>
            </a:r>
            <a:r>
              <a:rPr lang="en-US" dirty="0"/>
              <a:t> </a:t>
            </a:r>
            <a:r>
              <a:rPr lang="my-MM" dirty="0"/>
              <a:t>တွေ ထုတ်ပေးနိုင်အောင် ပြုလုပ်ထားပါတယ်။ အဲဒီ </a:t>
            </a:r>
            <a:r>
              <a:rPr lang="en-US" dirty="0"/>
              <a:t>Report </a:t>
            </a:r>
            <a:r>
              <a:rPr lang="my-MM" dirty="0"/>
              <a:t>တွေက အုပ်ချုပ်ရေးပိုင်းမှာ ဆုံးဖြတ်ချက်ချတဲ့အခါနဲ့ ခွင့်မှတ်တမ်းတွေကို တိတိကျကျ သိမ်းဆည်းတဲ့အခါ အထောက်အကူဖြစ်စေမှာ ဖြစ်ပါတယ်။</a:t>
            </a:r>
            <a:endParaRPr lang="en-US" dirty="0"/>
          </a:p>
        </p:txBody>
      </p:sp>
      <p:sp>
        <p:nvSpPr>
          <p:cNvPr id="4" name="Slide Number Placeholder 3"/>
          <p:cNvSpPr>
            <a:spLocks noGrp="1"/>
          </p:cNvSpPr>
          <p:nvPr>
            <p:ph type="sldNum" sz="quarter" idx="5"/>
          </p:nvPr>
        </p:nvSpPr>
        <p:spPr/>
        <p:txBody>
          <a:bodyPr/>
          <a:lstStyle/>
          <a:p>
            <a:fld id="{AEA0FD98-7654-445C-8E24-0AB7F0410E36}" type="slidenum">
              <a:rPr lang="en-US" smtClean="0"/>
              <a:t>5</a:t>
            </a:fld>
            <a:endParaRPr lang="en-US"/>
          </a:p>
        </p:txBody>
      </p:sp>
    </p:spTree>
    <p:extLst>
      <p:ext uri="{BB962C8B-B14F-4D97-AF65-F5344CB8AC3E}">
        <p14:creationId xmlns:p14="http://schemas.microsoft.com/office/powerpoint/2010/main" val="758262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anose="020B0604020202020204" pitchFamily="34" charset="0"/>
              <a:buChar char="•"/>
            </a:pPr>
            <a:r>
              <a:rPr lang="my-MM" dirty="0"/>
              <a:t>ဒီ </a:t>
            </a:r>
            <a:r>
              <a:rPr lang="en-US" dirty="0"/>
              <a:t>Project </a:t>
            </a:r>
            <a:r>
              <a:rPr lang="my-MM" dirty="0"/>
              <a:t>ကနေ </a:t>
            </a:r>
            <a:r>
              <a:rPr lang="my-MM" b="1" dirty="0"/>
              <a:t>တက္ကသိုလ်မှာ သင်ယူထားတဲ့ </a:t>
            </a:r>
            <a:r>
              <a:rPr lang="en-US" b="1" dirty="0"/>
              <a:t>Computer Science </a:t>
            </a:r>
            <a:r>
              <a:rPr lang="my-MM" b="1" dirty="0"/>
              <a:t>ပညာရပ်တွေကို လက်တွေ့လုပ်ငန်းခွင်မှာ တကယ်အသုံးချနိုင်တဲ့ အတွေ့အကြုံ</a:t>
            </a:r>
            <a:r>
              <a:rPr lang="my-MM" dirty="0"/>
              <a:t> ရရှိခဲ့ပါတယ်။ </a:t>
            </a:r>
          </a:p>
          <a:p>
            <a:pPr>
              <a:buFont typeface="Arial" panose="020B0604020202020204" pitchFamily="34" charset="0"/>
              <a:buChar char="•"/>
            </a:pPr>
            <a:r>
              <a:rPr lang="en-US" dirty="0"/>
              <a:t>Development </a:t>
            </a:r>
            <a:r>
              <a:rPr lang="my-MM" dirty="0"/>
              <a:t>လုပ်တဲ့အချိန်မှာ ကြုံတွေ့ရတဲ့ </a:t>
            </a:r>
            <a:r>
              <a:rPr lang="en-US" dirty="0"/>
              <a:t>Technical Problems </a:t>
            </a:r>
            <a:r>
              <a:rPr lang="my-MM" dirty="0"/>
              <a:t>တွေကို ကိုယ်တိုင်ဖြေရှင်းနိုင်ဖို့ </a:t>
            </a:r>
            <a:r>
              <a:rPr lang="en-US" b="1" dirty="0"/>
              <a:t>Official Technical Documentation </a:t>
            </a:r>
            <a:r>
              <a:rPr lang="my-MM" b="1" dirty="0"/>
              <a:t>တွေကို ရှာဖွေလေ့လာပြီး ကိုယ်တိုင်လေ့လာဖြေရှင်းတဲ့ </a:t>
            </a:r>
            <a:r>
              <a:rPr lang="en-US" b="1" dirty="0"/>
              <a:t>Self-learning Skill</a:t>
            </a:r>
            <a:r>
              <a:rPr lang="en-US" dirty="0"/>
              <a:t> </a:t>
            </a:r>
            <a:r>
              <a:rPr lang="my-MM" dirty="0"/>
              <a:t>ပိုကောင်းလာခဲ့ပါတယ်။ </a:t>
            </a:r>
          </a:p>
          <a:p>
            <a:pPr>
              <a:buFont typeface="Arial" panose="020B0604020202020204" pitchFamily="34" charset="0"/>
              <a:buChar char="•"/>
            </a:pPr>
            <a:r>
              <a:rPr lang="my-MM" dirty="0"/>
              <a:t>နောက်ပြီး </a:t>
            </a:r>
            <a:r>
              <a:rPr lang="en-US" dirty="0"/>
              <a:t>Company </a:t>
            </a:r>
            <a:r>
              <a:rPr lang="my-MM" dirty="0"/>
              <a:t>ရဲ့ လုပ်ငန်းစဉ်တွေကို လေ့လာပြီး အဲဒီ </a:t>
            </a:r>
            <a:r>
              <a:rPr lang="en-US" dirty="0"/>
              <a:t>Workflow </a:t>
            </a:r>
            <a:r>
              <a:rPr lang="my-MM" dirty="0"/>
              <a:t>တွေနဲ့ ကိုက်ညီမယ့် </a:t>
            </a:r>
            <a:r>
              <a:rPr lang="en-US" b="1" dirty="0"/>
              <a:t>System Architecture </a:t>
            </a:r>
            <a:r>
              <a:rPr lang="my-MM" b="1" dirty="0"/>
              <a:t>ကို စနစ်တကျ စဉ်းစားပြီး </a:t>
            </a:r>
            <a:r>
              <a:rPr lang="en-US" b="1" dirty="0"/>
              <a:t>Design </a:t>
            </a:r>
            <a:r>
              <a:rPr lang="my-MM" b="1" dirty="0"/>
              <a:t>လုပ်တဲ့ အတွေ့အကြုံ</a:t>
            </a:r>
            <a:r>
              <a:rPr lang="my-MM" dirty="0"/>
              <a:t> ရရှိခဲ့ပါတယ်။ </a:t>
            </a:r>
          </a:p>
          <a:p>
            <a:pPr>
              <a:buFont typeface="Arial" panose="020B0604020202020204" pitchFamily="34" charset="0"/>
              <a:buChar char="•"/>
            </a:pPr>
            <a:r>
              <a:rPr lang="my-MM" dirty="0"/>
              <a:t>ဒီ </a:t>
            </a:r>
            <a:r>
              <a:rPr lang="en-US" dirty="0"/>
              <a:t>Project </a:t>
            </a:r>
            <a:r>
              <a:rPr lang="my-MM" dirty="0"/>
              <a:t>ကနေ </a:t>
            </a:r>
            <a:r>
              <a:rPr lang="en-US" b="1" dirty="0"/>
              <a:t>Time Management, Professional Communication </a:t>
            </a:r>
            <a:r>
              <a:rPr lang="my-MM" b="1" dirty="0"/>
              <a:t>နဲ့ </a:t>
            </a:r>
            <a:r>
              <a:rPr lang="en-US" b="1" dirty="0"/>
              <a:t>System Design Skills</a:t>
            </a:r>
            <a:r>
              <a:rPr lang="en-US" dirty="0"/>
              <a:t> </a:t>
            </a:r>
            <a:r>
              <a:rPr lang="my-MM" dirty="0"/>
              <a:t>တွေလည်း ပိုတိုးတက်လာခဲ့ပါတယ်။ ဒါ့အပြင် နည်းပညာပိုင်း အတွေ့အကြုံများအပြင် ရုံးအဖွဲအစည်းတစ်ခုမှာ မရှိမဖြစ် လိုအပ်တဲ့ ၊ </a:t>
            </a:r>
            <a:r>
              <a:rPr lang="en-US" dirty="0"/>
              <a:t>Professional Communication </a:t>
            </a:r>
            <a:r>
              <a:rPr lang="en-US" dirty="0" err="1"/>
              <a:t>အချိန်ကို</a:t>
            </a:r>
            <a:r>
              <a:rPr lang="en-US" dirty="0"/>
              <a:t> </a:t>
            </a:r>
            <a:r>
              <a:rPr lang="en-US" dirty="0" err="1"/>
              <a:t>ထိရောက်စွာ</a:t>
            </a:r>
            <a:r>
              <a:rPr lang="en-US" dirty="0"/>
              <a:t> </a:t>
            </a:r>
            <a:r>
              <a:rPr lang="en-US" dirty="0" err="1"/>
              <a:t>စီမံခန</a:t>
            </a:r>
            <a:r>
              <a:rPr lang="en-US" dirty="0"/>
              <a:t>့်</a:t>
            </a:r>
            <a:r>
              <a:rPr lang="en-US" dirty="0" err="1"/>
              <a:t>ခွဲသည</a:t>
            </a:r>
            <a:r>
              <a:rPr lang="en-US" dirty="0"/>
              <a:t>့် Time Management</a:t>
            </a:r>
            <a:r>
              <a:rPr lang="my-MM" dirty="0"/>
              <a:t>နဲ့ </a:t>
            </a:r>
            <a:r>
              <a:rPr lang="en-US" dirty="0"/>
              <a:t>System Design </a:t>
            </a:r>
            <a:r>
              <a:rPr lang="my-MM" dirty="0"/>
              <a:t>ပိုင်းများအပြင် </a:t>
            </a:r>
            <a:r>
              <a:rPr lang="en-US" dirty="0"/>
              <a:t>GitHub </a:t>
            </a:r>
            <a:r>
              <a:rPr lang="my-MM" dirty="0"/>
              <a:t>ကို အသုံးပြုပြီး အသင်းအဖွဲနဲ့ စနစ်တကျ ပူးပေါင်းဆောင်ရွက်ရတဲ့ </a:t>
            </a:r>
            <a:r>
              <a:rPr lang="en-US" dirty="0"/>
              <a:t>Teamwork </a:t>
            </a:r>
            <a:r>
              <a:rPr lang="my-MM" dirty="0"/>
              <a:t>ကျွမ်းကျင်မှုများကိုပါ လက်တွေ့ တိုးတက်ရရှိခဲ့ပါတယ်ရှင့်။“</a:t>
            </a:r>
            <a:endParaRPr lang="en-US"/>
          </a:p>
          <a:p>
            <a:pPr>
              <a:buFont typeface="Arial" panose="020B0604020202020204" pitchFamily="34" charset="0"/>
              <a:buChar char="•"/>
            </a:pPr>
            <a:endParaRPr lang="en-US" dirty="0"/>
          </a:p>
          <a:p>
            <a:pPr>
              <a:buFont typeface="Arial" panose="020B0604020202020204" pitchFamily="34" charset="0"/>
              <a:buChar char="•"/>
            </a:pPr>
            <a:r>
              <a:rPr lang="my-MM" dirty="0"/>
              <a:t>ထို့အပြင် </a:t>
            </a:r>
            <a:r>
              <a:rPr lang="en-US" dirty="0"/>
              <a:t>Team </a:t>
            </a:r>
            <a:r>
              <a:rPr lang="my-MM" dirty="0"/>
              <a:t>အနေနဲ့ အတူတကွအလုပ်လုပ်တဲ့အခါ </a:t>
            </a:r>
            <a:r>
              <a:rPr lang="en-US" b="1" dirty="0"/>
              <a:t>GitHub </a:t>
            </a:r>
            <a:r>
              <a:rPr lang="my-MM" b="1" dirty="0"/>
              <a:t>ကို အသုံးပြုပြီး </a:t>
            </a:r>
            <a:r>
              <a:rPr lang="en-US" b="1" dirty="0"/>
              <a:t>Code </a:t>
            </a:r>
            <a:r>
              <a:rPr lang="my-MM" b="1" dirty="0"/>
              <a:t>တွေကို စီမံတာ၊ အဖွဲ့သားတွေနဲ့ ပူးပေါင်းလုပ်ဆောင်တာ</a:t>
            </a:r>
            <a:r>
              <a:rPr lang="my-MM" dirty="0"/>
              <a:t> စတဲ့ လုပ်ငန်းခွင်အတွေ့အကြုံတွေလည်း ရရှိခဲ့ပါတယ်။ </a:t>
            </a:r>
          </a:p>
          <a:p>
            <a:r>
              <a:rPr lang="my-MM" b="1" dirty="0"/>
              <a:t>အတိုချုပ်ပြောရရင်</a:t>
            </a:r>
            <a:r>
              <a:rPr lang="my-MM" dirty="0"/>
              <a:t> ဒီ </a:t>
            </a:r>
            <a:r>
              <a:rPr lang="en-US" dirty="0"/>
              <a:t>Project </a:t>
            </a:r>
            <a:r>
              <a:rPr lang="my-MM" dirty="0"/>
              <a:t>က </a:t>
            </a:r>
            <a:r>
              <a:rPr lang="en-US" dirty="0"/>
              <a:t>Technical Skill </a:t>
            </a:r>
            <a:r>
              <a:rPr lang="my-MM" dirty="0"/>
              <a:t>တွေတင်မကဘဲ လက်တွေ့လုပ်ငန်းခွင်မှာ လိုအပ်တဲ့ </a:t>
            </a:r>
            <a:r>
              <a:rPr lang="en-US" b="1" dirty="0"/>
              <a:t>Problem Solving, Communication, Teamwork </a:t>
            </a:r>
            <a:r>
              <a:rPr lang="my-MM" b="1" dirty="0"/>
              <a:t>နဲ့ </a:t>
            </a:r>
            <a:r>
              <a:rPr lang="en-US" b="1" dirty="0"/>
              <a:t>Time Management Skills</a:t>
            </a:r>
            <a:r>
              <a:rPr lang="en-US" dirty="0"/>
              <a:t> </a:t>
            </a:r>
            <a:r>
              <a:rPr lang="my-MM" dirty="0"/>
              <a:t>တွေကိုပါ တိုးတက်စေခဲ့ပါတယ်။</a:t>
            </a:r>
          </a:p>
          <a:p>
            <a:endParaRPr lang="en-US" dirty="0"/>
          </a:p>
        </p:txBody>
      </p:sp>
      <p:sp>
        <p:nvSpPr>
          <p:cNvPr id="4" name="Slide Number Placeholder 3"/>
          <p:cNvSpPr>
            <a:spLocks noGrp="1"/>
          </p:cNvSpPr>
          <p:nvPr>
            <p:ph type="sldNum" sz="quarter" idx="5"/>
          </p:nvPr>
        </p:nvSpPr>
        <p:spPr/>
        <p:txBody>
          <a:bodyPr/>
          <a:lstStyle/>
          <a:p>
            <a:fld id="{AEA0FD98-7654-445C-8E24-0AB7F0410E36}" type="slidenum">
              <a:rPr lang="en-US" smtClean="0"/>
              <a:t>6</a:t>
            </a:fld>
            <a:endParaRPr lang="en-US"/>
          </a:p>
        </p:txBody>
      </p:sp>
    </p:spTree>
    <p:extLst>
      <p:ext uri="{BB962C8B-B14F-4D97-AF65-F5344CB8AC3E}">
        <p14:creationId xmlns:p14="http://schemas.microsoft.com/office/powerpoint/2010/main" val="9807582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Front-End Technologies</a:t>
            </a:r>
          </a:p>
          <a:p>
            <a:pPr>
              <a:buFont typeface="Arial" panose="020B0604020202020204" pitchFamily="34" charset="0"/>
              <a:buChar char="•"/>
            </a:pPr>
            <a:r>
              <a:rPr lang="en-US" b="1" dirty="0"/>
              <a:t>HTML</a:t>
            </a:r>
            <a:r>
              <a:rPr lang="en-US" dirty="0"/>
              <a:t> </a:t>
            </a:r>
            <a:r>
              <a:rPr lang="my-MM" dirty="0"/>
              <a:t>ကိုတော့ </a:t>
            </a:r>
            <a:r>
              <a:rPr lang="en-US" dirty="0"/>
              <a:t>Website </a:t>
            </a:r>
            <a:r>
              <a:rPr lang="my-MM" dirty="0"/>
              <a:t>ရဲ့ </a:t>
            </a:r>
            <a:r>
              <a:rPr lang="my-MM" b="1" dirty="0"/>
              <a:t>အခြေခံ </a:t>
            </a:r>
            <a:r>
              <a:rPr lang="en-US" b="1" dirty="0"/>
              <a:t>Structure </a:t>
            </a:r>
            <a:r>
              <a:rPr lang="my-MM" b="1" dirty="0"/>
              <a:t>နဲ့ </a:t>
            </a:r>
            <a:r>
              <a:rPr lang="en-US" b="1" dirty="0"/>
              <a:t>Content</a:t>
            </a:r>
            <a:r>
              <a:rPr lang="en-US" dirty="0"/>
              <a:t> </a:t>
            </a:r>
            <a:r>
              <a:rPr lang="my-MM" dirty="0"/>
              <a:t>တွေ တည်ဆောက်ဖို့ အသုံးပြုထားပါတယ်။ ဥပမာအားဖြင့် </a:t>
            </a:r>
            <a:r>
              <a:rPr lang="en-US" dirty="0"/>
              <a:t>Page </a:t>
            </a:r>
            <a:r>
              <a:rPr lang="my-MM" dirty="0"/>
              <a:t>မှာ ဘယ်နေရာမှာ ဘာတွေပါမလဲဆိုတာ သတ်မှတ်ပေးတာ ဖြစ်ပါတယ်။ </a:t>
            </a:r>
          </a:p>
          <a:p>
            <a:pPr>
              <a:buFont typeface="Arial" panose="020B0604020202020204" pitchFamily="34" charset="0"/>
              <a:buChar char="•"/>
            </a:pPr>
            <a:r>
              <a:rPr lang="en-US" b="1" dirty="0"/>
              <a:t>CSS</a:t>
            </a:r>
            <a:r>
              <a:rPr lang="en-US" dirty="0"/>
              <a:t> </a:t>
            </a:r>
            <a:r>
              <a:rPr lang="my-MM" dirty="0"/>
              <a:t>ကတော့ </a:t>
            </a:r>
            <a:r>
              <a:rPr lang="en-US" dirty="0"/>
              <a:t>Website </a:t>
            </a:r>
            <a:r>
              <a:rPr lang="my-MM" dirty="0"/>
              <a:t>ရဲ့ </a:t>
            </a:r>
            <a:r>
              <a:rPr lang="en-US" b="1" dirty="0"/>
              <a:t>Design </a:t>
            </a:r>
            <a:r>
              <a:rPr lang="my-MM" b="1" dirty="0"/>
              <a:t>နဲ့ </a:t>
            </a:r>
            <a:r>
              <a:rPr lang="en-US" b="1" dirty="0"/>
              <a:t>Layout</a:t>
            </a:r>
            <a:r>
              <a:rPr lang="en-US" dirty="0"/>
              <a:t> </a:t>
            </a:r>
            <a:r>
              <a:rPr lang="my-MM" dirty="0"/>
              <a:t>ကို ပြင်ဆင်ဖို့ အသုံးပြုပါတယ်။ အရောင်၊ စာလုံးပုံစံ၊ အရွယ်အစားနဲ့ </a:t>
            </a:r>
            <a:r>
              <a:rPr lang="en-US" dirty="0"/>
              <a:t>Element </a:t>
            </a:r>
            <a:r>
              <a:rPr lang="my-MM" dirty="0"/>
              <a:t>တွေ ဘယ်လိုနေရာချမလဲဆိုတာတွေကို </a:t>
            </a:r>
            <a:r>
              <a:rPr lang="en-US" dirty="0"/>
              <a:t>CSS </a:t>
            </a:r>
            <a:r>
              <a:rPr lang="my-MM" dirty="0"/>
              <a:t>နဲ့ သတ်မှတ်ပေးပါတယ်။ </a:t>
            </a:r>
          </a:p>
          <a:p>
            <a:pPr>
              <a:buFont typeface="Arial" panose="020B0604020202020204" pitchFamily="34" charset="0"/>
              <a:buChar char="•"/>
            </a:pPr>
            <a:r>
              <a:rPr lang="en-US" b="1" dirty="0"/>
              <a:t>JavaScript</a:t>
            </a:r>
            <a:r>
              <a:rPr lang="en-US" dirty="0"/>
              <a:t> </a:t>
            </a:r>
            <a:r>
              <a:rPr lang="my-MM" dirty="0"/>
              <a:t>ကိုတော့ </a:t>
            </a:r>
            <a:r>
              <a:rPr lang="en-US" dirty="0"/>
              <a:t>Website </a:t>
            </a:r>
            <a:r>
              <a:rPr lang="my-MM" dirty="0"/>
              <a:t>မှာ </a:t>
            </a:r>
            <a:r>
              <a:rPr lang="en-US" b="1" dirty="0"/>
              <a:t>Interactive Features</a:t>
            </a:r>
            <a:r>
              <a:rPr lang="en-US" dirty="0"/>
              <a:t> </a:t>
            </a:r>
            <a:r>
              <a:rPr lang="my-MM" dirty="0"/>
              <a:t>တွေ ထည့်ပေးဖို့ အသုံးပြုထားပါတယ်။ </a:t>
            </a:r>
            <a:r>
              <a:rPr lang="en-US" dirty="0"/>
              <a:t>User </a:t>
            </a:r>
            <a:r>
              <a:rPr lang="my-MM" dirty="0"/>
              <a:t>က </a:t>
            </a:r>
            <a:r>
              <a:rPr lang="en-US" dirty="0"/>
              <a:t>Button </a:t>
            </a:r>
            <a:r>
              <a:rPr lang="my-MM" dirty="0"/>
              <a:t>နှိပ်တာ၊ </a:t>
            </a:r>
            <a:r>
              <a:rPr lang="en-US" dirty="0"/>
              <a:t>Data </a:t>
            </a:r>
            <a:r>
              <a:rPr lang="my-MM" dirty="0"/>
              <a:t>ပြောင်းလဲတာစတဲ့ လုပ်ဆောင်ချက်တွေကို ပိုပြီးအဆင်ပြေစေပြီး </a:t>
            </a:r>
            <a:r>
              <a:rPr lang="en-US" dirty="0"/>
              <a:t>User Experience </a:t>
            </a:r>
            <a:r>
              <a:rPr lang="my-MM" dirty="0"/>
              <a:t>ကိုလည်း ပိုကောင်းစေပါတယ်။ </a:t>
            </a:r>
          </a:p>
          <a:p>
            <a:pPr>
              <a:buFont typeface="Arial" panose="020B0604020202020204" pitchFamily="34" charset="0"/>
              <a:buChar char="•"/>
            </a:pPr>
            <a:r>
              <a:rPr lang="en-US" b="1" dirty="0"/>
              <a:t>Tailwind CSS</a:t>
            </a:r>
            <a:r>
              <a:rPr lang="en-US" dirty="0"/>
              <a:t> </a:t>
            </a:r>
            <a:r>
              <a:rPr lang="my-MM" dirty="0"/>
              <a:t>ကတော့ </a:t>
            </a:r>
            <a:r>
              <a:rPr lang="en-US" dirty="0"/>
              <a:t>Website </a:t>
            </a:r>
            <a:r>
              <a:rPr lang="my-MM" dirty="0"/>
              <a:t>ရဲ့ </a:t>
            </a:r>
            <a:r>
              <a:rPr lang="en-US" b="1" dirty="0"/>
              <a:t>Modern </a:t>
            </a:r>
            <a:r>
              <a:rPr lang="my-MM" b="1" dirty="0"/>
              <a:t>နဲ့ </a:t>
            </a:r>
            <a:r>
              <a:rPr lang="en-US" b="1" dirty="0"/>
              <a:t>Responsive Design</a:t>
            </a:r>
            <a:r>
              <a:rPr lang="en-US" dirty="0"/>
              <a:t> </a:t>
            </a:r>
            <a:r>
              <a:rPr lang="my-MM" dirty="0"/>
              <a:t>ကို ဖန်တီးဖို့ အသုံးပြုထားတဲ့ </a:t>
            </a:r>
            <a:r>
              <a:rPr lang="en-US" dirty="0"/>
              <a:t>CSS Framework </a:t>
            </a:r>
            <a:r>
              <a:rPr lang="my-MM" dirty="0"/>
              <a:t>တစ်ခု ဖြစ်ပါတယ်။ </a:t>
            </a:r>
            <a:r>
              <a:rPr lang="en-US" dirty="0"/>
              <a:t>Computer, Tablet, Phone </a:t>
            </a:r>
            <a:r>
              <a:rPr lang="my-MM" dirty="0"/>
              <a:t>စတဲ့ </a:t>
            </a:r>
            <a:r>
              <a:rPr lang="en-US" dirty="0"/>
              <a:t>Device </a:t>
            </a:r>
            <a:r>
              <a:rPr lang="my-MM" dirty="0"/>
              <a:t>အမျိုးမျိုးမှာ </a:t>
            </a:r>
            <a:r>
              <a:rPr lang="en-US" dirty="0"/>
              <a:t>Website </a:t>
            </a:r>
            <a:r>
              <a:rPr lang="my-MM" dirty="0"/>
              <a:t>ကို အဆင်ပြေပြေ အသုံးပြုနိုင်အောင် ကူညီပေးပါတယ်။ </a:t>
            </a:r>
          </a:p>
          <a:p>
            <a:r>
              <a:rPr lang="en-US" b="1" dirty="0"/>
              <a:t>Back-End Technology</a:t>
            </a:r>
          </a:p>
          <a:p>
            <a:pPr>
              <a:buFont typeface="Arial" panose="020B0604020202020204" pitchFamily="34" charset="0"/>
              <a:buChar char="•"/>
            </a:pPr>
            <a:r>
              <a:rPr lang="en-US" b="1" dirty="0"/>
              <a:t>Laravel</a:t>
            </a:r>
            <a:r>
              <a:rPr lang="en-US" dirty="0"/>
              <a:t> </a:t>
            </a:r>
            <a:r>
              <a:rPr lang="my-MM" dirty="0"/>
              <a:t>ကတော့ </a:t>
            </a:r>
            <a:r>
              <a:rPr lang="en-US" b="1" dirty="0"/>
              <a:t>PHP Framework</a:t>
            </a:r>
            <a:r>
              <a:rPr lang="en-US" dirty="0"/>
              <a:t> </a:t>
            </a:r>
            <a:r>
              <a:rPr lang="my-MM" dirty="0"/>
              <a:t>တစ်ခုဖြစ်ပြီး </a:t>
            </a:r>
            <a:r>
              <a:rPr lang="en-US" dirty="0"/>
              <a:t>System </a:t>
            </a:r>
            <a:r>
              <a:rPr lang="my-MM" dirty="0"/>
              <a:t>ရဲ့ နောက်ကွယ်မှာ အလုပ်လုပ်တဲ့ </a:t>
            </a:r>
            <a:r>
              <a:rPr lang="en-US" b="1" dirty="0"/>
              <a:t>Backend Logic, Routing, Authentication </a:t>
            </a:r>
            <a:r>
              <a:rPr lang="my-MM" b="1" dirty="0"/>
              <a:t>နဲ့ </a:t>
            </a:r>
            <a:r>
              <a:rPr lang="en-US" b="1" dirty="0"/>
              <a:t>Database Interaction</a:t>
            </a:r>
            <a:r>
              <a:rPr lang="en-US" dirty="0"/>
              <a:t> </a:t>
            </a:r>
            <a:r>
              <a:rPr lang="my-MM" dirty="0"/>
              <a:t>တွေကို စီမံဖို့ အသုံးပြုထားပါတယ်။ </a:t>
            </a:r>
            <a:r>
              <a:rPr lang="en-US" dirty="0"/>
              <a:t>Laravel </a:t>
            </a:r>
            <a:r>
              <a:rPr lang="my-MM" dirty="0"/>
              <a:t>ကို အသုံးပြုခြင်းအားဖြင့် </a:t>
            </a:r>
            <a:r>
              <a:rPr lang="en-US" dirty="0"/>
              <a:t>Backend Development </a:t>
            </a:r>
            <a:r>
              <a:rPr lang="my-MM" dirty="0"/>
              <a:t>ကို ပိုပြီးစနစ်တကျနဲ့ လွယ်ကူစွာ တည်ဆောက်နိုင်ပါတယ်။</a:t>
            </a:r>
          </a:p>
          <a:p>
            <a:endParaRPr lang="en-US" dirty="0"/>
          </a:p>
        </p:txBody>
      </p:sp>
      <p:sp>
        <p:nvSpPr>
          <p:cNvPr id="4" name="Slide Number Placeholder 3"/>
          <p:cNvSpPr>
            <a:spLocks noGrp="1"/>
          </p:cNvSpPr>
          <p:nvPr>
            <p:ph type="sldNum" sz="quarter" idx="5"/>
          </p:nvPr>
        </p:nvSpPr>
        <p:spPr/>
        <p:txBody>
          <a:bodyPr/>
          <a:lstStyle/>
          <a:p>
            <a:fld id="{AEA0FD98-7654-445C-8E24-0AB7F0410E36}" type="slidenum">
              <a:rPr lang="en-US" smtClean="0"/>
              <a:t>7</a:t>
            </a:fld>
            <a:endParaRPr lang="en-US"/>
          </a:p>
        </p:txBody>
      </p:sp>
    </p:spTree>
    <p:extLst>
      <p:ext uri="{BB962C8B-B14F-4D97-AF65-F5344CB8AC3E}">
        <p14:creationId xmlns:p14="http://schemas.microsoft.com/office/powerpoint/2010/main" val="16734382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Database Management System Technology</a:t>
            </a:r>
          </a:p>
          <a:p>
            <a:pPr>
              <a:buFont typeface="Arial" panose="020B0604020202020204" pitchFamily="34" charset="0"/>
              <a:buChar char="•"/>
            </a:pPr>
            <a:r>
              <a:rPr lang="en-US" b="1" dirty="0"/>
              <a:t>MySQL</a:t>
            </a:r>
            <a:r>
              <a:rPr lang="en-US" dirty="0"/>
              <a:t> </a:t>
            </a:r>
            <a:r>
              <a:rPr lang="my-MM" dirty="0"/>
              <a:t>ကိုတော့ </a:t>
            </a:r>
            <a:r>
              <a:rPr lang="en-US" dirty="0"/>
              <a:t>System </a:t>
            </a:r>
            <a:r>
              <a:rPr lang="my-MM" dirty="0"/>
              <a:t>ရဲ့ </a:t>
            </a:r>
            <a:r>
              <a:rPr lang="en-US" b="1" dirty="0"/>
              <a:t>Database</a:t>
            </a:r>
            <a:r>
              <a:rPr lang="en-US" dirty="0"/>
              <a:t> </a:t>
            </a:r>
            <a:r>
              <a:rPr lang="my-MM" dirty="0"/>
              <a:t>အဖြစ် အသုံးပြုထားပါတယ်။ ဝန်ထမ်းတွေရဲ့ </a:t>
            </a:r>
            <a:r>
              <a:rPr lang="en-US" dirty="0"/>
              <a:t>Profile Information</a:t>
            </a:r>
            <a:r>
              <a:rPr lang="my-MM" dirty="0"/>
              <a:t>၊ </a:t>
            </a:r>
            <a:r>
              <a:rPr lang="en-US" dirty="0"/>
              <a:t>Leave Information</a:t>
            </a:r>
            <a:r>
              <a:rPr lang="my-MM" dirty="0"/>
              <a:t>၊ </a:t>
            </a:r>
            <a:r>
              <a:rPr lang="en-US" dirty="0"/>
              <a:t>Leave Type </a:t>
            </a:r>
            <a:r>
              <a:rPr lang="my-MM" dirty="0"/>
              <a:t>နဲ့ </a:t>
            </a:r>
            <a:r>
              <a:rPr lang="en-US" dirty="0"/>
              <a:t>Leave Request </a:t>
            </a:r>
            <a:r>
              <a:rPr lang="my-MM" dirty="0"/>
              <a:t>တွေလိုမျိုး </a:t>
            </a:r>
            <a:r>
              <a:rPr lang="en-US" dirty="0"/>
              <a:t>System </a:t>
            </a:r>
            <a:r>
              <a:rPr lang="my-MM" dirty="0"/>
              <a:t>မှာ လိုအပ်တဲ့ </a:t>
            </a:r>
            <a:r>
              <a:rPr lang="en-US" dirty="0"/>
              <a:t>Data </a:t>
            </a:r>
            <a:r>
              <a:rPr lang="my-MM" dirty="0"/>
              <a:t>တွေကို </a:t>
            </a:r>
            <a:r>
              <a:rPr lang="my-MM" b="1" dirty="0"/>
              <a:t>သိမ်းဆည်းတာ၊ စီမံတာနဲ့ ပြန်လည်ရယူတာ</a:t>
            </a:r>
            <a:r>
              <a:rPr lang="my-MM" dirty="0"/>
              <a:t> တွေကို </a:t>
            </a:r>
            <a:r>
              <a:rPr lang="en-US" dirty="0"/>
              <a:t>MySQL </a:t>
            </a:r>
            <a:r>
              <a:rPr lang="my-MM" dirty="0"/>
              <a:t>က ဆောင်ရွက်ပေးပါတယ်။ </a:t>
            </a:r>
          </a:p>
          <a:p>
            <a:r>
              <a:rPr lang="en-US" b="1" dirty="0"/>
              <a:t>Development Tool</a:t>
            </a:r>
          </a:p>
          <a:p>
            <a:pPr>
              <a:buFont typeface="Arial" panose="020B0604020202020204" pitchFamily="34" charset="0"/>
              <a:buChar char="•"/>
            </a:pPr>
            <a:r>
              <a:rPr lang="en-US" b="1" dirty="0"/>
              <a:t>VS Code (Visual Studio Code)</a:t>
            </a:r>
            <a:r>
              <a:rPr lang="en-US" dirty="0"/>
              <a:t> </a:t>
            </a:r>
            <a:r>
              <a:rPr lang="my-MM" dirty="0"/>
              <a:t>ကိုတော့ </a:t>
            </a:r>
            <a:r>
              <a:rPr lang="en-US" dirty="0"/>
              <a:t>System Development </a:t>
            </a:r>
            <a:r>
              <a:rPr lang="my-MM" dirty="0"/>
              <a:t>လုပ်တဲ့အချိန်မှာ </a:t>
            </a:r>
            <a:r>
              <a:rPr lang="en-US" b="1" dirty="0"/>
              <a:t>Code </a:t>
            </a:r>
            <a:r>
              <a:rPr lang="my-MM" b="1" dirty="0"/>
              <a:t>ရေးဖို့နဲ့ ပြင်ဆင်ဖို့</a:t>
            </a:r>
            <a:r>
              <a:rPr lang="my-MM" dirty="0"/>
              <a:t> အသုံးပြုထားပါတယ်။ </a:t>
            </a:r>
            <a:r>
              <a:rPr lang="en-US" dirty="0"/>
              <a:t>Front-End </a:t>
            </a:r>
            <a:r>
              <a:rPr lang="my-MM" dirty="0"/>
              <a:t>နဲ့ </a:t>
            </a:r>
            <a:r>
              <a:rPr lang="en-US" dirty="0"/>
              <a:t>Back-End Code </a:t>
            </a:r>
            <a:r>
              <a:rPr lang="my-MM" dirty="0"/>
              <a:t>တွေကို ရေးသား၊ စမ်းသပ်ပြီး </a:t>
            </a:r>
            <a:r>
              <a:rPr lang="en-US" dirty="0"/>
              <a:t>Manage </a:t>
            </a:r>
            <a:r>
              <a:rPr lang="my-MM" dirty="0"/>
              <a:t>လုပ်ရာမှာ အသုံးဝင်တဲ့ </a:t>
            </a:r>
            <a:r>
              <a:rPr lang="en-US" dirty="0"/>
              <a:t>Development Tool </a:t>
            </a:r>
            <a:r>
              <a:rPr lang="my-MM" dirty="0"/>
              <a:t>တစ်ခု ဖြစ်ပါတယ်။</a:t>
            </a:r>
          </a:p>
          <a:p>
            <a:endParaRPr lang="en-US" dirty="0"/>
          </a:p>
        </p:txBody>
      </p:sp>
      <p:sp>
        <p:nvSpPr>
          <p:cNvPr id="4" name="Slide Number Placeholder 3"/>
          <p:cNvSpPr>
            <a:spLocks noGrp="1"/>
          </p:cNvSpPr>
          <p:nvPr>
            <p:ph type="sldNum" sz="quarter" idx="5"/>
          </p:nvPr>
        </p:nvSpPr>
        <p:spPr/>
        <p:txBody>
          <a:bodyPr/>
          <a:lstStyle/>
          <a:p>
            <a:fld id="{AEA0FD98-7654-445C-8E24-0AB7F0410E36}" type="slidenum">
              <a:rPr lang="en-US" smtClean="0"/>
              <a:t>8</a:t>
            </a:fld>
            <a:endParaRPr lang="en-US"/>
          </a:p>
        </p:txBody>
      </p:sp>
    </p:spTree>
    <p:extLst>
      <p:ext uri="{BB962C8B-B14F-4D97-AF65-F5344CB8AC3E}">
        <p14:creationId xmlns:p14="http://schemas.microsoft.com/office/powerpoint/2010/main" val="2568384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my-MM" dirty="0"/>
              <a:t>ဒီ </a:t>
            </a:r>
            <a:r>
              <a:rPr lang="en-US" dirty="0"/>
              <a:t>Diagram </a:t>
            </a:r>
            <a:r>
              <a:rPr lang="my-MM" dirty="0"/>
              <a:t>ကတော့ </a:t>
            </a:r>
            <a:r>
              <a:rPr lang="en-US" b="1" dirty="0"/>
              <a:t>Staff </a:t>
            </a:r>
            <a:r>
              <a:rPr lang="my-MM" b="1" dirty="0"/>
              <a:t>တစ်ယောက်အနေနဲ့ </a:t>
            </a:r>
            <a:r>
              <a:rPr lang="en-US" b="1" dirty="0"/>
              <a:t>Leave Management System </a:t>
            </a:r>
            <a:r>
              <a:rPr lang="my-MM" b="1" dirty="0"/>
              <a:t>ကို ဘယ်လိုအသုံးပြုနိုင်လဲ</a:t>
            </a:r>
            <a:r>
              <a:rPr lang="my-MM" dirty="0"/>
              <a:t> ဆိုတာကို ပြထားတာဖြစ်ပါတယ်။</a:t>
            </a:r>
          </a:p>
          <a:p>
            <a:r>
              <a:rPr lang="my-MM" dirty="0"/>
              <a:t>ပထမဆုံး </a:t>
            </a:r>
            <a:r>
              <a:rPr lang="en-US" dirty="0"/>
              <a:t>Staff </a:t>
            </a:r>
            <a:r>
              <a:rPr lang="my-MM" dirty="0"/>
              <a:t>က </a:t>
            </a:r>
            <a:r>
              <a:rPr lang="en-US" b="1" dirty="0"/>
              <a:t>Login</a:t>
            </a:r>
            <a:r>
              <a:rPr lang="en-US" dirty="0"/>
              <a:t> </a:t>
            </a:r>
            <a:r>
              <a:rPr lang="my-MM" dirty="0"/>
              <a:t>ဝင်ရပါတယ်။ </a:t>
            </a:r>
            <a:r>
              <a:rPr lang="en-US" dirty="0"/>
              <a:t>Login </a:t>
            </a:r>
            <a:r>
              <a:rPr lang="my-MM" dirty="0"/>
              <a:t>ဝင်ပြီးတဲ့အခါ </a:t>
            </a:r>
            <a:r>
              <a:rPr lang="en-US" b="1" dirty="0"/>
              <a:t>Dashboard</a:t>
            </a:r>
            <a:r>
              <a:rPr lang="en-US" dirty="0"/>
              <a:t> </a:t>
            </a:r>
            <a:r>
              <a:rPr lang="my-MM" dirty="0"/>
              <a:t>ကို ဝင်ရောက်ကြည့်ရှုနိုင်ပါတယ်။ </a:t>
            </a:r>
            <a:r>
              <a:rPr lang="en-US" dirty="0"/>
              <a:t>Dashboard </a:t>
            </a:r>
            <a:r>
              <a:rPr lang="my-MM" dirty="0"/>
              <a:t>မှာတော့ </a:t>
            </a:r>
            <a:r>
              <a:rPr lang="en-US" b="1" dirty="0"/>
              <a:t>Leave Information</a:t>
            </a:r>
            <a:r>
              <a:rPr lang="en-US" dirty="0"/>
              <a:t> </a:t>
            </a:r>
            <a:r>
              <a:rPr lang="my-MM" dirty="0"/>
              <a:t>တွေကို ကြည့်နိုင်ပါတယ်။</a:t>
            </a:r>
          </a:p>
          <a:p>
            <a:r>
              <a:rPr lang="my-MM" dirty="0"/>
              <a:t>နောက်ပြီး </a:t>
            </a:r>
            <a:r>
              <a:rPr lang="en-US" dirty="0"/>
              <a:t>Staff </a:t>
            </a:r>
            <a:r>
              <a:rPr lang="my-MM" dirty="0"/>
              <a:t>အနေနဲ့ ကိုယ့်ရဲ့ ကိုယ်ရေးအချက်အလက်တွေကို </a:t>
            </a:r>
            <a:r>
              <a:rPr lang="en-US" b="1" dirty="0"/>
              <a:t>Manage Profile</a:t>
            </a:r>
            <a:r>
              <a:rPr lang="en-US" dirty="0"/>
              <a:t> </a:t>
            </a:r>
            <a:r>
              <a:rPr lang="my-MM" dirty="0"/>
              <a:t>ကနေ ပြင်ဆင်နိုင်ပါတယ်။</a:t>
            </a:r>
          </a:p>
          <a:p>
            <a:r>
              <a:rPr lang="my-MM" dirty="0"/>
              <a:t>ခွင့်ယူချင်တဲ့အခါမှာတော့ </a:t>
            </a:r>
            <a:r>
              <a:rPr lang="en-US" b="1" dirty="0"/>
              <a:t>Request Leave</a:t>
            </a:r>
            <a:r>
              <a:rPr lang="en-US" dirty="0"/>
              <a:t> </a:t>
            </a:r>
            <a:r>
              <a:rPr lang="my-MM" dirty="0"/>
              <a:t>ကို အသုံးပြုပြီး ခွင့်တောင်းနိုင်ပါတယ်။ </a:t>
            </a:r>
            <a:r>
              <a:rPr lang="en-US" dirty="0"/>
              <a:t>Request Leave </a:t>
            </a:r>
            <a:r>
              <a:rPr lang="my-MM" dirty="0"/>
              <a:t>လုပ်တဲ့အထဲမှာ </a:t>
            </a:r>
            <a:r>
              <a:rPr lang="en-US" b="1" dirty="0"/>
              <a:t>Apply Leave</a:t>
            </a:r>
            <a:r>
              <a:rPr lang="en-US" dirty="0"/>
              <a:t> </a:t>
            </a:r>
            <a:r>
              <a:rPr lang="my-MM" dirty="0"/>
              <a:t>နဲ့ ခွင့်တင်တာ၊ </a:t>
            </a:r>
            <a:r>
              <a:rPr lang="en-US" b="1" dirty="0"/>
              <a:t>Check Leave History</a:t>
            </a:r>
            <a:r>
              <a:rPr lang="en-US" dirty="0"/>
              <a:t> </a:t>
            </a:r>
            <a:r>
              <a:rPr lang="my-MM" dirty="0"/>
              <a:t>နဲ့ အရင်တင်ခဲ့ဖူးတဲ့ ခွင့်မှတ်တမ်းတွေကို ပြန်ကြည့်တာတွေ ပါဝင်ပါတယ်။</a:t>
            </a:r>
          </a:p>
          <a:p>
            <a:r>
              <a:rPr lang="my-MM" dirty="0"/>
              <a:t>အလုပ်တွေပြီးသွားတဲ့အခါမှာတော့ </a:t>
            </a:r>
            <a:r>
              <a:rPr lang="en-US" b="1" dirty="0"/>
              <a:t>Logout</a:t>
            </a:r>
            <a:r>
              <a:rPr lang="en-US" dirty="0"/>
              <a:t> </a:t>
            </a:r>
            <a:r>
              <a:rPr lang="my-MM" dirty="0"/>
              <a:t>လုပ်ပြီး </a:t>
            </a:r>
            <a:r>
              <a:rPr lang="en-US" dirty="0"/>
              <a:t>System </a:t>
            </a:r>
            <a:r>
              <a:rPr lang="my-MM" dirty="0"/>
              <a:t>ကနေ ထွက်နိုင်ပါတယ်။</a:t>
            </a:r>
          </a:p>
          <a:p>
            <a:endParaRPr lang="en-US" dirty="0"/>
          </a:p>
        </p:txBody>
      </p:sp>
      <p:sp>
        <p:nvSpPr>
          <p:cNvPr id="4" name="Slide Number Placeholder 3"/>
          <p:cNvSpPr>
            <a:spLocks noGrp="1"/>
          </p:cNvSpPr>
          <p:nvPr>
            <p:ph type="sldNum" sz="quarter" idx="5"/>
          </p:nvPr>
        </p:nvSpPr>
        <p:spPr/>
        <p:txBody>
          <a:bodyPr/>
          <a:lstStyle/>
          <a:p>
            <a:fld id="{AEA0FD98-7654-445C-8E24-0AB7F0410E36}" type="slidenum">
              <a:rPr lang="en-US" smtClean="0"/>
              <a:t>11</a:t>
            </a:fld>
            <a:endParaRPr lang="en-US"/>
          </a:p>
        </p:txBody>
      </p:sp>
    </p:spTree>
    <p:extLst>
      <p:ext uri="{BB962C8B-B14F-4D97-AF65-F5344CB8AC3E}">
        <p14:creationId xmlns:p14="http://schemas.microsoft.com/office/powerpoint/2010/main" val="15547796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endParaRPr lang="en-US" dirty="0"/>
          </a:p>
          <a:p>
            <a:pPr algn="l"/>
            <a:r>
              <a:rPr lang="en-US" dirty="0"/>
              <a:t>Login &amp; Logout:</a:t>
            </a:r>
            <a:br>
              <a:rPr lang="en-US" dirty="0"/>
            </a:br>
            <a:br>
              <a:rPr lang="en-US" dirty="0"/>
            </a:br>
            <a:r>
              <a:rPr lang="en-US" dirty="0"/>
              <a:t>Department Head </a:t>
            </a:r>
            <a:r>
              <a:rPr lang="my-MM" dirty="0"/>
              <a:t>အနေနဲ့ စနစ်ကို စတင်အသုံးပြုဖို </a:t>
            </a:r>
            <a:r>
              <a:rPr lang="en-US" dirty="0"/>
              <a:t>Login </a:t>
            </a:r>
            <a:r>
              <a:rPr lang="my-MM" dirty="0"/>
              <a:t>ဝင်ရောက်ရမှာ ဖြစ်သလို၊ အသုံးပြုပြီးပါက အကောင့်မှ </a:t>
            </a:r>
            <a:r>
              <a:rPr lang="en-US" dirty="0"/>
              <a:t>Logout </a:t>
            </a:r>
            <a:r>
              <a:rPr lang="my-MM" dirty="0"/>
              <a:t>ပြုလုပ်နိုင်ပါတယ်။</a:t>
            </a:r>
            <a:r>
              <a:rPr lang="en-US" dirty="0"/>
              <a:t>Dashboard (&lt;&lt;include&gt;&gt; View Leave Information):</a:t>
            </a:r>
            <a:br>
              <a:rPr lang="en-US" dirty="0"/>
            </a:br>
            <a:br>
              <a:rPr lang="en-US" dirty="0"/>
            </a:br>
            <a:r>
              <a:rPr lang="en-US" dirty="0"/>
              <a:t>Dashboard </a:t>
            </a:r>
            <a:r>
              <a:rPr lang="my-MM" dirty="0"/>
              <a:t>ကို ဝင်ရောက်ကြည့်ရှုတဲ့အခါ ဌာနတွင်း ခွင့်ဆိုင်ရာ အချက်အလက်တွေကို တန်းကြည့်နိုင်အောင် </a:t>
            </a:r>
            <a:r>
              <a:rPr lang="en-US" dirty="0"/>
              <a:t>View Leave Information use case </a:t>
            </a:r>
            <a:r>
              <a:rPr lang="my-MM" dirty="0"/>
              <a:t>ကို &lt;&lt;</a:t>
            </a:r>
            <a:r>
              <a:rPr lang="en-US" dirty="0"/>
              <a:t>include&gt;&gt; </a:t>
            </a:r>
            <a:r>
              <a:rPr lang="my-MM" dirty="0"/>
              <a:t>အနေနဲ့ ချိတ်ဆက်ထားပါတယ်။</a:t>
            </a:r>
            <a:br>
              <a:rPr lang="my-MM" dirty="0"/>
            </a:br>
            <a:r>
              <a:rPr lang="en-US" dirty="0"/>
              <a:t>Manage Profile:</a:t>
            </a:r>
            <a:br>
              <a:rPr lang="en-US" dirty="0"/>
            </a:br>
            <a:br>
              <a:rPr lang="en-US" dirty="0"/>
            </a:br>
            <a:r>
              <a:rPr lang="my-MM" dirty="0"/>
              <a:t>မိမိရဲ့ </a:t>
            </a:r>
            <a:r>
              <a:rPr lang="en-US" dirty="0"/>
              <a:t>Personal Profile </a:t>
            </a:r>
            <a:r>
              <a:rPr lang="my-MM" dirty="0"/>
              <a:t>အချက်အလက်များကို ပြင်ဆင် စီမံနိုင်ပါတယ်။</a:t>
            </a:r>
            <a:br>
              <a:rPr lang="my-MM" dirty="0"/>
            </a:br>
            <a:br>
              <a:rPr lang="my-MM" dirty="0"/>
            </a:br>
            <a:r>
              <a:rPr lang="en-US" dirty="0"/>
              <a:t>Request Leave (&lt;&lt;include&gt;&gt; Apply Leave &amp; Check Leave History):</a:t>
            </a:r>
            <a:br>
              <a:rPr lang="en-US" dirty="0"/>
            </a:br>
            <a:br>
              <a:rPr lang="en-US" dirty="0"/>
            </a:br>
            <a:r>
              <a:rPr lang="en-US" dirty="0"/>
              <a:t>Department Head </a:t>
            </a:r>
            <a:r>
              <a:rPr lang="my-MM" dirty="0"/>
              <a:t>မိမိကိုယ်တိုင် ခွင့်ယူလိုပါက </a:t>
            </a:r>
            <a:r>
              <a:rPr lang="en-US" dirty="0"/>
              <a:t>Request Leave </a:t>
            </a:r>
            <a:r>
              <a:rPr lang="my-MM" dirty="0"/>
              <a:t>ကို အသုံးပြုရပါမယ်။</a:t>
            </a:r>
            <a:br>
              <a:rPr lang="my-MM" dirty="0"/>
            </a:br>
            <a:r>
              <a:rPr lang="my-MM" dirty="0"/>
              <a:t>ဒီ </a:t>
            </a:r>
            <a:r>
              <a:rPr lang="en-US" dirty="0"/>
              <a:t>use case </a:t>
            </a:r>
            <a:r>
              <a:rPr lang="my-MM" dirty="0"/>
              <a:t>ထဲမှာ ခွင့်စတင်လျှောက်ထားခြင်း (</a:t>
            </a:r>
            <a:r>
              <a:rPr lang="en-US" dirty="0"/>
              <a:t>Apply Leave) </a:t>
            </a:r>
            <a:r>
              <a:rPr lang="my-MM" dirty="0"/>
              <a:t>နဲ့ မိမိရဲ့ ခွင့်မှတ်တမ်းများ ပြန်စစ်ခြင်း (</a:t>
            </a:r>
            <a:r>
              <a:rPr lang="en-US" dirty="0"/>
              <a:t>Check Leave History) </a:t>
            </a:r>
            <a:r>
              <a:rPr lang="my-MM" dirty="0"/>
              <a:t>တို အလိုအလျောက် ပါဝင်မှာဖြစ်လို &lt;&lt;</a:t>
            </a:r>
            <a:r>
              <a:rPr lang="en-US" dirty="0"/>
              <a:t>include&gt;&gt; </a:t>
            </a:r>
            <a:r>
              <a:rPr lang="my-MM" dirty="0"/>
              <a:t>ချိတ်ထားပါတယ်။</a:t>
            </a:r>
            <a:br>
              <a:rPr lang="my-MM" dirty="0"/>
            </a:br>
            <a:br>
              <a:rPr lang="my-MM" dirty="0"/>
            </a:br>
            <a:r>
              <a:rPr lang="en-US" dirty="0"/>
              <a:t>Manage Staff Request (&lt;&lt;include&gt;&gt; Recommend Request &amp; Not Recommend Request):</a:t>
            </a:r>
            <a:br>
              <a:rPr lang="en-US" dirty="0"/>
            </a:br>
            <a:r>
              <a:rPr lang="en-US" dirty="0"/>
              <a:t>Department Head </a:t>
            </a:r>
            <a:r>
              <a:rPr lang="my-MM" dirty="0"/>
              <a:t>ရဲ့ အဓိက တာဝန်တစ်ခုဖြစ်တဲ့ မိမိဌာနအောက်ရှိ </a:t>
            </a:r>
            <a:r>
              <a:rPr lang="en-US" dirty="0"/>
              <a:t>Staff </a:t>
            </a:r>
            <a:r>
              <a:rPr lang="my-MM" dirty="0"/>
              <a:t>များ၏ ခွင့်လျှောက်လွှာများကို စီမံပေးခြင်း ဖြစ်ပါတယ်။</a:t>
            </a:r>
            <a:br>
              <a:rPr lang="my-MM" dirty="0"/>
            </a:br>
            <a:br>
              <a:rPr lang="my-MM" dirty="0"/>
            </a:br>
            <a:r>
              <a:rPr lang="my-MM" dirty="0"/>
              <a:t>ခွင့်ပြုရန် သင့်တော်ပါက </a:t>
            </a:r>
            <a:r>
              <a:rPr lang="en-US" dirty="0"/>
              <a:t>Recommend Request (</a:t>
            </a:r>
            <a:r>
              <a:rPr lang="my-MM" dirty="0"/>
              <a:t>ထောက်ခံပေးခြင်း) သိုမဟုတ် မသင့်တော်ပါက </a:t>
            </a:r>
            <a:r>
              <a:rPr lang="en-US" dirty="0"/>
              <a:t>Not Recommend Request (</a:t>
            </a:r>
            <a:r>
              <a:rPr lang="my-MM" dirty="0"/>
              <a:t>ငြင်းပယ်ခြင်း) တိုကို လုပ်ဆောင်နိုင်အောင် &lt;&lt;</a:t>
            </a:r>
            <a:r>
              <a:rPr lang="en-US" dirty="0"/>
              <a:t>include&gt;&gt; </a:t>
            </a:r>
            <a:r>
              <a:rPr lang="my-MM" dirty="0"/>
              <a:t>သုံးပြီး ချိတ်ဆက်ထားတာ ဖြစ်ပါတယ်။</a:t>
            </a:r>
            <a:endParaRPr lang="en-US" dirty="0"/>
          </a:p>
          <a:p>
            <a:pPr algn="l"/>
            <a:endParaRPr lang="en-US" dirty="0"/>
          </a:p>
          <a:p>
            <a:pPr algn="l"/>
            <a:endParaRPr lang="en-US" dirty="0"/>
          </a:p>
          <a:p>
            <a:pPr algn="l"/>
            <a:endParaRPr lang="en-US" dirty="0"/>
          </a:p>
          <a:p>
            <a:pPr algn="l"/>
            <a:endParaRPr lang="en-US" dirty="0"/>
          </a:p>
          <a:p>
            <a:pPr algn="l"/>
            <a:endParaRPr lang="en-US" dirty="0"/>
          </a:p>
          <a:p>
            <a:pPr algn="l"/>
            <a:endParaRPr lang="en-US" dirty="0"/>
          </a:p>
          <a:p>
            <a:pPr algn="l"/>
            <a:r>
              <a:rPr lang="en-US" dirty="0"/>
              <a:t>Department Head </a:t>
            </a:r>
            <a:r>
              <a:rPr lang="my-MM" dirty="0"/>
              <a:t>အနေနဲ့ စနစ်ကို စတင်အသုံးပြုဖို့ </a:t>
            </a:r>
            <a:r>
              <a:rPr lang="en-US" dirty="0"/>
              <a:t>Login </a:t>
            </a:r>
            <a:r>
              <a:rPr lang="my-MM" dirty="0"/>
              <a:t>ဝင်ရောက်ရမှာ ဖြစ်သလို၊ အသုံးပြုပြီးပါက အကောင့်မှ </a:t>
            </a:r>
            <a:r>
              <a:rPr lang="en-US" dirty="0"/>
              <a:t>Logout </a:t>
            </a:r>
            <a:r>
              <a:rPr lang="my-MM" dirty="0"/>
              <a:t>ပြုလုပ်နိုင်ပါတယ်။</a:t>
            </a:r>
            <a:r>
              <a:rPr lang="en-US" dirty="0"/>
              <a:t>Dashboard (&lt;&lt;include&gt;&gt; View Leave Information):</a:t>
            </a:r>
            <a:br>
              <a:rPr lang="en-US" dirty="0"/>
            </a:br>
            <a:br>
              <a:rPr lang="en-US" dirty="0"/>
            </a:br>
            <a:r>
              <a:rPr lang="en-US" dirty="0"/>
              <a:t>Dashboard </a:t>
            </a:r>
            <a:r>
              <a:rPr lang="my-MM" dirty="0"/>
              <a:t>ကို ဝင်ရောက်ကြည့်ရှုတဲ့အခါ ဌာနတွင်း ခွင့်ဆိုင်ရာ အချက်အလက်တွေကို တန်းကြည့်နိုင်အောင် </a:t>
            </a:r>
            <a:r>
              <a:rPr lang="en-US" dirty="0"/>
              <a:t>View Leave Information use case </a:t>
            </a:r>
            <a:r>
              <a:rPr lang="my-MM" dirty="0"/>
              <a:t>ကို &lt;&lt;</a:t>
            </a:r>
            <a:r>
              <a:rPr lang="en-US" dirty="0"/>
              <a:t>include&gt;&gt; </a:t>
            </a:r>
            <a:r>
              <a:rPr lang="my-MM" dirty="0"/>
              <a:t>အနေနဲ့ ချိတ်ဆက်ထားပါတယ်။</a:t>
            </a:r>
            <a:br>
              <a:rPr lang="my-MM" dirty="0"/>
            </a:br>
            <a:r>
              <a:rPr lang="en-US" dirty="0"/>
              <a:t>Manage Profile:</a:t>
            </a:r>
            <a:br>
              <a:rPr lang="en-US" dirty="0"/>
            </a:br>
            <a:br>
              <a:rPr lang="en-US" dirty="0"/>
            </a:br>
            <a:r>
              <a:rPr lang="my-MM" dirty="0"/>
              <a:t>မိမိရဲ့ </a:t>
            </a:r>
            <a:r>
              <a:rPr lang="en-US" dirty="0"/>
              <a:t>Personal Profile </a:t>
            </a:r>
            <a:r>
              <a:rPr lang="my-MM" dirty="0"/>
              <a:t>အချက်အလက်များကို ပြင်ဆင် စီမံနိုင်ပါတယ်။</a:t>
            </a:r>
            <a:br>
              <a:rPr lang="my-MM" dirty="0"/>
            </a:br>
            <a:br>
              <a:rPr lang="my-MM" dirty="0"/>
            </a:br>
            <a:r>
              <a:rPr lang="en-US" dirty="0"/>
              <a:t>Request Leave (&lt;&lt;include&gt;&gt; Apply Leave &amp; Check Leave History):</a:t>
            </a:r>
            <a:br>
              <a:rPr lang="en-US" dirty="0"/>
            </a:br>
            <a:br>
              <a:rPr lang="en-US" dirty="0"/>
            </a:br>
            <a:r>
              <a:rPr lang="en-US" dirty="0"/>
              <a:t>Department Head </a:t>
            </a:r>
            <a:r>
              <a:rPr lang="my-MM" dirty="0"/>
              <a:t>မိမိကိုယ်တိုင် ခွင့်ယူလိုပါက </a:t>
            </a:r>
            <a:r>
              <a:rPr lang="en-US" dirty="0"/>
              <a:t>Request Leave </a:t>
            </a:r>
            <a:r>
              <a:rPr lang="my-MM" dirty="0"/>
              <a:t>ကို အသုံးပြုရပါမယ်။</a:t>
            </a:r>
            <a:br>
              <a:rPr lang="my-MM" dirty="0"/>
            </a:br>
            <a:r>
              <a:rPr lang="my-MM" dirty="0"/>
              <a:t>ဒီ </a:t>
            </a:r>
            <a:r>
              <a:rPr lang="en-US" dirty="0"/>
              <a:t>use case </a:t>
            </a:r>
            <a:r>
              <a:rPr lang="my-MM" dirty="0"/>
              <a:t>ထဲမှာ ခွင့်စတင်လျှောက်ထားခြင်း (</a:t>
            </a:r>
            <a:r>
              <a:rPr lang="en-US" dirty="0"/>
              <a:t>Apply Leave) </a:t>
            </a:r>
            <a:r>
              <a:rPr lang="my-MM" dirty="0"/>
              <a:t>နဲ့ မိမိရဲ့ ခွင့်မှတ်တမ်းများ ပြန်စစ်ခြင်း (</a:t>
            </a:r>
            <a:r>
              <a:rPr lang="en-US" dirty="0"/>
              <a:t>Check Leave History) </a:t>
            </a:r>
            <a:r>
              <a:rPr lang="my-MM" dirty="0"/>
              <a:t>တို့ အလိုအလျောက် ပါဝင်မှာဖြစ်လို့ &lt;&lt;</a:t>
            </a:r>
            <a:r>
              <a:rPr lang="en-US" dirty="0"/>
              <a:t>include&gt;&gt; </a:t>
            </a:r>
            <a:r>
              <a:rPr lang="my-MM" dirty="0"/>
              <a:t>ချိတ်ထားပါတယ်။</a:t>
            </a:r>
            <a:br>
              <a:rPr lang="my-MM" dirty="0"/>
            </a:br>
            <a:br>
              <a:rPr lang="my-MM" dirty="0"/>
            </a:br>
            <a:r>
              <a:rPr lang="en-US" dirty="0"/>
              <a:t>Manage Staff Request (&lt;&lt;include&gt;&gt; Recommend Request &amp; Not Recommend Request):</a:t>
            </a:r>
            <a:br>
              <a:rPr lang="en-US" dirty="0"/>
            </a:br>
            <a:r>
              <a:rPr lang="en-US" dirty="0"/>
              <a:t>Department Head </a:t>
            </a:r>
            <a:r>
              <a:rPr lang="my-MM" dirty="0"/>
              <a:t>ရဲ့ အဓိက တာဝန်တစ်ခုဖြစ်တဲ့ မိမိဌာနအောက်ရှိ </a:t>
            </a:r>
            <a:r>
              <a:rPr lang="en-US" dirty="0"/>
              <a:t>Staff </a:t>
            </a:r>
            <a:r>
              <a:rPr lang="my-MM" dirty="0"/>
              <a:t>များ၏ ခွင့်လျှောက်လွှာများကို စီမံပေးခြင်း ဖြစ်ပါတယ်။</a:t>
            </a:r>
            <a:br>
              <a:rPr lang="my-MM" dirty="0"/>
            </a:br>
            <a:br>
              <a:rPr lang="my-MM" dirty="0"/>
            </a:br>
            <a:r>
              <a:rPr lang="my-MM" dirty="0"/>
              <a:t>ခွင့်ပြုရန် သင့်တော်ပါက </a:t>
            </a:r>
            <a:r>
              <a:rPr lang="en-US" dirty="0"/>
              <a:t>Recommend Request (</a:t>
            </a:r>
            <a:r>
              <a:rPr lang="my-MM" dirty="0"/>
              <a:t>ထောက်ခံပေးခြင်း) သို့မဟုတ် မသင့်တော်ပါက </a:t>
            </a:r>
            <a:r>
              <a:rPr lang="en-US" dirty="0"/>
              <a:t>Not Recommend Request (</a:t>
            </a:r>
            <a:r>
              <a:rPr lang="my-MM" dirty="0"/>
              <a:t>ငြင်းပယ်ခြင်း) တို့ကို လုပ်ဆောင်နိုင်အောင် &lt;&lt;</a:t>
            </a:r>
            <a:r>
              <a:rPr lang="en-US" dirty="0"/>
              <a:t>include&gt;&gt; </a:t>
            </a:r>
            <a:r>
              <a:rPr lang="my-MM" dirty="0"/>
              <a:t>သုံးပြီး ချိတ်ဆက်ထားတာ ဖြစ်ပါတယ်။</a:t>
            </a:r>
            <a:endParaRPr lang="en-US" dirty="0"/>
          </a:p>
          <a:p>
            <a:pPr algn="l"/>
            <a:endParaRPr lang="en-US" b="0" i="0" dirty="0">
              <a:solidFill>
                <a:srgbClr val="0D0D0D"/>
              </a:solidFill>
              <a:effectLst/>
              <a:latin typeface="-apple-system-body"/>
            </a:endParaRPr>
          </a:p>
          <a:p>
            <a:pPr algn="l"/>
            <a:r>
              <a:rPr lang="my-MM" b="0" i="0" dirty="0">
                <a:solidFill>
                  <a:srgbClr val="0D0D0D"/>
                </a:solidFill>
                <a:effectLst/>
                <a:latin typeface="-apple-system-body"/>
              </a:rPr>
              <a:t>ဘယ်ဘက်မှာရှိတဲ့ လူပုံက </a:t>
            </a:r>
            <a:r>
              <a:rPr lang="en-US" b="1" i="0" dirty="0">
                <a:solidFill>
                  <a:srgbClr val="0D0D0D"/>
                </a:solidFill>
                <a:effectLst/>
                <a:latin typeface="-apple-system-body"/>
              </a:rPr>
              <a:t>Department Head</a:t>
            </a:r>
            <a:r>
              <a:rPr lang="en-US" b="0" i="0" dirty="0">
                <a:solidFill>
                  <a:srgbClr val="0D0D0D"/>
                </a:solidFill>
                <a:effectLst/>
                <a:latin typeface="-apple-system-body"/>
              </a:rPr>
              <a:t> </a:t>
            </a:r>
            <a:r>
              <a:rPr lang="my-MM" b="0" i="0" dirty="0">
                <a:solidFill>
                  <a:srgbClr val="0D0D0D"/>
                </a:solidFill>
                <a:effectLst/>
                <a:latin typeface="-apple-system-body"/>
              </a:rPr>
              <a:t>ပါ။</a:t>
            </a:r>
          </a:p>
          <a:p>
            <a:pPr algn="l"/>
            <a:r>
              <a:rPr lang="my-MM" b="0" i="0" dirty="0">
                <a:solidFill>
                  <a:srgbClr val="0D0D0D"/>
                </a:solidFill>
                <a:effectLst/>
                <a:latin typeface="-apple-system-body"/>
              </a:rPr>
              <a:t>အဓိကအားဖြင့် </a:t>
            </a:r>
            <a:r>
              <a:rPr lang="en-US" b="0" i="0" dirty="0">
                <a:solidFill>
                  <a:srgbClr val="0D0D0D"/>
                </a:solidFill>
                <a:effectLst/>
                <a:latin typeface="-apple-system-body"/>
              </a:rPr>
              <a:t>Department Head </a:t>
            </a:r>
            <a:r>
              <a:rPr lang="my-MM" b="0" i="0" dirty="0">
                <a:solidFill>
                  <a:srgbClr val="0D0D0D"/>
                </a:solidFill>
                <a:effectLst/>
                <a:latin typeface="-apple-system-body"/>
              </a:rPr>
              <a:t>က ဒီ </a:t>
            </a:r>
            <a:r>
              <a:rPr lang="en-US" b="0" i="0" dirty="0">
                <a:solidFill>
                  <a:srgbClr val="0D0D0D"/>
                </a:solidFill>
                <a:effectLst/>
                <a:latin typeface="-apple-system-body"/>
              </a:rPr>
              <a:t>System </a:t>
            </a:r>
            <a:r>
              <a:rPr lang="my-MM" b="0" i="0" dirty="0">
                <a:solidFill>
                  <a:srgbClr val="0D0D0D"/>
                </a:solidFill>
                <a:effectLst/>
                <a:latin typeface="-apple-system-body"/>
              </a:rPr>
              <a:t>ထဲမှာ—</a:t>
            </a:r>
          </a:p>
          <a:p>
            <a:pPr algn="l">
              <a:buFont typeface="Arial" panose="020B0604020202020204" pitchFamily="34" charset="0"/>
              <a:buChar char="•"/>
            </a:pPr>
            <a:r>
              <a:rPr lang="en-US" b="0" i="0" dirty="0">
                <a:solidFill>
                  <a:srgbClr val="0D0D0D"/>
                </a:solidFill>
                <a:effectLst/>
                <a:latin typeface="-apple-system-body"/>
              </a:rPr>
              <a:t>Login </a:t>
            </a:r>
            <a:r>
              <a:rPr lang="my-MM" b="0" i="0" dirty="0">
                <a:solidFill>
                  <a:srgbClr val="0D0D0D"/>
                </a:solidFill>
                <a:effectLst/>
                <a:latin typeface="-apple-system-body"/>
              </a:rPr>
              <a:t>ဝင်နိုင်တယ်</a:t>
            </a:r>
          </a:p>
          <a:p>
            <a:pPr algn="l">
              <a:buFont typeface="Arial" panose="020B0604020202020204" pitchFamily="34" charset="0"/>
              <a:buChar char="•"/>
            </a:pPr>
            <a:r>
              <a:rPr lang="en-US" b="0" i="0" dirty="0">
                <a:solidFill>
                  <a:srgbClr val="0D0D0D"/>
                </a:solidFill>
                <a:effectLst/>
                <a:latin typeface="-apple-system-body"/>
              </a:rPr>
              <a:t>Dashboard </a:t>
            </a:r>
            <a:r>
              <a:rPr lang="my-MM" b="0" i="0" dirty="0">
                <a:solidFill>
                  <a:srgbClr val="0D0D0D"/>
                </a:solidFill>
                <a:effectLst/>
                <a:latin typeface="-apple-system-body"/>
              </a:rPr>
              <a:t>ကြည့်နိုင်တယ်</a:t>
            </a:r>
          </a:p>
          <a:p>
            <a:pPr algn="l">
              <a:buFont typeface="Arial" panose="020B0604020202020204" pitchFamily="34" charset="0"/>
              <a:buChar char="•"/>
            </a:pPr>
            <a:r>
              <a:rPr lang="my-MM" b="0" i="0" dirty="0">
                <a:solidFill>
                  <a:srgbClr val="0D0D0D"/>
                </a:solidFill>
                <a:effectLst/>
                <a:latin typeface="-apple-system-body"/>
              </a:rPr>
              <a:t>ကိုယ့် </a:t>
            </a:r>
            <a:r>
              <a:rPr lang="en-US" b="0" i="0" dirty="0">
                <a:solidFill>
                  <a:srgbClr val="0D0D0D"/>
                </a:solidFill>
                <a:effectLst/>
                <a:latin typeface="-apple-system-body"/>
              </a:rPr>
              <a:t>Profile </a:t>
            </a:r>
            <a:r>
              <a:rPr lang="my-MM" b="0" i="0" dirty="0">
                <a:solidFill>
                  <a:srgbClr val="0D0D0D"/>
                </a:solidFill>
                <a:effectLst/>
                <a:latin typeface="-apple-system-body"/>
              </a:rPr>
              <a:t>ကို စီမံနိုင်တယ်</a:t>
            </a:r>
          </a:p>
          <a:p>
            <a:pPr algn="l">
              <a:buFont typeface="Arial" panose="020B0604020202020204" pitchFamily="34" charset="0"/>
              <a:buChar char="•"/>
            </a:pPr>
            <a:r>
              <a:rPr lang="en-US" b="0" i="0" dirty="0">
                <a:solidFill>
                  <a:srgbClr val="0D0D0D"/>
                </a:solidFill>
                <a:effectLst/>
                <a:latin typeface="-apple-system-body"/>
              </a:rPr>
              <a:t>Leave </a:t>
            </a:r>
            <a:r>
              <a:rPr lang="my-MM" b="0" i="0" dirty="0">
                <a:solidFill>
                  <a:srgbClr val="0D0D0D"/>
                </a:solidFill>
                <a:effectLst/>
                <a:latin typeface="-apple-system-body"/>
              </a:rPr>
              <a:t>တောင်းနိုင်တယ်</a:t>
            </a:r>
          </a:p>
          <a:p>
            <a:pPr algn="l">
              <a:buFont typeface="Arial" panose="020B0604020202020204" pitchFamily="34" charset="0"/>
              <a:buChar char="•"/>
            </a:pPr>
            <a:r>
              <a:rPr lang="en-US" b="0" i="0" dirty="0">
                <a:solidFill>
                  <a:srgbClr val="0D0D0D"/>
                </a:solidFill>
                <a:effectLst/>
                <a:latin typeface="-apple-system-body"/>
              </a:rPr>
              <a:t>Staff </a:t>
            </a:r>
            <a:r>
              <a:rPr lang="my-MM" b="0" i="0" dirty="0">
                <a:solidFill>
                  <a:srgbClr val="0D0D0D"/>
                </a:solidFill>
                <a:effectLst/>
                <a:latin typeface="-apple-system-body"/>
              </a:rPr>
              <a:t>တွေရဲ့ </a:t>
            </a:r>
            <a:r>
              <a:rPr lang="en-US" b="0" i="0" dirty="0">
                <a:solidFill>
                  <a:srgbClr val="0D0D0D"/>
                </a:solidFill>
                <a:effectLst/>
                <a:latin typeface="-apple-system-body"/>
              </a:rPr>
              <a:t>Leave Request </a:t>
            </a:r>
            <a:r>
              <a:rPr lang="my-MM" b="0" i="0" dirty="0">
                <a:solidFill>
                  <a:srgbClr val="0D0D0D"/>
                </a:solidFill>
                <a:effectLst/>
                <a:latin typeface="-apple-system-body"/>
              </a:rPr>
              <a:t>တွေကို စီမံနိုင်တယ်</a:t>
            </a:r>
          </a:p>
          <a:p>
            <a:pPr algn="l">
              <a:buFont typeface="Arial" panose="020B0604020202020204" pitchFamily="34" charset="0"/>
              <a:buChar char="•"/>
            </a:pPr>
            <a:r>
              <a:rPr lang="en-US" b="0" i="0" dirty="0">
                <a:solidFill>
                  <a:srgbClr val="0D0D0D"/>
                </a:solidFill>
                <a:effectLst/>
                <a:latin typeface="-apple-system-body"/>
              </a:rPr>
              <a:t>Logout </a:t>
            </a:r>
            <a:r>
              <a:rPr lang="my-MM" b="0" i="0" dirty="0">
                <a:solidFill>
                  <a:srgbClr val="0D0D0D"/>
                </a:solidFill>
                <a:effectLst/>
                <a:latin typeface="-apple-system-body"/>
              </a:rPr>
              <a:t>လုပ်နိုင်တယ်</a:t>
            </a:r>
          </a:p>
          <a:p>
            <a:pPr algn="l"/>
            <a:r>
              <a:rPr lang="my-MM" b="0" i="0" dirty="0">
                <a:solidFill>
                  <a:srgbClr val="0D0D0D"/>
                </a:solidFill>
                <a:effectLst/>
                <a:latin typeface="-apple-system-body"/>
              </a:rPr>
              <a:t>ဆိုပြီး လုပ်ဆောင်ချက်တွေ ရှိပါတယ်။</a:t>
            </a:r>
          </a:p>
          <a:p>
            <a:pPr algn="l"/>
            <a:r>
              <a:rPr lang="my-MM" b="1" i="0" dirty="0">
                <a:solidFill>
                  <a:srgbClr val="0D0D0D"/>
                </a:solidFill>
                <a:effectLst/>
                <a:latin typeface="-apple-system-body"/>
              </a:rPr>
              <a:t>၂။ </a:t>
            </a:r>
            <a:r>
              <a:rPr lang="en-US" b="1" i="0" dirty="0">
                <a:solidFill>
                  <a:srgbClr val="0D0D0D"/>
                </a:solidFill>
                <a:effectLst/>
                <a:latin typeface="-apple-system-body"/>
              </a:rPr>
              <a:t>Login</a:t>
            </a:r>
          </a:p>
          <a:p>
            <a:pPr algn="l"/>
            <a:r>
              <a:rPr lang="my-MM" b="0" i="0" dirty="0">
                <a:solidFill>
                  <a:srgbClr val="0D0D0D"/>
                </a:solidFill>
                <a:effectLst/>
                <a:latin typeface="-apple-system-body"/>
              </a:rPr>
              <a:t>ပထမဆုံး </a:t>
            </a:r>
            <a:r>
              <a:rPr lang="en-US" b="1" i="0" dirty="0">
                <a:solidFill>
                  <a:srgbClr val="0D0D0D"/>
                </a:solidFill>
                <a:effectLst/>
                <a:latin typeface="-apple-system-body"/>
              </a:rPr>
              <a:t>Department Head </a:t>
            </a:r>
            <a:r>
              <a:rPr lang="my-MM" b="1" i="0" dirty="0">
                <a:solidFill>
                  <a:srgbClr val="0D0D0D"/>
                </a:solidFill>
                <a:effectLst/>
                <a:latin typeface="-apple-system-body"/>
              </a:rPr>
              <a:t>က </a:t>
            </a:r>
            <a:r>
              <a:rPr lang="en-US" b="1" i="0" dirty="0">
                <a:solidFill>
                  <a:srgbClr val="0D0D0D"/>
                </a:solidFill>
                <a:effectLst/>
                <a:latin typeface="-apple-system-body"/>
              </a:rPr>
              <a:t>System </a:t>
            </a:r>
            <a:r>
              <a:rPr lang="my-MM" b="1" i="0" dirty="0">
                <a:solidFill>
                  <a:srgbClr val="0D0D0D"/>
                </a:solidFill>
                <a:effectLst/>
                <a:latin typeface="-apple-system-body"/>
              </a:rPr>
              <a:t>ထဲကို </a:t>
            </a:r>
            <a:r>
              <a:rPr lang="en-US" b="1" i="0" dirty="0">
                <a:solidFill>
                  <a:srgbClr val="0D0D0D"/>
                </a:solidFill>
                <a:effectLst/>
                <a:latin typeface="-apple-system-body"/>
              </a:rPr>
              <a:t>Login </a:t>
            </a:r>
            <a:r>
              <a:rPr lang="my-MM" b="1" i="0" dirty="0">
                <a:solidFill>
                  <a:srgbClr val="0D0D0D"/>
                </a:solidFill>
                <a:effectLst/>
                <a:latin typeface="-apple-system-body"/>
              </a:rPr>
              <a:t>ဝင်မယ်</a:t>
            </a:r>
            <a:r>
              <a:rPr lang="my-MM" b="0" i="0" dirty="0">
                <a:solidFill>
                  <a:srgbClr val="0D0D0D"/>
                </a:solidFill>
                <a:effectLst/>
                <a:latin typeface="-apple-system-body"/>
              </a:rPr>
              <a:t>။</a:t>
            </a:r>
          </a:p>
          <a:p>
            <a:pPr algn="l"/>
            <a:r>
              <a:rPr lang="en-US" b="0" i="0" dirty="0">
                <a:solidFill>
                  <a:srgbClr val="0D0D0D"/>
                </a:solidFill>
                <a:effectLst/>
                <a:latin typeface="-apple-system-body"/>
              </a:rPr>
              <a:t>Login </a:t>
            </a:r>
            <a:r>
              <a:rPr lang="my-MM" b="0" i="0" dirty="0">
                <a:solidFill>
                  <a:srgbClr val="0D0D0D"/>
                </a:solidFill>
                <a:effectLst/>
                <a:latin typeface="-apple-system-body"/>
              </a:rPr>
              <a:t>ဝင်ပြီးမှ တခြား </a:t>
            </a:r>
            <a:r>
              <a:rPr lang="en-US" b="0" i="0" dirty="0">
                <a:solidFill>
                  <a:srgbClr val="0D0D0D"/>
                </a:solidFill>
                <a:effectLst/>
                <a:latin typeface="-apple-system-body"/>
              </a:rPr>
              <a:t>Function </a:t>
            </a:r>
            <a:r>
              <a:rPr lang="my-MM" b="0" i="0" dirty="0">
                <a:solidFill>
                  <a:srgbClr val="0D0D0D"/>
                </a:solidFill>
                <a:effectLst/>
                <a:latin typeface="-apple-system-body"/>
              </a:rPr>
              <a:t>တွေကို အသုံးပြုနိုင်မယ့်သဘောပါ။</a:t>
            </a:r>
          </a:p>
          <a:p>
            <a:pPr algn="l"/>
            <a:r>
              <a:rPr lang="my-MM" b="1" i="0" dirty="0">
                <a:solidFill>
                  <a:srgbClr val="0D0D0D"/>
                </a:solidFill>
                <a:effectLst/>
                <a:latin typeface="-apple-system-body"/>
              </a:rPr>
              <a:t>၃။ </a:t>
            </a:r>
            <a:r>
              <a:rPr lang="en-US" b="1" i="0" dirty="0">
                <a:solidFill>
                  <a:srgbClr val="0D0D0D"/>
                </a:solidFill>
                <a:effectLst/>
                <a:latin typeface="-apple-system-body"/>
              </a:rPr>
              <a:t>Dashboard</a:t>
            </a:r>
          </a:p>
          <a:p>
            <a:pPr algn="l"/>
            <a:r>
              <a:rPr lang="en-US" b="0" i="0" dirty="0">
                <a:solidFill>
                  <a:srgbClr val="0D0D0D"/>
                </a:solidFill>
                <a:effectLst/>
                <a:latin typeface="-apple-system-body"/>
              </a:rPr>
              <a:t>Login </a:t>
            </a:r>
            <a:r>
              <a:rPr lang="my-MM" b="0" i="0" dirty="0">
                <a:solidFill>
                  <a:srgbClr val="0D0D0D"/>
                </a:solidFill>
                <a:effectLst/>
                <a:latin typeface="-apple-system-body"/>
              </a:rPr>
              <a:t>ဝင်ပြီးရင် </a:t>
            </a:r>
            <a:r>
              <a:rPr lang="en-US" b="1" i="0" dirty="0">
                <a:solidFill>
                  <a:srgbClr val="0D0D0D"/>
                </a:solidFill>
                <a:effectLst/>
                <a:latin typeface="-apple-system-body"/>
              </a:rPr>
              <a:t>Dashboard</a:t>
            </a:r>
            <a:r>
              <a:rPr lang="en-US" b="0" i="0" dirty="0">
                <a:solidFill>
                  <a:srgbClr val="0D0D0D"/>
                </a:solidFill>
                <a:effectLst/>
                <a:latin typeface="-apple-system-body"/>
              </a:rPr>
              <a:t> </a:t>
            </a:r>
            <a:r>
              <a:rPr lang="my-MM" b="0" i="0" dirty="0">
                <a:solidFill>
                  <a:srgbClr val="0D0D0D"/>
                </a:solidFill>
                <a:effectLst/>
                <a:latin typeface="-apple-system-body"/>
              </a:rPr>
              <a:t>ကို သွားမယ်။</a:t>
            </a:r>
          </a:p>
          <a:p>
            <a:pPr algn="l"/>
            <a:r>
              <a:rPr lang="en-US" b="0" i="0" dirty="0">
                <a:solidFill>
                  <a:srgbClr val="0D0D0D"/>
                </a:solidFill>
                <a:effectLst/>
                <a:latin typeface="-apple-system-body"/>
              </a:rPr>
              <a:t>Dashboard </a:t>
            </a:r>
            <a:r>
              <a:rPr lang="my-MM" b="0" i="0" dirty="0">
                <a:solidFill>
                  <a:srgbClr val="0D0D0D"/>
                </a:solidFill>
                <a:effectLst/>
                <a:latin typeface="-apple-system-body"/>
              </a:rPr>
              <a:t>ထဲမှာ </a:t>
            </a:r>
            <a:r>
              <a:rPr lang="en-US" b="1" i="0" dirty="0">
                <a:solidFill>
                  <a:srgbClr val="0D0D0D"/>
                </a:solidFill>
                <a:effectLst/>
                <a:latin typeface="-apple-system-body"/>
              </a:rPr>
              <a:t>View Leave Information</a:t>
            </a:r>
            <a:r>
              <a:rPr lang="en-US" b="0" i="0" dirty="0">
                <a:solidFill>
                  <a:srgbClr val="0D0D0D"/>
                </a:solidFill>
                <a:effectLst/>
                <a:latin typeface="-apple-system-body"/>
              </a:rPr>
              <a:t> </a:t>
            </a:r>
            <a:r>
              <a:rPr lang="my-MM" b="0" i="0" dirty="0">
                <a:solidFill>
                  <a:srgbClr val="0D0D0D"/>
                </a:solidFill>
                <a:effectLst/>
                <a:latin typeface="-apple-system-body"/>
              </a:rPr>
              <a:t>ဆိုတာ ပါဝင်ပါတယ်။</a:t>
            </a:r>
          </a:p>
          <a:p>
            <a:pPr algn="l"/>
            <a:r>
              <a:rPr lang="my-MM" b="0" i="0" dirty="0">
                <a:solidFill>
                  <a:srgbClr val="0D0D0D"/>
                </a:solidFill>
                <a:effectLst/>
                <a:latin typeface="-apple-system-body"/>
              </a:rPr>
              <a:t>ပုံထဲမှာ—</a:t>
            </a:r>
          </a:p>
          <a:p>
            <a:pPr algn="l"/>
            <a:r>
              <a:rPr lang="en-US" b="1" i="0" dirty="0">
                <a:solidFill>
                  <a:srgbClr val="0D0D0D"/>
                </a:solidFill>
                <a:effectLst/>
                <a:latin typeface="-apple-system-body"/>
              </a:rPr>
              <a:t>Dashboard → &lt;&lt;include&gt;&gt; → View Leave Information</a:t>
            </a:r>
            <a:endParaRPr lang="en-US" b="0" i="0" dirty="0">
              <a:solidFill>
                <a:srgbClr val="0D0D0D"/>
              </a:solidFill>
              <a:effectLst/>
              <a:latin typeface="-apple-system-body"/>
            </a:endParaRPr>
          </a:p>
          <a:p>
            <a:pPr algn="l"/>
            <a:r>
              <a:rPr lang="my-MM" b="0" i="0" dirty="0">
                <a:solidFill>
                  <a:srgbClr val="0D0D0D"/>
                </a:solidFill>
                <a:effectLst/>
                <a:latin typeface="-apple-system-body"/>
              </a:rPr>
              <a:t>လို့ ပြထားတယ်။</a:t>
            </a:r>
          </a:p>
          <a:p>
            <a:pPr algn="l"/>
            <a:r>
              <a:rPr lang="en-US" b="0" i="0" dirty="0">
                <a:solidFill>
                  <a:srgbClr val="0D0D0D"/>
                </a:solidFill>
                <a:effectLst/>
                <a:latin typeface="-apple-system-body"/>
              </a:rPr>
              <a:t>include </a:t>
            </a:r>
            <a:r>
              <a:rPr lang="my-MM" b="0" i="0" dirty="0">
                <a:solidFill>
                  <a:srgbClr val="0D0D0D"/>
                </a:solidFill>
                <a:effectLst/>
                <a:latin typeface="-apple-system-body"/>
              </a:rPr>
              <a:t>ဆိုတာက </a:t>
            </a:r>
            <a:r>
              <a:rPr lang="en-US" b="1" i="0" dirty="0">
                <a:solidFill>
                  <a:srgbClr val="0D0D0D"/>
                </a:solidFill>
                <a:effectLst/>
                <a:latin typeface="-apple-system-body"/>
              </a:rPr>
              <a:t>Dashboard </a:t>
            </a:r>
            <a:r>
              <a:rPr lang="my-MM" b="1" i="0" dirty="0">
                <a:solidFill>
                  <a:srgbClr val="0D0D0D"/>
                </a:solidFill>
                <a:effectLst/>
                <a:latin typeface="-apple-system-body"/>
              </a:rPr>
              <a:t>ကို အသုံးပြုတဲ့အခါ </a:t>
            </a:r>
            <a:r>
              <a:rPr lang="en-US" b="1" i="0" dirty="0">
                <a:solidFill>
                  <a:srgbClr val="0D0D0D"/>
                </a:solidFill>
                <a:effectLst/>
                <a:latin typeface="-apple-system-body"/>
              </a:rPr>
              <a:t>View Leave Information </a:t>
            </a:r>
            <a:r>
              <a:rPr lang="my-MM" b="1" i="0" dirty="0">
                <a:solidFill>
                  <a:srgbClr val="0D0D0D"/>
                </a:solidFill>
                <a:effectLst/>
                <a:latin typeface="-apple-system-body"/>
              </a:rPr>
              <a:t>လုပ်ဆောင်ချက်ကိုလည်း အတူတကွ ပါဝင်အသုံးပြုရမယ်</a:t>
            </a:r>
            <a:r>
              <a:rPr lang="my-MM" b="0" i="0" dirty="0">
                <a:solidFill>
                  <a:srgbClr val="0D0D0D"/>
                </a:solidFill>
                <a:effectLst/>
                <a:latin typeface="-apple-system-body"/>
              </a:rPr>
              <a:t> ဆိုတဲ့သဘောပါ။</a:t>
            </a:r>
          </a:p>
          <a:p>
            <a:pPr algn="l"/>
            <a:r>
              <a:rPr lang="my-MM" b="1" i="0" dirty="0">
                <a:solidFill>
                  <a:srgbClr val="0D0D0D"/>
                </a:solidFill>
                <a:effectLst/>
                <a:latin typeface="-apple-system-body"/>
              </a:rPr>
              <a:t>၄။ </a:t>
            </a:r>
            <a:r>
              <a:rPr lang="en-US" b="1" i="0" dirty="0">
                <a:solidFill>
                  <a:srgbClr val="0D0D0D"/>
                </a:solidFill>
                <a:effectLst/>
                <a:latin typeface="-apple-system-body"/>
              </a:rPr>
              <a:t>Manage Profile</a:t>
            </a:r>
          </a:p>
          <a:p>
            <a:pPr algn="l"/>
            <a:r>
              <a:rPr lang="en-US" b="1" i="0" dirty="0">
                <a:solidFill>
                  <a:srgbClr val="0D0D0D"/>
                </a:solidFill>
                <a:effectLst/>
                <a:latin typeface="-apple-system-body"/>
              </a:rPr>
              <a:t>Manage Profile</a:t>
            </a:r>
            <a:r>
              <a:rPr lang="en-US" b="0" i="0" dirty="0">
                <a:solidFill>
                  <a:srgbClr val="0D0D0D"/>
                </a:solidFill>
                <a:effectLst/>
                <a:latin typeface="-apple-system-body"/>
              </a:rPr>
              <a:t> </a:t>
            </a:r>
            <a:r>
              <a:rPr lang="my-MM" b="0" i="0" dirty="0">
                <a:solidFill>
                  <a:srgbClr val="0D0D0D"/>
                </a:solidFill>
                <a:effectLst/>
                <a:latin typeface="-apple-system-body"/>
              </a:rPr>
              <a:t>က </a:t>
            </a:r>
            <a:r>
              <a:rPr lang="en-US" b="0" i="0" dirty="0">
                <a:solidFill>
                  <a:srgbClr val="0D0D0D"/>
                </a:solidFill>
                <a:effectLst/>
                <a:latin typeface="-apple-system-body"/>
              </a:rPr>
              <a:t>Department Head </a:t>
            </a:r>
            <a:r>
              <a:rPr lang="my-MM" b="0" i="0" dirty="0">
                <a:solidFill>
                  <a:srgbClr val="0D0D0D"/>
                </a:solidFill>
                <a:effectLst/>
                <a:latin typeface="-apple-system-body"/>
              </a:rPr>
              <a:t>ကိုယ့်ရဲ့ </a:t>
            </a:r>
            <a:r>
              <a:rPr lang="en-US" b="0" i="0" dirty="0">
                <a:solidFill>
                  <a:srgbClr val="0D0D0D"/>
                </a:solidFill>
                <a:effectLst/>
                <a:latin typeface="-apple-system-body"/>
              </a:rPr>
              <a:t>Profile information </a:t>
            </a:r>
            <a:r>
              <a:rPr lang="my-MM" b="0" i="0" dirty="0">
                <a:solidFill>
                  <a:srgbClr val="0D0D0D"/>
                </a:solidFill>
                <a:effectLst/>
                <a:latin typeface="-apple-system-body"/>
              </a:rPr>
              <a:t>တွေကို ပြင်ဆင်/စီမံဖို့ ဖြစ်ပါတယ်။</a:t>
            </a:r>
          </a:p>
          <a:p>
            <a:pPr algn="l"/>
            <a:r>
              <a:rPr lang="my-MM" b="0" i="0" dirty="0">
                <a:solidFill>
                  <a:srgbClr val="0D0D0D"/>
                </a:solidFill>
                <a:effectLst/>
                <a:latin typeface="-apple-system-body"/>
              </a:rPr>
              <a:t>ဥပမာ—</a:t>
            </a:r>
          </a:p>
          <a:p>
            <a:pPr algn="l"/>
            <a:r>
              <a:rPr lang="en-US" b="0" i="0" dirty="0">
                <a:solidFill>
                  <a:srgbClr val="0D0D0D"/>
                </a:solidFill>
                <a:effectLst/>
                <a:latin typeface="-apple-system-body"/>
              </a:rPr>
              <a:t>Log </a:t>
            </a:r>
            <a:r>
              <a:rPr lang="en-US" b="0" i="0" dirty="0" err="1">
                <a:solidFill>
                  <a:srgbClr val="0D0D0D"/>
                </a:solidFill>
                <a:effectLst/>
                <a:latin typeface="-apple-system-body"/>
              </a:rPr>
              <a:t>inSign</a:t>
            </a:r>
            <a:r>
              <a:rPr lang="en-US" b="0" i="0" dirty="0">
                <a:solidFill>
                  <a:srgbClr val="0D0D0D"/>
                </a:solidFill>
                <a:effectLst/>
                <a:latin typeface="-apple-system-body"/>
              </a:rPr>
              <a:t> up for free</a:t>
            </a:r>
          </a:p>
          <a:p>
            <a:pPr algn="l">
              <a:buFont typeface="+mj-lt"/>
              <a:buAutoNum type="arabicPeriod"/>
            </a:pPr>
            <a:r>
              <a:rPr lang="en-US" b="1" i="0" dirty="0">
                <a:solidFill>
                  <a:srgbClr val="0D0D0D"/>
                </a:solidFill>
                <a:effectLst/>
                <a:latin typeface="-apple-system-body"/>
              </a:rPr>
              <a:t>You said:</a:t>
            </a:r>
          </a:p>
          <a:p>
            <a:pPr algn="l">
              <a:buFont typeface="+mj-lt"/>
              <a:buAutoNum type="arabicPeriod"/>
            </a:pPr>
            <a:r>
              <a:rPr lang="my-MM" b="0" i="0" dirty="0">
                <a:solidFill>
                  <a:srgbClr val="0D0D0D"/>
                </a:solidFill>
                <a:effectLst/>
                <a:latin typeface="-apple-system-body"/>
              </a:rPr>
              <a:t>မြန်မာလို ဖွဲ့နွဲပြီး စကားပြောသလို ရှင်းပြပါ</a:t>
            </a:r>
          </a:p>
          <a:p>
            <a:pPr algn="l">
              <a:buFont typeface="+mj-lt"/>
              <a:buNone/>
            </a:pPr>
            <a:r>
              <a:rPr lang="my-MM" b="0" i="0" dirty="0">
                <a:solidFill>
                  <a:srgbClr val="0D0D0D"/>
                </a:solidFill>
                <a:effectLst/>
                <a:latin typeface="-apple-system-body"/>
              </a:rPr>
              <a:t>ဟုတ်ကဲ့။ ဒီပုံက </a:t>
            </a:r>
            <a:r>
              <a:rPr lang="en-US" b="1" i="0" dirty="0">
                <a:solidFill>
                  <a:srgbClr val="0D0D0D"/>
                </a:solidFill>
                <a:effectLst/>
                <a:latin typeface="-apple-system-body"/>
              </a:rPr>
              <a:t>Department Head </a:t>
            </a:r>
            <a:r>
              <a:rPr lang="my-MM" b="1" i="0" dirty="0">
                <a:solidFill>
                  <a:srgbClr val="0D0D0D"/>
                </a:solidFill>
                <a:effectLst/>
                <a:latin typeface="-apple-system-body"/>
              </a:rPr>
              <a:t>အတွက် </a:t>
            </a:r>
            <a:r>
              <a:rPr lang="en-US" b="1" i="0" dirty="0">
                <a:solidFill>
                  <a:srgbClr val="0D0D0D"/>
                </a:solidFill>
                <a:effectLst/>
                <a:latin typeface="-apple-system-body"/>
              </a:rPr>
              <a:t>Leave Management System </a:t>
            </a:r>
            <a:r>
              <a:rPr lang="my-MM" b="1" i="0" dirty="0">
                <a:solidFill>
                  <a:srgbClr val="0D0D0D"/>
                </a:solidFill>
                <a:effectLst/>
                <a:latin typeface="-apple-system-body"/>
              </a:rPr>
              <a:t>ရဲ့ </a:t>
            </a:r>
            <a:r>
              <a:rPr lang="en-US" b="1" i="0" dirty="0">
                <a:solidFill>
                  <a:srgbClr val="0D0D0D"/>
                </a:solidFill>
                <a:effectLst/>
                <a:latin typeface="-apple-system-body"/>
              </a:rPr>
              <a:t>Use Case Diagram</a:t>
            </a:r>
            <a:r>
              <a:rPr lang="en-US" b="0" i="0" dirty="0">
                <a:solidFill>
                  <a:srgbClr val="0D0D0D"/>
                </a:solidFill>
                <a:effectLst/>
                <a:latin typeface="-apple-system-body"/>
              </a:rPr>
              <a:t> </a:t>
            </a:r>
            <a:r>
              <a:rPr lang="my-MM" b="0" i="0" dirty="0">
                <a:solidFill>
                  <a:srgbClr val="0D0D0D"/>
                </a:solidFill>
                <a:effectLst/>
                <a:latin typeface="-apple-system-body"/>
              </a:rPr>
              <a:t>ပါ။ စကားပြောသလို လွယ်လွယ်နဲ့ တစ်ဆင့်ချင်းရှင်းပြမယ်နော်။</a:t>
            </a:r>
          </a:p>
          <a:p>
            <a:pPr algn="l">
              <a:buFont typeface="+mj-lt"/>
              <a:buAutoNum type="arabicPeriod"/>
            </a:pPr>
            <a:r>
              <a:rPr lang="my-MM" b="1" i="0" dirty="0">
                <a:solidFill>
                  <a:srgbClr val="0D0D0D"/>
                </a:solidFill>
                <a:effectLst/>
                <a:latin typeface="-apple-system-body"/>
              </a:rPr>
              <a:t>၁။ ဘယ်သူက </a:t>
            </a:r>
            <a:r>
              <a:rPr lang="en-US" b="1" i="0" dirty="0">
                <a:solidFill>
                  <a:srgbClr val="0D0D0D"/>
                </a:solidFill>
                <a:effectLst/>
                <a:latin typeface="-apple-system-body"/>
              </a:rPr>
              <a:t>System </a:t>
            </a:r>
            <a:r>
              <a:rPr lang="my-MM" b="1" i="0" dirty="0">
                <a:solidFill>
                  <a:srgbClr val="0D0D0D"/>
                </a:solidFill>
                <a:effectLst/>
                <a:latin typeface="-apple-system-body"/>
              </a:rPr>
              <a:t>ကို အသုံးပြုတာလဲ?</a:t>
            </a:r>
          </a:p>
          <a:p>
            <a:pPr algn="l">
              <a:buFont typeface="+mj-lt"/>
              <a:buAutoNum type="arabicPeriod"/>
            </a:pPr>
            <a:r>
              <a:rPr lang="my-MM" b="0" i="0" dirty="0">
                <a:solidFill>
                  <a:srgbClr val="0D0D0D"/>
                </a:solidFill>
                <a:effectLst/>
                <a:latin typeface="-apple-system-body"/>
              </a:rPr>
              <a:t>ဘယ်ဘက်မှာရှိတဲ့ လူပုံက </a:t>
            </a:r>
            <a:r>
              <a:rPr lang="en-US" b="1" i="0" dirty="0">
                <a:solidFill>
                  <a:srgbClr val="0D0D0D"/>
                </a:solidFill>
                <a:effectLst/>
                <a:latin typeface="-apple-system-body"/>
              </a:rPr>
              <a:t>Department Head</a:t>
            </a:r>
            <a:r>
              <a:rPr lang="en-US" b="0" i="0" dirty="0">
                <a:solidFill>
                  <a:srgbClr val="0D0D0D"/>
                </a:solidFill>
                <a:effectLst/>
                <a:latin typeface="-apple-system-body"/>
              </a:rPr>
              <a:t> </a:t>
            </a:r>
            <a:r>
              <a:rPr lang="my-MM" b="0" i="0" dirty="0">
                <a:solidFill>
                  <a:srgbClr val="0D0D0D"/>
                </a:solidFill>
                <a:effectLst/>
                <a:latin typeface="-apple-system-body"/>
              </a:rPr>
              <a:t>ပါ။</a:t>
            </a:r>
          </a:p>
          <a:p>
            <a:pPr algn="l">
              <a:buFont typeface="+mj-lt"/>
              <a:buAutoNum type="arabicPeriod"/>
            </a:pPr>
            <a:r>
              <a:rPr lang="my-MM" b="0" i="0" dirty="0">
                <a:solidFill>
                  <a:srgbClr val="0D0D0D"/>
                </a:solidFill>
                <a:effectLst/>
                <a:latin typeface="-apple-system-body"/>
              </a:rPr>
              <a:t>အဓိကအားဖြင့် </a:t>
            </a:r>
            <a:r>
              <a:rPr lang="en-US" b="0" i="0" dirty="0">
                <a:solidFill>
                  <a:srgbClr val="0D0D0D"/>
                </a:solidFill>
                <a:effectLst/>
                <a:latin typeface="-apple-system-body"/>
              </a:rPr>
              <a:t>Department Head </a:t>
            </a:r>
            <a:r>
              <a:rPr lang="my-MM" b="0" i="0" dirty="0">
                <a:solidFill>
                  <a:srgbClr val="0D0D0D"/>
                </a:solidFill>
                <a:effectLst/>
                <a:latin typeface="-apple-system-body"/>
              </a:rPr>
              <a:t>က ဒီ </a:t>
            </a:r>
            <a:r>
              <a:rPr lang="en-US" b="0" i="0" dirty="0">
                <a:solidFill>
                  <a:srgbClr val="0D0D0D"/>
                </a:solidFill>
                <a:effectLst/>
                <a:latin typeface="-apple-system-body"/>
              </a:rPr>
              <a:t>System </a:t>
            </a:r>
            <a:r>
              <a:rPr lang="my-MM" b="0" i="0" dirty="0">
                <a:solidFill>
                  <a:srgbClr val="0D0D0D"/>
                </a:solidFill>
                <a:effectLst/>
                <a:latin typeface="-apple-system-body"/>
              </a:rPr>
              <a:t>ထဲမှာ—</a:t>
            </a:r>
          </a:p>
          <a:p>
            <a:pPr algn="l">
              <a:buFont typeface="+mj-lt"/>
              <a:buAutoNum type="arabicPeriod"/>
            </a:pPr>
            <a:r>
              <a:rPr lang="en-US" b="0" i="0" dirty="0">
                <a:solidFill>
                  <a:srgbClr val="0D0D0D"/>
                </a:solidFill>
                <a:effectLst/>
                <a:latin typeface="-apple-system-body"/>
              </a:rPr>
              <a:t>Login </a:t>
            </a:r>
            <a:r>
              <a:rPr lang="my-MM" b="0" i="0" dirty="0">
                <a:solidFill>
                  <a:srgbClr val="0D0D0D"/>
                </a:solidFill>
                <a:effectLst/>
                <a:latin typeface="-apple-system-body"/>
              </a:rPr>
              <a:t>ဝင်နိုင်တယ်</a:t>
            </a:r>
          </a:p>
          <a:p>
            <a:pPr algn="l">
              <a:buFont typeface="+mj-lt"/>
              <a:buAutoNum type="arabicPeriod"/>
            </a:pPr>
            <a:r>
              <a:rPr lang="en-US" b="0" i="0" dirty="0">
                <a:solidFill>
                  <a:srgbClr val="0D0D0D"/>
                </a:solidFill>
                <a:effectLst/>
                <a:latin typeface="-apple-system-body"/>
              </a:rPr>
              <a:t>Dashboard </a:t>
            </a:r>
            <a:r>
              <a:rPr lang="my-MM" b="0" i="0" dirty="0">
                <a:solidFill>
                  <a:srgbClr val="0D0D0D"/>
                </a:solidFill>
                <a:effectLst/>
                <a:latin typeface="-apple-system-body"/>
              </a:rPr>
              <a:t>ကြည့်နိုင်တယ်</a:t>
            </a:r>
          </a:p>
          <a:p>
            <a:pPr algn="l">
              <a:buFont typeface="+mj-lt"/>
              <a:buAutoNum type="arabicPeriod"/>
            </a:pPr>
            <a:r>
              <a:rPr lang="my-MM" b="0" i="0" dirty="0">
                <a:solidFill>
                  <a:srgbClr val="0D0D0D"/>
                </a:solidFill>
                <a:effectLst/>
                <a:latin typeface="-apple-system-body"/>
              </a:rPr>
              <a:t>ကိုယ့် </a:t>
            </a:r>
            <a:r>
              <a:rPr lang="en-US" b="0" i="0" dirty="0">
                <a:solidFill>
                  <a:srgbClr val="0D0D0D"/>
                </a:solidFill>
                <a:effectLst/>
                <a:latin typeface="-apple-system-body"/>
              </a:rPr>
              <a:t>Profile </a:t>
            </a:r>
            <a:r>
              <a:rPr lang="my-MM" b="0" i="0" dirty="0">
                <a:solidFill>
                  <a:srgbClr val="0D0D0D"/>
                </a:solidFill>
                <a:effectLst/>
                <a:latin typeface="-apple-system-body"/>
              </a:rPr>
              <a:t>ကို စီမံနိုင်တယ်</a:t>
            </a:r>
          </a:p>
          <a:p>
            <a:pPr algn="l">
              <a:buFont typeface="+mj-lt"/>
              <a:buAutoNum type="arabicPeriod"/>
            </a:pPr>
            <a:r>
              <a:rPr lang="en-US" b="0" i="0" dirty="0">
                <a:solidFill>
                  <a:srgbClr val="0D0D0D"/>
                </a:solidFill>
                <a:effectLst/>
                <a:latin typeface="-apple-system-body"/>
              </a:rPr>
              <a:t>Leave </a:t>
            </a:r>
            <a:r>
              <a:rPr lang="my-MM" b="0" i="0" dirty="0">
                <a:solidFill>
                  <a:srgbClr val="0D0D0D"/>
                </a:solidFill>
                <a:effectLst/>
                <a:latin typeface="-apple-system-body"/>
              </a:rPr>
              <a:t>တောင်းနိုင်တယ်</a:t>
            </a:r>
          </a:p>
          <a:p>
            <a:pPr algn="l">
              <a:buFont typeface="+mj-lt"/>
              <a:buAutoNum type="arabicPeriod"/>
            </a:pPr>
            <a:r>
              <a:rPr lang="en-US" b="0" i="0" dirty="0">
                <a:solidFill>
                  <a:srgbClr val="0D0D0D"/>
                </a:solidFill>
                <a:effectLst/>
                <a:latin typeface="-apple-system-body"/>
              </a:rPr>
              <a:t>Staff </a:t>
            </a:r>
            <a:r>
              <a:rPr lang="my-MM" b="0" i="0" dirty="0">
                <a:solidFill>
                  <a:srgbClr val="0D0D0D"/>
                </a:solidFill>
                <a:effectLst/>
                <a:latin typeface="-apple-system-body"/>
              </a:rPr>
              <a:t>တွေရဲ့ </a:t>
            </a:r>
            <a:r>
              <a:rPr lang="en-US" b="0" i="0" dirty="0">
                <a:solidFill>
                  <a:srgbClr val="0D0D0D"/>
                </a:solidFill>
                <a:effectLst/>
                <a:latin typeface="-apple-system-body"/>
              </a:rPr>
              <a:t>Leave Request </a:t>
            </a:r>
            <a:r>
              <a:rPr lang="my-MM" b="0" i="0" dirty="0">
                <a:solidFill>
                  <a:srgbClr val="0D0D0D"/>
                </a:solidFill>
                <a:effectLst/>
                <a:latin typeface="-apple-system-body"/>
              </a:rPr>
              <a:t>တွေကို စီမံနိုင်တယ်</a:t>
            </a:r>
          </a:p>
          <a:p>
            <a:pPr algn="l">
              <a:buFont typeface="+mj-lt"/>
              <a:buAutoNum type="arabicPeriod"/>
            </a:pPr>
            <a:r>
              <a:rPr lang="en-US" b="0" i="0" dirty="0">
                <a:solidFill>
                  <a:srgbClr val="0D0D0D"/>
                </a:solidFill>
                <a:effectLst/>
                <a:latin typeface="-apple-system-body"/>
              </a:rPr>
              <a:t>Logout </a:t>
            </a:r>
            <a:r>
              <a:rPr lang="my-MM" b="0" i="0" dirty="0">
                <a:solidFill>
                  <a:srgbClr val="0D0D0D"/>
                </a:solidFill>
                <a:effectLst/>
                <a:latin typeface="-apple-system-body"/>
              </a:rPr>
              <a:t>လုပ်နိုင်တယ်</a:t>
            </a:r>
          </a:p>
          <a:p>
            <a:pPr algn="l">
              <a:buFont typeface="+mj-lt"/>
              <a:buAutoNum type="arabicPeriod"/>
            </a:pPr>
            <a:r>
              <a:rPr lang="my-MM" b="0" i="0" dirty="0">
                <a:solidFill>
                  <a:srgbClr val="0D0D0D"/>
                </a:solidFill>
                <a:effectLst/>
                <a:latin typeface="-apple-system-body"/>
              </a:rPr>
              <a:t>ဆိုပြီး လုပ်ဆောင်ချက်တွေ ရှိပါတယ်။</a:t>
            </a:r>
          </a:p>
          <a:p>
            <a:pPr algn="l">
              <a:buFont typeface="+mj-lt"/>
              <a:buAutoNum type="arabicPeriod"/>
            </a:pPr>
            <a:r>
              <a:rPr lang="my-MM" b="1" i="0" dirty="0">
                <a:solidFill>
                  <a:srgbClr val="0D0D0D"/>
                </a:solidFill>
                <a:effectLst/>
                <a:latin typeface="-apple-system-body"/>
              </a:rPr>
              <a:t>၂။ </a:t>
            </a:r>
            <a:r>
              <a:rPr lang="en-US" b="1" i="0" dirty="0">
                <a:solidFill>
                  <a:srgbClr val="0D0D0D"/>
                </a:solidFill>
                <a:effectLst/>
                <a:latin typeface="-apple-system-body"/>
              </a:rPr>
              <a:t>Login</a:t>
            </a:r>
          </a:p>
          <a:p>
            <a:pPr algn="l">
              <a:buFont typeface="+mj-lt"/>
              <a:buAutoNum type="arabicPeriod"/>
            </a:pPr>
            <a:r>
              <a:rPr lang="my-MM" b="0" i="0" dirty="0">
                <a:solidFill>
                  <a:srgbClr val="0D0D0D"/>
                </a:solidFill>
                <a:effectLst/>
                <a:latin typeface="-apple-system-body"/>
              </a:rPr>
              <a:t>ပထမဆုံး </a:t>
            </a:r>
            <a:r>
              <a:rPr lang="en-US" b="1" i="0" dirty="0">
                <a:solidFill>
                  <a:srgbClr val="0D0D0D"/>
                </a:solidFill>
                <a:effectLst/>
                <a:latin typeface="-apple-system-body"/>
              </a:rPr>
              <a:t>Department Head </a:t>
            </a:r>
            <a:r>
              <a:rPr lang="my-MM" b="1" i="0" dirty="0">
                <a:solidFill>
                  <a:srgbClr val="0D0D0D"/>
                </a:solidFill>
                <a:effectLst/>
                <a:latin typeface="-apple-system-body"/>
              </a:rPr>
              <a:t>က </a:t>
            </a:r>
            <a:r>
              <a:rPr lang="en-US" b="1" i="0" dirty="0">
                <a:solidFill>
                  <a:srgbClr val="0D0D0D"/>
                </a:solidFill>
                <a:effectLst/>
                <a:latin typeface="-apple-system-body"/>
              </a:rPr>
              <a:t>System </a:t>
            </a:r>
            <a:r>
              <a:rPr lang="my-MM" b="1" i="0" dirty="0">
                <a:solidFill>
                  <a:srgbClr val="0D0D0D"/>
                </a:solidFill>
                <a:effectLst/>
                <a:latin typeface="-apple-system-body"/>
              </a:rPr>
              <a:t>ထဲကို </a:t>
            </a:r>
            <a:r>
              <a:rPr lang="en-US" b="1" i="0" dirty="0">
                <a:solidFill>
                  <a:srgbClr val="0D0D0D"/>
                </a:solidFill>
                <a:effectLst/>
                <a:latin typeface="-apple-system-body"/>
              </a:rPr>
              <a:t>Login </a:t>
            </a:r>
            <a:r>
              <a:rPr lang="my-MM" b="1" i="0" dirty="0">
                <a:solidFill>
                  <a:srgbClr val="0D0D0D"/>
                </a:solidFill>
                <a:effectLst/>
                <a:latin typeface="-apple-system-body"/>
              </a:rPr>
              <a:t>ဝင်မယ်</a:t>
            </a:r>
            <a:r>
              <a:rPr lang="my-MM" b="0" i="0" dirty="0">
                <a:solidFill>
                  <a:srgbClr val="0D0D0D"/>
                </a:solidFill>
                <a:effectLst/>
                <a:latin typeface="-apple-system-body"/>
              </a:rPr>
              <a:t>။</a:t>
            </a:r>
          </a:p>
          <a:p>
            <a:pPr algn="l">
              <a:buFont typeface="+mj-lt"/>
              <a:buAutoNum type="arabicPeriod"/>
            </a:pPr>
            <a:r>
              <a:rPr lang="en-US" b="0" i="0" dirty="0">
                <a:solidFill>
                  <a:srgbClr val="0D0D0D"/>
                </a:solidFill>
                <a:effectLst/>
                <a:latin typeface="-apple-system-body"/>
              </a:rPr>
              <a:t>Login </a:t>
            </a:r>
            <a:r>
              <a:rPr lang="my-MM" b="0" i="0" dirty="0">
                <a:solidFill>
                  <a:srgbClr val="0D0D0D"/>
                </a:solidFill>
                <a:effectLst/>
                <a:latin typeface="-apple-system-body"/>
              </a:rPr>
              <a:t>ဝင်ပြီးမှ တခြား </a:t>
            </a:r>
            <a:r>
              <a:rPr lang="en-US" b="0" i="0" dirty="0">
                <a:solidFill>
                  <a:srgbClr val="0D0D0D"/>
                </a:solidFill>
                <a:effectLst/>
                <a:latin typeface="-apple-system-body"/>
              </a:rPr>
              <a:t>Function </a:t>
            </a:r>
            <a:r>
              <a:rPr lang="my-MM" b="0" i="0" dirty="0">
                <a:solidFill>
                  <a:srgbClr val="0D0D0D"/>
                </a:solidFill>
                <a:effectLst/>
                <a:latin typeface="-apple-system-body"/>
              </a:rPr>
              <a:t>တွေကို အသုံးပြုနိုင်မယ့်သဘောပါ။</a:t>
            </a:r>
          </a:p>
          <a:p>
            <a:pPr algn="l">
              <a:buFont typeface="+mj-lt"/>
              <a:buAutoNum type="arabicPeriod"/>
            </a:pPr>
            <a:r>
              <a:rPr lang="my-MM" b="1" i="0" dirty="0">
                <a:solidFill>
                  <a:srgbClr val="0D0D0D"/>
                </a:solidFill>
                <a:effectLst/>
                <a:latin typeface="-apple-system-body"/>
              </a:rPr>
              <a:t>၃။ </a:t>
            </a:r>
            <a:r>
              <a:rPr lang="en-US" b="1" i="0" dirty="0">
                <a:solidFill>
                  <a:srgbClr val="0D0D0D"/>
                </a:solidFill>
                <a:effectLst/>
                <a:latin typeface="-apple-system-body"/>
              </a:rPr>
              <a:t>Dashboard</a:t>
            </a:r>
          </a:p>
          <a:p>
            <a:pPr algn="l">
              <a:buFont typeface="+mj-lt"/>
              <a:buAutoNum type="arabicPeriod"/>
            </a:pPr>
            <a:r>
              <a:rPr lang="en-US" b="0" i="0" dirty="0">
                <a:solidFill>
                  <a:srgbClr val="0D0D0D"/>
                </a:solidFill>
                <a:effectLst/>
                <a:latin typeface="-apple-system-body"/>
              </a:rPr>
              <a:t>Login </a:t>
            </a:r>
            <a:r>
              <a:rPr lang="my-MM" b="0" i="0" dirty="0">
                <a:solidFill>
                  <a:srgbClr val="0D0D0D"/>
                </a:solidFill>
                <a:effectLst/>
                <a:latin typeface="-apple-system-body"/>
              </a:rPr>
              <a:t>ဝင်ပြီးရင် </a:t>
            </a:r>
            <a:r>
              <a:rPr lang="en-US" b="1" i="0" dirty="0">
                <a:solidFill>
                  <a:srgbClr val="0D0D0D"/>
                </a:solidFill>
                <a:effectLst/>
                <a:latin typeface="-apple-system-body"/>
              </a:rPr>
              <a:t>Dashboard</a:t>
            </a:r>
            <a:r>
              <a:rPr lang="en-US" b="0" i="0" dirty="0">
                <a:solidFill>
                  <a:srgbClr val="0D0D0D"/>
                </a:solidFill>
                <a:effectLst/>
                <a:latin typeface="-apple-system-body"/>
              </a:rPr>
              <a:t> </a:t>
            </a:r>
            <a:r>
              <a:rPr lang="my-MM" b="0" i="0" dirty="0">
                <a:solidFill>
                  <a:srgbClr val="0D0D0D"/>
                </a:solidFill>
                <a:effectLst/>
                <a:latin typeface="-apple-system-body"/>
              </a:rPr>
              <a:t>ကို သွားမယ်။</a:t>
            </a:r>
          </a:p>
          <a:p>
            <a:pPr algn="l">
              <a:buFont typeface="+mj-lt"/>
              <a:buAutoNum type="arabicPeriod"/>
            </a:pPr>
            <a:r>
              <a:rPr lang="en-US" b="0" i="0" dirty="0">
                <a:solidFill>
                  <a:srgbClr val="0D0D0D"/>
                </a:solidFill>
                <a:effectLst/>
                <a:latin typeface="-apple-system-body"/>
              </a:rPr>
              <a:t>Dashboard </a:t>
            </a:r>
            <a:r>
              <a:rPr lang="my-MM" b="0" i="0" dirty="0">
                <a:solidFill>
                  <a:srgbClr val="0D0D0D"/>
                </a:solidFill>
                <a:effectLst/>
                <a:latin typeface="-apple-system-body"/>
              </a:rPr>
              <a:t>ထဲမှာ </a:t>
            </a:r>
            <a:r>
              <a:rPr lang="en-US" b="1" i="0" dirty="0">
                <a:solidFill>
                  <a:srgbClr val="0D0D0D"/>
                </a:solidFill>
                <a:effectLst/>
                <a:latin typeface="-apple-system-body"/>
              </a:rPr>
              <a:t>View Leave Information</a:t>
            </a:r>
            <a:r>
              <a:rPr lang="en-US" b="0" i="0" dirty="0">
                <a:solidFill>
                  <a:srgbClr val="0D0D0D"/>
                </a:solidFill>
                <a:effectLst/>
                <a:latin typeface="-apple-system-body"/>
              </a:rPr>
              <a:t> </a:t>
            </a:r>
            <a:r>
              <a:rPr lang="my-MM" b="0" i="0" dirty="0">
                <a:solidFill>
                  <a:srgbClr val="0D0D0D"/>
                </a:solidFill>
                <a:effectLst/>
                <a:latin typeface="-apple-system-body"/>
              </a:rPr>
              <a:t>ဆိုတာ ပါဝင်ပါတယ်။</a:t>
            </a:r>
          </a:p>
          <a:p>
            <a:pPr algn="l">
              <a:buFont typeface="+mj-lt"/>
              <a:buAutoNum type="arabicPeriod"/>
            </a:pPr>
            <a:r>
              <a:rPr lang="my-MM" b="0" i="0" dirty="0">
                <a:solidFill>
                  <a:srgbClr val="0D0D0D"/>
                </a:solidFill>
                <a:effectLst/>
                <a:latin typeface="-apple-system-body"/>
              </a:rPr>
              <a:t>ပုံထဲမှာ—</a:t>
            </a:r>
          </a:p>
          <a:p>
            <a:pPr algn="l">
              <a:buFont typeface="+mj-lt"/>
              <a:buAutoNum type="arabicPeriod"/>
            </a:pPr>
            <a:r>
              <a:rPr lang="en-US" b="1" i="0" dirty="0">
                <a:solidFill>
                  <a:srgbClr val="0D0D0D"/>
                </a:solidFill>
                <a:effectLst/>
                <a:latin typeface="-apple-system-body"/>
              </a:rPr>
              <a:t>Dashboard → &lt;&lt;include&gt;&gt; → View Leave Information</a:t>
            </a:r>
            <a:endParaRPr lang="en-US" b="0" i="0" dirty="0">
              <a:solidFill>
                <a:srgbClr val="0D0D0D"/>
              </a:solidFill>
              <a:effectLst/>
              <a:latin typeface="-apple-system-body"/>
            </a:endParaRPr>
          </a:p>
          <a:p>
            <a:pPr algn="l">
              <a:buFont typeface="+mj-lt"/>
              <a:buAutoNum type="arabicPeriod"/>
            </a:pPr>
            <a:r>
              <a:rPr lang="my-MM" b="0" i="0" dirty="0">
                <a:solidFill>
                  <a:srgbClr val="0D0D0D"/>
                </a:solidFill>
                <a:effectLst/>
                <a:latin typeface="-apple-system-body"/>
              </a:rPr>
              <a:t>လို့ ပြထားတယ်။</a:t>
            </a:r>
          </a:p>
          <a:p>
            <a:pPr algn="l">
              <a:buFont typeface="+mj-lt"/>
              <a:buAutoNum type="arabicPeriod"/>
            </a:pPr>
            <a:r>
              <a:rPr lang="en-US" b="0" i="0" dirty="0">
                <a:solidFill>
                  <a:srgbClr val="0D0D0D"/>
                </a:solidFill>
                <a:effectLst/>
                <a:latin typeface="-apple-system-body"/>
              </a:rPr>
              <a:t>include </a:t>
            </a:r>
            <a:r>
              <a:rPr lang="my-MM" b="0" i="0" dirty="0">
                <a:solidFill>
                  <a:srgbClr val="0D0D0D"/>
                </a:solidFill>
                <a:effectLst/>
                <a:latin typeface="-apple-system-body"/>
              </a:rPr>
              <a:t>ဆိုတာက </a:t>
            </a:r>
            <a:r>
              <a:rPr lang="en-US" b="1" i="0" dirty="0">
                <a:solidFill>
                  <a:srgbClr val="0D0D0D"/>
                </a:solidFill>
                <a:effectLst/>
                <a:latin typeface="-apple-system-body"/>
              </a:rPr>
              <a:t>Dashboard </a:t>
            </a:r>
            <a:r>
              <a:rPr lang="my-MM" b="1" i="0" dirty="0">
                <a:solidFill>
                  <a:srgbClr val="0D0D0D"/>
                </a:solidFill>
                <a:effectLst/>
                <a:latin typeface="-apple-system-body"/>
              </a:rPr>
              <a:t>ကို အသုံးပြုတဲ့အခါ </a:t>
            </a:r>
            <a:r>
              <a:rPr lang="en-US" b="1" i="0" dirty="0">
                <a:solidFill>
                  <a:srgbClr val="0D0D0D"/>
                </a:solidFill>
                <a:effectLst/>
                <a:latin typeface="-apple-system-body"/>
              </a:rPr>
              <a:t>View Leave Information </a:t>
            </a:r>
            <a:r>
              <a:rPr lang="my-MM" b="1" i="0" dirty="0">
                <a:solidFill>
                  <a:srgbClr val="0D0D0D"/>
                </a:solidFill>
                <a:effectLst/>
                <a:latin typeface="-apple-system-body"/>
              </a:rPr>
              <a:t>လုပ်ဆောင်ချက်ကိုလည်း အတူတကွ ပါဝင်အသုံးပြုရမယ်</a:t>
            </a:r>
            <a:r>
              <a:rPr lang="my-MM" b="0" i="0" dirty="0">
                <a:solidFill>
                  <a:srgbClr val="0D0D0D"/>
                </a:solidFill>
                <a:effectLst/>
                <a:latin typeface="-apple-system-body"/>
              </a:rPr>
              <a:t> ဆိုတဲ့သဘောပါ။</a:t>
            </a:r>
          </a:p>
          <a:p>
            <a:pPr algn="l">
              <a:buFont typeface="+mj-lt"/>
              <a:buAutoNum type="arabicPeriod"/>
            </a:pPr>
            <a:r>
              <a:rPr lang="my-MM" b="1" i="0" dirty="0">
                <a:solidFill>
                  <a:srgbClr val="0D0D0D"/>
                </a:solidFill>
                <a:effectLst/>
                <a:latin typeface="-apple-system-body"/>
              </a:rPr>
              <a:t>၄။ </a:t>
            </a:r>
            <a:r>
              <a:rPr lang="en-US" b="1" i="0" dirty="0">
                <a:solidFill>
                  <a:srgbClr val="0D0D0D"/>
                </a:solidFill>
                <a:effectLst/>
                <a:latin typeface="-apple-system-body"/>
              </a:rPr>
              <a:t>Manage Profile</a:t>
            </a:r>
          </a:p>
          <a:p>
            <a:pPr algn="l">
              <a:buFont typeface="+mj-lt"/>
              <a:buAutoNum type="arabicPeriod"/>
            </a:pPr>
            <a:r>
              <a:rPr lang="en-US" b="1" i="0" dirty="0">
                <a:solidFill>
                  <a:srgbClr val="0D0D0D"/>
                </a:solidFill>
                <a:effectLst/>
                <a:latin typeface="-apple-system-body"/>
              </a:rPr>
              <a:t>Manage Profile</a:t>
            </a:r>
            <a:r>
              <a:rPr lang="en-US" b="0" i="0" dirty="0">
                <a:solidFill>
                  <a:srgbClr val="0D0D0D"/>
                </a:solidFill>
                <a:effectLst/>
                <a:latin typeface="-apple-system-body"/>
              </a:rPr>
              <a:t> </a:t>
            </a:r>
            <a:r>
              <a:rPr lang="my-MM" b="0" i="0" dirty="0">
                <a:solidFill>
                  <a:srgbClr val="0D0D0D"/>
                </a:solidFill>
                <a:effectLst/>
                <a:latin typeface="-apple-system-body"/>
              </a:rPr>
              <a:t>က </a:t>
            </a:r>
            <a:r>
              <a:rPr lang="en-US" b="0" i="0" dirty="0">
                <a:solidFill>
                  <a:srgbClr val="0D0D0D"/>
                </a:solidFill>
                <a:effectLst/>
                <a:latin typeface="-apple-system-body"/>
              </a:rPr>
              <a:t>Department Head </a:t>
            </a:r>
            <a:r>
              <a:rPr lang="my-MM" b="0" i="0" dirty="0">
                <a:solidFill>
                  <a:srgbClr val="0D0D0D"/>
                </a:solidFill>
                <a:effectLst/>
                <a:latin typeface="-apple-system-body"/>
              </a:rPr>
              <a:t>ကိုယ့်ရဲ့ </a:t>
            </a:r>
            <a:r>
              <a:rPr lang="en-US" b="0" i="0" dirty="0">
                <a:solidFill>
                  <a:srgbClr val="0D0D0D"/>
                </a:solidFill>
                <a:effectLst/>
                <a:latin typeface="-apple-system-body"/>
              </a:rPr>
              <a:t>Profile information </a:t>
            </a:r>
            <a:r>
              <a:rPr lang="my-MM" b="0" i="0" dirty="0">
                <a:solidFill>
                  <a:srgbClr val="0D0D0D"/>
                </a:solidFill>
                <a:effectLst/>
                <a:latin typeface="-apple-system-body"/>
              </a:rPr>
              <a:t>တွေကို ပြင်ဆင်/စီမံဖို့ ဖြစ်ပါတယ်။</a:t>
            </a:r>
          </a:p>
          <a:p>
            <a:pPr algn="l">
              <a:buFont typeface="+mj-lt"/>
              <a:buAutoNum type="arabicPeriod"/>
            </a:pPr>
            <a:r>
              <a:rPr lang="my-MM" b="0" i="0" dirty="0">
                <a:solidFill>
                  <a:srgbClr val="0D0D0D"/>
                </a:solidFill>
                <a:effectLst/>
                <a:latin typeface="-apple-system-body"/>
              </a:rPr>
              <a:t>ဥပမာ—</a:t>
            </a:r>
          </a:p>
          <a:p>
            <a:pPr algn="l">
              <a:buFont typeface="+mj-lt"/>
              <a:buAutoNum type="arabicPeriod"/>
            </a:pPr>
            <a:r>
              <a:rPr lang="en-US" b="0" i="0" dirty="0">
                <a:solidFill>
                  <a:srgbClr val="0D0D0D"/>
                </a:solidFill>
                <a:effectLst/>
                <a:latin typeface="-apple-system-body"/>
              </a:rPr>
              <a:t>Name </a:t>
            </a:r>
            <a:r>
              <a:rPr lang="my-MM" b="0" i="0" dirty="0">
                <a:solidFill>
                  <a:srgbClr val="0D0D0D"/>
                </a:solidFill>
                <a:effectLst/>
                <a:latin typeface="-apple-system-body"/>
              </a:rPr>
              <a:t>ပြင်တာ</a:t>
            </a:r>
          </a:p>
          <a:p>
            <a:pPr algn="l">
              <a:buFont typeface="+mj-lt"/>
              <a:buAutoNum type="arabicPeriod"/>
            </a:pPr>
            <a:r>
              <a:rPr lang="en-US" b="0" i="0" dirty="0">
                <a:solidFill>
                  <a:srgbClr val="0D0D0D"/>
                </a:solidFill>
                <a:effectLst/>
                <a:latin typeface="-apple-system-body"/>
              </a:rPr>
              <a:t>Contact information </a:t>
            </a:r>
            <a:r>
              <a:rPr lang="my-MM" b="0" i="0" dirty="0">
                <a:solidFill>
                  <a:srgbClr val="0D0D0D"/>
                </a:solidFill>
                <a:effectLst/>
                <a:latin typeface="-apple-system-body"/>
              </a:rPr>
              <a:t>ပြင်တာ</a:t>
            </a:r>
          </a:p>
          <a:p>
            <a:pPr algn="l">
              <a:buFont typeface="+mj-lt"/>
              <a:buAutoNum type="arabicPeriod"/>
            </a:pPr>
            <a:r>
              <a:rPr lang="en-US" b="0" i="0" dirty="0">
                <a:solidFill>
                  <a:srgbClr val="0D0D0D"/>
                </a:solidFill>
                <a:effectLst/>
                <a:latin typeface="-apple-system-body"/>
              </a:rPr>
              <a:t>Password </a:t>
            </a:r>
            <a:r>
              <a:rPr lang="my-MM" b="0" i="0" dirty="0">
                <a:solidFill>
                  <a:srgbClr val="0D0D0D"/>
                </a:solidFill>
                <a:effectLst/>
                <a:latin typeface="-apple-system-body"/>
              </a:rPr>
              <a:t>ပြောင်းတာ</a:t>
            </a:r>
          </a:p>
          <a:p>
            <a:pPr algn="l">
              <a:buFont typeface="+mj-lt"/>
              <a:buAutoNum type="arabicPeriod"/>
            </a:pPr>
            <a:r>
              <a:rPr lang="my-MM" b="0" i="0" dirty="0">
                <a:solidFill>
                  <a:srgbClr val="0D0D0D"/>
                </a:solidFill>
                <a:effectLst/>
                <a:latin typeface="-apple-system-body"/>
              </a:rPr>
              <a:t>စတဲ့ ကိုယ်ရေးအချက်အလက်ဆိုင်ရာ စီမံမှုတွေ လုပ်နိုင်ပါတယ်။</a:t>
            </a:r>
          </a:p>
          <a:p>
            <a:pPr algn="l">
              <a:buFont typeface="+mj-lt"/>
              <a:buAutoNum type="arabicPeriod"/>
            </a:pPr>
            <a:r>
              <a:rPr lang="my-MM" b="1" i="0" dirty="0">
                <a:solidFill>
                  <a:srgbClr val="0D0D0D"/>
                </a:solidFill>
                <a:effectLst/>
                <a:latin typeface="-apple-system-body"/>
              </a:rPr>
              <a:t>၅။ </a:t>
            </a:r>
            <a:r>
              <a:rPr lang="en-US" b="1" i="0" dirty="0">
                <a:solidFill>
                  <a:srgbClr val="0D0D0D"/>
                </a:solidFill>
                <a:effectLst/>
                <a:latin typeface="-apple-system-body"/>
              </a:rPr>
              <a:t>Request Leave</a:t>
            </a:r>
          </a:p>
          <a:p>
            <a:pPr algn="l">
              <a:buFont typeface="+mj-lt"/>
              <a:buAutoNum type="arabicPeriod"/>
            </a:pPr>
            <a:r>
              <a:rPr lang="en-US" b="0" i="0" dirty="0">
                <a:solidFill>
                  <a:srgbClr val="0D0D0D"/>
                </a:solidFill>
                <a:effectLst/>
                <a:latin typeface="-apple-system-body"/>
              </a:rPr>
              <a:t>Department Head </a:t>
            </a:r>
            <a:r>
              <a:rPr lang="my-MM" b="0" i="0" dirty="0">
                <a:solidFill>
                  <a:srgbClr val="0D0D0D"/>
                </a:solidFill>
                <a:effectLst/>
                <a:latin typeface="-apple-system-body"/>
              </a:rPr>
              <a:t>ကိုယ်တိုင် </a:t>
            </a:r>
            <a:r>
              <a:rPr lang="en-US" b="0" i="0" dirty="0">
                <a:solidFill>
                  <a:srgbClr val="0D0D0D"/>
                </a:solidFill>
                <a:effectLst/>
                <a:latin typeface="-apple-system-body"/>
              </a:rPr>
              <a:t>Leave </a:t>
            </a:r>
            <a:r>
              <a:rPr lang="my-MM" b="0" i="0" dirty="0">
                <a:solidFill>
                  <a:srgbClr val="0D0D0D"/>
                </a:solidFill>
                <a:effectLst/>
                <a:latin typeface="-apple-system-body"/>
              </a:rPr>
              <a:t>ယူချင်ရင် </a:t>
            </a:r>
            <a:r>
              <a:rPr lang="en-US" b="1" i="0" dirty="0">
                <a:solidFill>
                  <a:srgbClr val="0D0D0D"/>
                </a:solidFill>
                <a:effectLst/>
                <a:latin typeface="-apple-system-body"/>
              </a:rPr>
              <a:t>Request Leave</a:t>
            </a:r>
            <a:r>
              <a:rPr lang="en-US" b="0" i="0" dirty="0">
                <a:solidFill>
                  <a:srgbClr val="0D0D0D"/>
                </a:solidFill>
                <a:effectLst/>
                <a:latin typeface="-apple-system-body"/>
              </a:rPr>
              <a:t> </a:t>
            </a:r>
            <a:r>
              <a:rPr lang="my-MM" b="0" i="0" dirty="0">
                <a:solidFill>
                  <a:srgbClr val="0D0D0D"/>
                </a:solidFill>
                <a:effectLst/>
                <a:latin typeface="-apple-system-body"/>
              </a:rPr>
              <a:t>ကို အသုံးပြုမယ်။</a:t>
            </a:r>
          </a:p>
          <a:p>
            <a:pPr algn="l">
              <a:buFont typeface="+mj-lt"/>
              <a:buAutoNum type="arabicPeriod"/>
            </a:pPr>
            <a:r>
              <a:rPr lang="my-MM" b="0" i="0" dirty="0">
                <a:solidFill>
                  <a:srgbClr val="0D0D0D"/>
                </a:solidFill>
                <a:effectLst/>
                <a:latin typeface="-apple-system-body"/>
              </a:rPr>
              <a:t>ဒီနေရာမှာ ပုံထဲက </a:t>
            </a:r>
            <a:r>
              <a:rPr lang="en-US" b="0" i="0" dirty="0">
                <a:solidFill>
                  <a:srgbClr val="0D0D0D"/>
                </a:solidFill>
                <a:effectLst/>
                <a:latin typeface="-apple-system-body"/>
              </a:rPr>
              <a:t>include </a:t>
            </a:r>
            <a:r>
              <a:rPr lang="my-MM" b="0" i="0" dirty="0">
                <a:solidFill>
                  <a:srgbClr val="0D0D0D"/>
                </a:solidFill>
                <a:effectLst/>
                <a:latin typeface="-apple-system-body"/>
              </a:rPr>
              <a:t>ဆက်နွယ်မှုနှစ်ခု ရှိပါတယ်။</a:t>
            </a:r>
          </a:p>
          <a:p>
            <a:pPr algn="l">
              <a:buFont typeface="+mj-lt"/>
              <a:buAutoNum type="arabicPeriod"/>
            </a:pPr>
            <a:r>
              <a:rPr lang="en-US" b="1" i="0" dirty="0">
                <a:solidFill>
                  <a:srgbClr val="0D0D0D"/>
                </a:solidFill>
                <a:effectLst/>
                <a:latin typeface="-apple-system-body"/>
              </a:rPr>
              <a:t>Request Leave → Apply Leave</a:t>
            </a:r>
            <a:endParaRPr lang="en-US" b="0" i="0" dirty="0">
              <a:solidFill>
                <a:srgbClr val="0D0D0D"/>
              </a:solidFill>
              <a:effectLst/>
              <a:latin typeface="-apple-system-body"/>
            </a:endParaRPr>
          </a:p>
          <a:p>
            <a:pPr algn="l">
              <a:buFont typeface="+mj-lt"/>
              <a:buAutoNum type="arabicPeriod"/>
            </a:pPr>
            <a:r>
              <a:rPr lang="my-MM" b="0" i="0" dirty="0">
                <a:solidFill>
                  <a:srgbClr val="0D0D0D"/>
                </a:solidFill>
                <a:effectLst/>
                <a:latin typeface="-apple-system-body"/>
              </a:rPr>
              <a:t>ဆိုတော့ </a:t>
            </a:r>
            <a:r>
              <a:rPr lang="en-US" b="0" i="0" dirty="0">
                <a:solidFill>
                  <a:srgbClr val="0D0D0D"/>
                </a:solidFill>
                <a:effectLst/>
                <a:latin typeface="-apple-system-body"/>
              </a:rPr>
              <a:t>Leave </a:t>
            </a:r>
            <a:r>
              <a:rPr lang="my-MM" b="0" i="0" dirty="0">
                <a:solidFill>
                  <a:srgbClr val="0D0D0D"/>
                </a:solidFill>
                <a:effectLst/>
                <a:latin typeface="-apple-system-body"/>
              </a:rPr>
              <a:t>တောင်းတဲ့အခါ </a:t>
            </a:r>
            <a:r>
              <a:rPr lang="en-US" b="1" i="0" dirty="0">
                <a:solidFill>
                  <a:srgbClr val="0D0D0D"/>
                </a:solidFill>
                <a:effectLst/>
                <a:latin typeface="-apple-system-body"/>
              </a:rPr>
              <a:t>Apply Leave</a:t>
            </a:r>
            <a:r>
              <a:rPr lang="en-US" b="0" i="0" dirty="0">
                <a:solidFill>
                  <a:srgbClr val="0D0D0D"/>
                </a:solidFill>
                <a:effectLst/>
                <a:latin typeface="-apple-system-body"/>
              </a:rPr>
              <a:t> </a:t>
            </a:r>
            <a:r>
              <a:rPr lang="my-MM" b="0" i="0" dirty="0">
                <a:solidFill>
                  <a:srgbClr val="0D0D0D"/>
                </a:solidFill>
                <a:effectLst/>
                <a:latin typeface="-apple-system-body"/>
              </a:rPr>
              <a:t>လုပ်ဆောင်ချက် ပါဝင်ပါတယ်။</a:t>
            </a:r>
          </a:p>
          <a:p>
            <a:pPr algn="l">
              <a:buFont typeface="+mj-lt"/>
              <a:buAutoNum type="arabicPeriod"/>
            </a:pPr>
            <a:r>
              <a:rPr lang="my-MM" b="0" i="0" dirty="0">
                <a:solidFill>
                  <a:srgbClr val="0D0D0D"/>
                </a:solidFill>
                <a:effectLst/>
                <a:latin typeface="-apple-system-body"/>
              </a:rPr>
              <a:t>နောက်တစ်ခုက—</a:t>
            </a:r>
          </a:p>
          <a:p>
            <a:pPr algn="l">
              <a:buFont typeface="+mj-lt"/>
              <a:buAutoNum type="arabicPeriod"/>
            </a:pPr>
            <a:r>
              <a:rPr lang="en-US" b="1" i="0" dirty="0">
                <a:solidFill>
                  <a:srgbClr val="0D0D0D"/>
                </a:solidFill>
                <a:effectLst/>
                <a:latin typeface="-apple-system-body"/>
              </a:rPr>
              <a:t>Request Leave → Check Leave History</a:t>
            </a:r>
            <a:endParaRPr lang="en-US" b="0" i="0" dirty="0">
              <a:solidFill>
                <a:srgbClr val="0D0D0D"/>
              </a:solidFill>
              <a:effectLst/>
              <a:latin typeface="-apple-system-body"/>
            </a:endParaRPr>
          </a:p>
          <a:p>
            <a:pPr algn="l">
              <a:buFont typeface="+mj-lt"/>
              <a:buAutoNum type="arabicPeriod"/>
            </a:pPr>
            <a:r>
              <a:rPr lang="my-MM" b="0" i="0" dirty="0">
                <a:solidFill>
                  <a:srgbClr val="0D0D0D"/>
                </a:solidFill>
                <a:effectLst/>
                <a:latin typeface="-apple-system-body"/>
              </a:rPr>
              <a:t>ဆိုတော့ ကိုယ်အရင်က တောင်းထားခဲ့တဲ့ </a:t>
            </a:r>
            <a:r>
              <a:rPr lang="en-US" b="0" i="0" dirty="0">
                <a:solidFill>
                  <a:srgbClr val="0D0D0D"/>
                </a:solidFill>
                <a:effectLst/>
                <a:latin typeface="-apple-system-body"/>
              </a:rPr>
              <a:t>Leave </a:t>
            </a:r>
            <a:r>
              <a:rPr lang="my-MM" b="0" i="0" dirty="0">
                <a:solidFill>
                  <a:srgbClr val="0D0D0D"/>
                </a:solidFill>
                <a:effectLst/>
                <a:latin typeface="-apple-system-body"/>
              </a:rPr>
              <a:t>တွေကို </a:t>
            </a:r>
            <a:r>
              <a:rPr lang="en-US" b="1" i="0" dirty="0">
                <a:solidFill>
                  <a:srgbClr val="0D0D0D"/>
                </a:solidFill>
                <a:effectLst/>
                <a:latin typeface="-apple-system-body"/>
              </a:rPr>
              <a:t>Leave History</a:t>
            </a:r>
            <a:r>
              <a:rPr lang="en-US" b="0" i="0" dirty="0">
                <a:solidFill>
                  <a:srgbClr val="0D0D0D"/>
                </a:solidFill>
                <a:effectLst/>
                <a:latin typeface="-apple-system-body"/>
              </a:rPr>
              <a:t> </a:t>
            </a:r>
            <a:r>
              <a:rPr lang="my-MM" b="0" i="0" dirty="0">
                <a:solidFill>
                  <a:srgbClr val="0D0D0D"/>
                </a:solidFill>
                <a:effectLst/>
                <a:latin typeface="-apple-system-body"/>
              </a:rPr>
              <a:t>မှာ ပြန်စစ်ကြည့်နိုင်ပါတယ်။</a:t>
            </a:r>
          </a:p>
          <a:p>
            <a:pPr algn="l">
              <a:buFont typeface="+mj-lt"/>
              <a:buAutoNum type="arabicPeriod"/>
            </a:pPr>
            <a:r>
              <a:rPr lang="my-MM" b="0" i="0" dirty="0">
                <a:solidFill>
                  <a:srgbClr val="0D0D0D"/>
                </a:solidFill>
                <a:effectLst/>
                <a:latin typeface="-apple-system-body"/>
              </a:rPr>
              <a:t>အလွယ်ပြောရရင်—</a:t>
            </a:r>
          </a:p>
          <a:p>
            <a:pPr algn="l">
              <a:buFont typeface="+mj-lt"/>
              <a:buAutoNum type="arabicPeriod"/>
            </a:pPr>
            <a:r>
              <a:rPr lang="my-MM" b="0" i="0" dirty="0">
                <a:solidFill>
                  <a:srgbClr val="0D0D0D"/>
                </a:solidFill>
                <a:effectLst/>
                <a:latin typeface="-apple-system-body"/>
              </a:rPr>
              <a:t>“</a:t>
            </a:r>
            <a:r>
              <a:rPr lang="en-US" b="0" i="0" dirty="0">
                <a:solidFill>
                  <a:srgbClr val="0D0D0D"/>
                </a:solidFill>
                <a:effectLst/>
                <a:latin typeface="-apple-system-body"/>
              </a:rPr>
              <a:t>Leave </a:t>
            </a:r>
            <a:r>
              <a:rPr lang="my-MM" b="0" i="0" dirty="0">
                <a:solidFill>
                  <a:srgbClr val="0D0D0D"/>
                </a:solidFill>
                <a:effectLst/>
                <a:latin typeface="-apple-system-body"/>
              </a:rPr>
              <a:t>တောင်းမယ်၊ တောင်းတဲ့အခါ </a:t>
            </a:r>
            <a:r>
              <a:rPr lang="en-US" b="0" i="0" dirty="0">
                <a:solidFill>
                  <a:srgbClr val="0D0D0D"/>
                </a:solidFill>
                <a:effectLst/>
                <a:latin typeface="-apple-system-body"/>
              </a:rPr>
              <a:t>Apply </a:t>
            </a:r>
            <a:r>
              <a:rPr lang="my-MM" b="0" i="0" dirty="0">
                <a:solidFill>
                  <a:srgbClr val="0D0D0D"/>
                </a:solidFill>
                <a:effectLst/>
                <a:latin typeface="-apple-system-body"/>
              </a:rPr>
              <a:t>လုပ်မယ်၊ အရင်တုန်းက </a:t>
            </a:r>
            <a:r>
              <a:rPr lang="en-US" b="0" i="0" dirty="0">
                <a:solidFill>
                  <a:srgbClr val="0D0D0D"/>
                </a:solidFill>
                <a:effectLst/>
                <a:latin typeface="-apple-system-body"/>
              </a:rPr>
              <a:t>Leave history </a:t>
            </a:r>
            <a:r>
              <a:rPr lang="my-MM" b="0" i="0" dirty="0">
                <a:solidFill>
                  <a:srgbClr val="0D0D0D"/>
                </a:solidFill>
                <a:effectLst/>
                <a:latin typeface="-apple-system-body"/>
              </a:rPr>
              <a:t>တွေကိုလည်း ပြန်ကြည့်နိုင်မယ်”</a:t>
            </a:r>
          </a:p>
          <a:p>
            <a:pPr algn="l">
              <a:buFont typeface="+mj-lt"/>
              <a:buAutoNum type="arabicPeriod"/>
            </a:pPr>
            <a:r>
              <a:rPr lang="my-MM" b="0" i="0" dirty="0">
                <a:solidFill>
                  <a:srgbClr val="0D0D0D"/>
                </a:solidFill>
                <a:effectLst/>
                <a:latin typeface="-apple-system-body"/>
              </a:rPr>
              <a:t>ဆိုတဲ့သဘောပါ။</a:t>
            </a:r>
          </a:p>
          <a:p>
            <a:pPr algn="l"/>
            <a:br>
              <a:rPr lang="my-MM" dirty="0"/>
            </a:br>
            <a:r>
              <a:rPr lang="my-MM" b="1" i="0" dirty="0">
                <a:solidFill>
                  <a:srgbClr val="0D0D0D"/>
                </a:solidFill>
                <a:effectLst/>
                <a:latin typeface="-apple-system-body"/>
              </a:rPr>
              <a:t>၆။ </a:t>
            </a:r>
            <a:r>
              <a:rPr lang="en-US" b="1" i="0" dirty="0">
                <a:solidFill>
                  <a:srgbClr val="0D0D0D"/>
                </a:solidFill>
                <a:effectLst/>
                <a:latin typeface="-apple-system-body"/>
              </a:rPr>
              <a:t>Manage Staff Request</a:t>
            </a:r>
          </a:p>
          <a:p>
            <a:pPr algn="l"/>
            <a:r>
              <a:rPr lang="my-MM" b="0" i="0" dirty="0">
                <a:solidFill>
                  <a:srgbClr val="0D0D0D"/>
                </a:solidFill>
                <a:effectLst/>
                <a:latin typeface="-apple-system-body"/>
              </a:rPr>
              <a:t>ဒီဟာက </a:t>
            </a:r>
            <a:r>
              <a:rPr lang="en-US" b="0" i="0" dirty="0">
                <a:solidFill>
                  <a:srgbClr val="0D0D0D"/>
                </a:solidFill>
                <a:effectLst/>
                <a:latin typeface="-apple-system-body"/>
              </a:rPr>
              <a:t>Department Head </a:t>
            </a:r>
            <a:r>
              <a:rPr lang="my-MM" b="0" i="0" dirty="0">
                <a:solidFill>
                  <a:srgbClr val="0D0D0D"/>
                </a:solidFill>
                <a:effectLst/>
                <a:latin typeface="-apple-system-body"/>
              </a:rPr>
              <a:t>အတွက် အရေးကြီးတဲ့ </a:t>
            </a:r>
            <a:r>
              <a:rPr lang="en-US" b="0" i="0" dirty="0">
                <a:solidFill>
                  <a:srgbClr val="0D0D0D"/>
                </a:solidFill>
                <a:effectLst/>
                <a:latin typeface="-apple-system-body"/>
              </a:rPr>
              <a:t>Function </a:t>
            </a:r>
            <a:r>
              <a:rPr lang="my-MM" b="0" i="0" dirty="0">
                <a:solidFill>
                  <a:srgbClr val="0D0D0D"/>
                </a:solidFill>
                <a:effectLst/>
                <a:latin typeface="-apple-system-body"/>
              </a:rPr>
              <a:t>တစ်ခုပါ။</a:t>
            </a:r>
          </a:p>
          <a:p>
            <a:pPr algn="l"/>
            <a:r>
              <a:rPr lang="en-US" b="0" i="0" dirty="0">
                <a:solidFill>
                  <a:srgbClr val="0D0D0D"/>
                </a:solidFill>
                <a:effectLst/>
                <a:latin typeface="-apple-system-body"/>
              </a:rPr>
              <a:t>Department Head </a:t>
            </a:r>
            <a:r>
              <a:rPr lang="my-MM" b="0" i="0" dirty="0">
                <a:solidFill>
                  <a:srgbClr val="0D0D0D"/>
                </a:solidFill>
                <a:effectLst/>
                <a:latin typeface="-apple-system-body"/>
              </a:rPr>
              <a:t>က </a:t>
            </a:r>
            <a:r>
              <a:rPr lang="en-US" b="1" i="0" dirty="0">
                <a:solidFill>
                  <a:srgbClr val="0D0D0D"/>
                </a:solidFill>
                <a:effectLst/>
                <a:latin typeface="-apple-system-body"/>
              </a:rPr>
              <a:t>Staff </a:t>
            </a:r>
            <a:r>
              <a:rPr lang="my-MM" b="1" i="0" dirty="0">
                <a:solidFill>
                  <a:srgbClr val="0D0D0D"/>
                </a:solidFill>
                <a:effectLst/>
                <a:latin typeface="-apple-system-body"/>
              </a:rPr>
              <a:t>တွေ တင်ထားတဲ့ </a:t>
            </a:r>
            <a:r>
              <a:rPr lang="en-US" b="1" i="0" dirty="0">
                <a:solidFill>
                  <a:srgbClr val="0D0D0D"/>
                </a:solidFill>
                <a:effectLst/>
                <a:latin typeface="-apple-system-body"/>
              </a:rPr>
              <a:t>Leave Request </a:t>
            </a:r>
            <a:r>
              <a:rPr lang="my-MM" b="1" i="0" dirty="0">
                <a:solidFill>
                  <a:srgbClr val="0D0D0D"/>
                </a:solidFill>
                <a:effectLst/>
                <a:latin typeface="-apple-system-body"/>
              </a:rPr>
              <a:t>တွေကို စီမံ/ဆုံးဖြတ်ပေးနိုင်တယ်</a:t>
            </a:r>
            <a:r>
              <a:rPr lang="my-MM" b="0" i="0" dirty="0">
                <a:solidFill>
                  <a:srgbClr val="0D0D0D"/>
                </a:solidFill>
                <a:effectLst/>
                <a:latin typeface="-apple-system-body"/>
              </a:rPr>
              <a:t>။</a:t>
            </a:r>
          </a:p>
          <a:p>
            <a:pPr algn="l"/>
            <a:r>
              <a:rPr lang="my-MM" b="0" i="0" dirty="0">
                <a:solidFill>
                  <a:srgbClr val="0D0D0D"/>
                </a:solidFill>
                <a:effectLst/>
                <a:latin typeface="-apple-system-body"/>
              </a:rPr>
              <a:t>ပုံမှာ </a:t>
            </a:r>
            <a:r>
              <a:rPr lang="en-US" b="0" i="0" dirty="0">
                <a:solidFill>
                  <a:srgbClr val="0D0D0D"/>
                </a:solidFill>
                <a:effectLst/>
                <a:latin typeface="-apple-system-body"/>
              </a:rPr>
              <a:t>Manage Staff Request </a:t>
            </a:r>
            <a:r>
              <a:rPr lang="my-MM" b="0" i="0" dirty="0">
                <a:solidFill>
                  <a:srgbClr val="0D0D0D"/>
                </a:solidFill>
                <a:effectLst/>
                <a:latin typeface="-apple-system-body"/>
              </a:rPr>
              <a:t>ကနေ—</a:t>
            </a:r>
          </a:p>
          <a:p>
            <a:pPr algn="l"/>
            <a:r>
              <a:rPr lang="en-US" b="1" i="0" dirty="0">
                <a:solidFill>
                  <a:srgbClr val="0D0D0D"/>
                </a:solidFill>
                <a:effectLst/>
                <a:latin typeface="-apple-system-body"/>
              </a:rPr>
              <a:t>Recommend Request</a:t>
            </a:r>
            <a:endParaRPr lang="en-US" b="0" i="0" dirty="0">
              <a:solidFill>
                <a:srgbClr val="0D0D0D"/>
              </a:solidFill>
              <a:effectLst/>
              <a:latin typeface="-apple-system-body"/>
            </a:endParaRPr>
          </a:p>
          <a:p>
            <a:pPr algn="l"/>
            <a:r>
              <a:rPr lang="my-MM" b="0" i="0" dirty="0">
                <a:solidFill>
                  <a:srgbClr val="0D0D0D"/>
                </a:solidFill>
                <a:effectLst/>
                <a:latin typeface="-apple-system-body"/>
              </a:rPr>
              <a:t>နဲ့</a:t>
            </a:r>
          </a:p>
          <a:p>
            <a:pPr algn="l"/>
            <a:r>
              <a:rPr lang="en-US" b="1" i="0" dirty="0">
                <a:solidFill>
                  <a:srgbClr val="0D0D0D"/>
                </a:solidFill>
                <a:effectLst/>
                <a:latin typeface="-apple-system-body"/>
              </a:rPr>
              <a:t>Not Recommend Request</a:t>
            </a:r>
            <a:endParaRPr lang="en-US" b="0" i="0" dirty="0">
              <a:solidFill>
                <a:srgbClr val="0D0D0D"/>
              </a:solidFill>
              <a:effectLst/>
              <a:latin typeface="-apple-system-body"/>
            </a:endParaRPr>
          </a:p>
          <a:p>
            <a:pPr algn="l"/>
            <a:r>
              <a:rPr lang="my-MM" b="0" i="0" dirty="0">
                <a:solidFill>
                  <a:srgbClr val="0D0D0D"/>
                </a:solidFill>
                <a:effectLst/>
                <a:latin typeface="-apple-system-body"/>
              </a:rPr>
              <a:t>ဆိုပြီး နှစ်မျိုး ခွဲထားပါတယ်။</a:t>
            </a:r>
          </a:p>
          <a:p>
            <a:pPr algn="l"/>
            <a:r>
              <a:rPr lang="en-US" b="1" i="0" dirty="0">
                <a:solidFill>
                  <a:srgbClr val="0D0D0D"/>
                </a:solidFill>
                <a:effectLst/>
                <a:latin typeface="-apple-system-body"/>
              </a:rPr>
              <a:t>Recommend Request</a:t>
            </a:r>
          </a:p>
          <a:p>
            <a:pPr algn="l"/>
            <a:r>
              <a:rPr lang="en-US" b="0" i="0" dirty="0">
                <a:solidFill>
                  <a:srgbClr val="0D0D0D"/>
                </a:solidFill>
                <a:effectLst/>
                <a:latin typeface="-apple-system-body"/>
              </a:rPr>
              <a:t>Staff </a:t>
            </a:r>
            <a:r>
              <a:rPr lang="my-MM" b="0" i="0" dirty="0">
                <a:solidFill>
                  <a:srgbClr val="0D0D0D"/>
                </a:solidFill>
                <a:effectLst/>
                <a:latin typeface="-apple-system-body"/>
              </a:rPr>
              <a:t>တစ်ယောက်က </a:t>
            </a:r>
            <a:r>
              <a:rPr lang="en-US" b="0" i="0" dirty="0">
                <a:solidFill>
                  <a:srgbClr val="0D0D0D"/>
                </a:solidFill>
                <a:effectLst/>
                <a:latin typeface="-apple-system-body"/>
              </a:rPr>
              <a:t>Leave Request </a:t>
            </a:r>
            <a:r>
              <a:rPr lang="my-MM" b="0" i="0" dirty="0">
                <a:solidFill>
                  <a:srgbClr val="0D0D0D"/>
                </a:solidFill>
                <a:effectLst/>
                <a:latin typeface="-apple-system-body"/>
              </a:rPr>
              <a:t>တင်လာရင် </a:t>
            </a:r>
            <a:r>
              <a:rPr lang="en-US" b="0" i="0" dirty="0">
                <a:solidFill>
                  <a:srgbClr val="0D0D0D"/>
                </a:solidFill>
                <a:effectLst/>
                <a:latin typeface="-apple-system-body"/>
              </a:rPr>
              <a:t>Department Head </a:t>
            </a:r>
            <a:r>
              <a:rPr lang="my-MM" b="0" i="0" dirty="0">
                <a:solidFill>
                  <a:srgbClr val="0D0D0D"/>
                </a:solidFill>
                <a:effectLst/>
                <a:latin typeface="-apple-system-body"/>
              </a:rPr>
              <a:t>က—</a:t>
            </a:r>
          </a:p>
          <a:p>
            <a:r>
              <a:rPr lang="my-MM" dirty="0">
                <a:effectLst/>
              </a:rPr>
              <a:t>“ဒီ </a:t>
            </a:r>
            <a:r>
              <a:rPr lang="en-US" dirty="0">
                <a:effectLst/>
              </a:rPr>
              <a:t>Leave Request </a:t>
            </a:r>
            <a:r>
              <a:rPr lang="my-MM" dirty="0">
                <a:effectLst/>
              </a:rPr>
              <a:t>ကို အတည်ပြုဖို့ </a:t>
            </a:r>
            <a:r>
              <a:rPr lang="en-US" dirty="0">
                <a:effectLst/>
              </a:rPr>
              <a:t>Recommend </a:t>
            </a:r>
            <a:r>
              <a:rPr lang="my-MM" dirty="0">
                <a:effectLst/>
              </a:rPr>
              <a:t>လုပ်ပါတယ်”</a:t>
            </a:r>
          </a:p>
          <a:p>
            <a:pPr algn="l"/>
            <a:r>
              <a:rPr lang="my-MM" b="0" i="0" dirty="0">
                <a:solidFill>
                  <a:srgbClr val="0D0D0D"/>
                </a:solidFill>
                <a:effectLst/>
                <a:latin typeface="-apple-system-body"/>
              </a:rPr>
              <a:t>ဆိုတဲ့သဘောနဲ့ </a:t>
            </a:r>
            <a:r>
              <a:rPr lang="en-US" b="1" i="0" dirty="0">
                <a:solidFill>
                  <a:srgbClr val="0D0D0D"/>
                </a:solidFill>
                <a:effectLst/>
                <a:latin typeface="-apple-system-body"/>
              </a:rPr>
              <a:t>Recommend Request</a:t>
            </a:r>
            <a:r>
              <a:rPr lang="en-US" b="0" i="0" dirty="0">
                <a:solidFill>
                  <a:srgbClr val="0D0D0D"/>
                </a:solidFill>
                <a:effectLst/>
                <a:latin typeface="-apple-system-body"/>
              </a:rPr>
              <a:t> </a:t>
            </a:r>
            <a:r>
              <a:rPr lang="my-MM" b="0" i="0" dirty="0">
                <a:solidFill>
                  <a:srgbClr val="0D0D0D"/>
                </a:solidFill>
                <a:effectLst/>
                <a:latin typeface="-apple-system-body"/>
              </a:rPr>
              <a:t>လုပ်နိုင်ပါတယ်။</a:t>
            </a:r>
          </a:p>
          <a:p>
            <a:pPr algn="l"/>
            <a:r>
              <a:rPr lang="en-US" b="1" i="0" dirty="0">
                <a:solidFill>
                  <a:srgbClr val="0D0D0D"/>
                </a:solidFill>
                <a:effectLst/>
                <a:latin typeface="-apple-system-body"/>
              </a:rPr>
              <a:t>Not Recommend Request</a:t>
            </a:r>
          </a:p>
          <a:p>
            <a:pPr algn="l"/>
            <a:r>
              <a:rPr lang="my-MM" b="0" i="0" dirty="0">
                <a:solidFill>
                  <a:srgbClr val="0D0D0D"/>
                </a:solidFill>
                <a:effectLst/>
                <a:latin typeface="-apple-system-body"/>
              </a:rPr>
              <a:t>တစ်ဖက်မှာတော့—</a:t>
            </a:r>
          </a:p>
          <a:p>
            <a:r>
              <a:rPr lang="my-MM" dirty="0">
                <a:effectLst/>
              </a:rPr>
              <a:t>“ဒီ </a:t>
            </a:r>
            <a:r>
              <a:rPr lang="en-US" dirty="0">
                <a:effectLst/>
              </a:rPr>
              <a:t>Leave Request </a:t>
            </a:r>
            <a:r>
              <a:rPr lang="my-MM" dirty="0">
                <a:effectLst/>
              </a:rPr>
              <a:t>ကို </a:t>
            </a:r>
            <a:r>
              <a:rPr lang="en-US" dirty="0">
                <a:effectLst/>
              </a:rPr>
              <a:t>Recommend </a:t>
            </a:r>
            <a:r>
              <a:rPr lang="my-MM" dirty="0">
                <a:effectLst/>
              </a:rPr>
              <a:t>မလုပ်ပါဘူး”</a:t>
            </a:r>
          </a:p>
          <a:p>
            <a:pPr algn="l"/>
            <a:r>
              <a:rPr lang="my-MM" b="0" i="0" dirty="0">
                <a:solidFill>
                  <a:srgbClr val="0D0D0D"/>
                </a:solidFill>
                <a:effectLst/>
                <a:latin typeface="-apple-system-body"/>
              </a:rPr>
              <a:t>ဆိုပြီး </a:t>
            </a:r>
            <a:r>
              <a:rPr lang="en-US" b="1" i="0" dirty="0">
                <a:solidFill>
                  <a:srgbClr val="0D0D0D"/>
                </a:solidFill>
                <a:effectLst/>
                <a:latin typeface="-apple-system-body"/>
              </a:rPr>
              <a:t>Not Recommend Request</a:t>
            </a:r>
            <a:r>
              <a:rPr lang="en-US" b="0" i="0" dirty="0">
                <a:solidFill>
                  <a:srgbClr val="0D0D0D"/>
                </a:solidFill>
                <a:effectLst/>
                <a:latin typeface="-apple-system-body"/>
              </a:rPr>
              <a:t> </a:t>
            </a:r>
            <a:r>
              <a:rPr lang="my-MM" b="0" i="0" dirty="0">
                <a:solidFill>
                  <a:srgbClr val="0D0D0D"/>
                </a:solidFill>
                <a:effectLst/>
                <a:latin typeface="-apple-system-body"/>
              </a:rPr>
              <a:t>လုပ်နိုင်ပါတယ်။</a:t>
            </a:r>
          </a:p>
          <a:p>
            <a:pPr algn="l"/>
            <a:r>
              <a:rPr lang="my-MM" b="0" i="0" dirty="0">
                <a:solidFill>
                  <a:srgbClr val="0D0D0D"/>
                </a:solidFill>
                <a:effectLst/>
                <a:latin typeface="-apple-system-body"/>
              </a:rPr>
              <a:t>ဒါကြောင့် </a:t>
            </a:r>
            <a:r>
              <a:rPr lang="en-US" b="0" i="0" dirty="0">
                <a:solidFill>
                  <a:srgbClr val="0D0D0D"/>
                </a:solidFill>
                <a:effectLst/>
                <a:latin typeface="-apple-system-body"/>
              </a:rPr>
              <a:t>Department Head </a:t>
            </a:r>
            <a:r>
              <a:rPr lang="my-MM" b="0" i="0" dirty="0">
                <a:solidFill>
                  <a:srgbClr val="0D0D0D"/>
                </a:solidFill>
                <a:effectLst/>
                <a:latin typeface="-apple-system-body"/>
              </a:rPr>
              <a:t>က </a:t>
            </a:r>
            <a:r>
              <a:rPr lang="en-US" b="0" i="0" dirty="0">
                <a:solidFill>
                  <a:srgbClr val="0D0D0D"/>
                </a:solidFill>
                <a:effectLst/>
                <a:latin typeface="-apple-system-body"/>
              </a:rPr>
              <a:t>Staff Leave Request </a:t>
            </a:r>
            <a:r>
              <a:rPr lang="my-MM" b="0" i="0" dirty="0">
                <a:solidFill>
                  <a:srgbClr val="0D0D0D"/>
                </a:solidFill>
                <a:effectLst/>
                <a:latin typeface="-apple-system-body"/>
              </a:rPr>
              <a:t>တွေကို </a:t>
            </a:r>
            <a:r>
              <a:rPr lang="en-US" b="1" i="0" dirty="0">
                <a:solidFill>
                  <a:srgbClr val="0D0D0D"/>
                </a:solidFill>
                <a:effectLst/>
                <a:latin typeface="-apple-system-body"/>
              </a:rPr>
              <a:t>Recommend / Not Recommend</a:t>
            </a:r>
            <a:r>
              <a:rPr lang="en-US" b="0" i="0" dirty="0">
                <a:solidFill>
                  <a:srgbClr val="0D0D0D"/>
                </a:solidFill>
                <a:effectLst/>
                <a:latin typeface="-apple-system-body"/>
              </a:rPr>
              <a:t> </a:t>
            </a:r>
            <a:r>
              <a:rPr lang="my-MM" b="0" i="0" dirty="0">
                <a:solidFill>
                  <a:srgbClr val="0D0D0D"/>
                </a:solidFill>
                <a:effectLst/>
                <a:latin typeface="-apple-system-body"/>
              </a:rPr>
              <a:t>လုပ်ပေးတဲ့ တာဝန်ရှိပါတယ်။</a:t>
            </a:r>
          </a:p>
          <a:p>
            <a:pPr algn="l"/>
            <a:r>
              <a:rPr lang="my-MM" b="1" i="0" dirty="0">
                <a:solidFill>
                  <a:srgbClr val="0D0D0D"/>
                </a:solidFill>
                <a:effectLst/>
                <a:latin typeface="-apple-system-body"/>
              </a:rPr>
              <a:t>၇။ </a:t>
            </a:r>
            <a:r>
              <a:rPr lang="en-US" b="1" i="0" dirty="0">
                <a:solidFill>
                  <a:srgbClr val="0D0D0D"/>
                </a:solidFill>
                <a:effectLst/>
                <a:latin typeface="-apple-system-body"/>
              </a:rPr>
              <a:t>Logout</a:t>
            </a:r>
          </a:p>
          <a:p>
            <a:pPr algn="l"/>
            <a:r>
              <a:rPr lang="my-MM" b="0" i="0" dirty="0">
                <a:solidFill>
                  <a:srgbClr val="0D0D0D"/>
                </a:solidFill>
                <a:effectLst/>
                <a:latin typeface="-apple-system-body"/>
              </a:rPr>
              <a:t>အလုပ်ပြီးသွားရင် </a:t>
            </a:r>
            <a:r>
              <a:rPr lang="en-US" b="1" i="0" dirty="0">
                <a:solidFill>
                  <a:srgbClr val="0D0D0D"/>
                </a:solidFill>
                <a:effectLst/>
                <a:latin typeface="-apple-system-body"/>
              </a:rPr>
              <a:t>Logout</a:t>
            </a:r>
            <a:r>
              <a:rPr lang="en-US" b="0" i="0" dirty="0">
                <a:solidFill>
                  <a:srgbClr val="0D0D0D"/>
                </a:solidFill>
                <a:effectLst/>
                <a:latin typeface="-apple-system-body"/>
              </a:rPr>
              <a:t> </a:t>
            </a:r>
            <a:r>
              <a:rPr lang="my-MM" b="0" i="0" dirty="0">
                <a:solidFill>
                  <a:srgbClr val="0D0D0D"/>
                </a:solidFill>
                <a:effectLst/>
                <a:latin typeface="-apple-system-body"/>
              </a:rPr>
              <a:t>လုပ်ပြီး </a:t>
            </a:r>
            <a:r>
              <a:rPr lang="en-US" b="0" i="0" dirty="0">
                <a:solidFill>
                  <a:srgbClr val="0D0D0D"/>
                </a:solidFill>
                <a:effectLst/>
                <a:latin typeface="-apple-system-body"/>
              </a:rPr>
              <a:t>System </a:t>
            </a:r>
            <a:r>
              <a:rPr lang="my-MM" b="0" i="0" dirty="0">
                <a:solidFill>
                  <a:srgbClr val="0D0D0D"/>
                </a:solidFill>
                <a:effectLst/>
                <a:latin typeface="-apple-system-body"/>
              </a:rPr>
              <a:t>ကနေ ထွက်နိုင်ပါတယ်။</a:t>
            </a:r>
          </a:p>
          <a:p>
            <a:pPr algn="l"/>
            <a:r>
              <a:rPr lang="my-MM" b="1" i="0" dirty="0">
                <a:solidFill>
                  <a:srgbClr val="0D0D0D"/>
                </a:solidFill>
                <a:effectLst/>
                <a:latin typeface="-apple-system-body"/>
              </a:rPr>
              <a:t>&lt;&lt;</a:t>
            </a:r>
            <a:r>
              <a:rPr lang="en-US" b="1" i="0" dirty="0">
                <a:solidFill>
                  <a:srgbClr val="0D0D0D"/>
                </a:solidFill>
                <a:effectLst/>
                <a:latin typeface="-apple-system-body"/>
              </a:rPr>
              <a:t>include&gt;&gt; </a:t>
            </a:r>
            <a:r>
              <a:rPr lang="my-MM" b="1" i="0" dirty="0">
                <a:solidFill>
                  <a:srgbClr val="0D0D0D"/>
                </a:solidFill>
                <a:effectLst/>
                <a:latin typeface="-apple-system-body"/>
              </a:rPr>
              <a:t>ဆိုတာ ဘာလဲ?</a:t>
            </a:r>
          </a:p>
          <a:p>
            <a:pPr algn="l"/>
            <a:r>
              <a:rPr lang="my-MM" b="0" i="0" dirty="0">
                <a:solidFill>
                  <a:srgbClr val="0D0D0D"/>
                </a:solidFill>
                <a:effectLst/>
                <a:latin typeface="-apple-system-body"/>
              </a:rPr>
              <a:t>ဒီ </a:t>
            </a:r>
            <a:r>
              <a:rPr lang="en-US" b="0" i="0" dirty="0">
                <a:solidFill>
                  <a:srgbClr val="0D0D0D"/>
                </a:solidFill>
                <a:effectLst/>
                <a:latin typeface="-apple-system-body"/>
              </a:rPr>
              <a:t>Diagram </a:t>
            </a:r>
            <a:r>
              <a:rPr lang="my-MM" b="0" i="0" dirty="0">
                <a:solidFill>
                  <a:srgbClr val="0D0D0D"/>
                </a:solidFill>
                <a:effectLst/>
                <a:latin typeface="-apple-system-body"/>
              </a:rPr>
              <a:t>ကိုနားလည်ဖို့ </a:t>
            </a:r>
            <a:r>
              <a:rPr lang="en-US" b="0" i="0" dirty="0">
                <a:solidFill>
                  <a:srgbClr val="0D0D0D"/>
                </a:solidFill>
                <a:effectLst/>
                <a:latin typeface="-apple-system-body"/>
              </a:rPr>
              <a:t>include </a:t>
            </a:r>
            <a:r>
              <a:rPr lang="my-MM" b="0" i="0" dirty="0">
                <a:solidFill>
                  <a:srgbClr val="0D0D0D"/>
                </a:solidFill>
                <a:effectLst/>
                <a:latin typeface="-apple-system-body"/>
              </a:rPr>
              <a:t>ကို သိထားရင် အရမ်းလွယ်ပါတယ်။</a:t>
            </a:r>
          </a:p>
          <a:p>
            <a:pPr algn="l"/>
            <a:r>
              <a:rPr lang="en-US" b="1" i="0" dirty="0">
                <a:solidFill>
                  <a:srgbClr val="0D0D0D"/>
                </a:solidFill>
                <a:effectLst/>
                <a:latin typeface="-apple-system-body"/>
              </a:rPr>
              <a:t>A include B</a:t>
            </a:r>
            <a:r>
              <a:rPr lang="en-US" b="0" i="0" dirty="0">
                <a:solidFill>
                  <a:srgbClr val="0D0D0D"/>
                </a:solidFill>
                <a:effectLst/>
                <a:latin typeface="-apple-system-body"/>
              </a:rPr>
              <a:t> </a:t>
            </a:r>
            <a:r>
              <a:rPr lang="my-MM" b="0" i="0" dirty="0">
                <a:solidFill>
                  <a:srgbClr val="0D0D0D"/>
                </a:solidFill>
                <a:effectLst/>
                <a:latin typeface="-apple-system-body"/>
              </a:rPr>
              <a:t>ဆိုရင်—</a:t>
            </a:r>
          </a:p>
          <a:p>
            <a:r>
              <a:rPr lang="en-US" dirty="0">
                <a:effectLst/>
              </a:rPr>
              <a:t>A </a:t>
            </a:r>
            <a:r>
              <a:rPr lang="my-MM" dirty="0">
                <a:effectLst/>
              </a:rPr>
              <a:t>ကိုလုပ်တဲ့အခါ </a:t>
            </a:r>
            <a:r>
              <a:rPr lang="en-US" dirty="0">
                <a:effectLst/>
              </a:rPr>
              <a:t>B </a:t>
            </a:r>
            <a:r>
              <a:rPr lang="my-MM" dirty="0">
                <a:effectLst/>
              </a:rPr>
              <a:t>လုပ်ဆောင်ချက်ကလည်း မဖြစ်မနေ ပါဝင်တယ်</a:t>
            </a:r>
          </a:p>
          <a:p>
            <a:pPr algn="l"/>
            <a:r>
              <a:rPr lang="my-MM" b="0" i="0" dirty="0">
                <a:solidFill>
                  <a:srgbClr val="0D0D0D"/>
                </a:solidFill>
                <a:effectLst/>
                <a:latin typeface="-apple-system-body"/>
              </a:rPr>
              <a:t>လို့ နားလည်လို့ရပါတယ်။</a:t>
            </a:r>
          </a:p>
          <a:p>
            <a:pPr algn="l"/>
            <a:r>
              <a:rPr lang="my-MM" b="0" i="0" dirty="0">
                <a:solidFill>
                  <a:srgbClr val="0D0D0D"/>
                </a:solidFill>
                <a:effectLst/>
                <a:latin typeface="-apple-system-body"/>
              </a:rPr>
              <a:t>ဒီပုံမှာ ဥပမာ—</a:t>
            </a:r>
          </a:p>
          <a:p>
            <a:pPr algn="l">
              <a:buFont typeface="Arial" panose="020B0604020202020204" pitchFamily="34" charset="0"/>
              <a:buChar char="•"/>
            </a:pPr>
            <a:r>
              <a:rPr lang="en-US" b="0" i="0" dirty="0">
                <a:solidFill>
                  <a:srgbClr val="0D0D0D"/>
                </a:solidFill>
                <a:effectLst/>
                <a:latin typeface="-apple-system-body"/>
              </a:rPr>
              <a:t>Dashboard → View Leave Information</a:t>
            </a:r>
          </a:p>
          <a:p>
            <a:pPr algn="l">
              <a:buFont typeface="Arial" panose="020B0604020202020204" pitchFamily="34" charset="0"/>
              <a:buChar char="•"/>
            </a:pPr>
            <a:r>
              <a:rPr lang="en-US" b="0" i="0" dirty="0">
                <a:solidFill>
                  <a:srgbClr val="0D0D0D"/>
                </a:solidFill>
                <a:effectLst/>
                <a:latin typeface="-apple-system-body"/>
              </a:rPr>
              <a:t>Request Leave → Apply Leave</a:t>
            </a:r>
          </a:p>
          <a:p>
            <a:pPr algn="l">
              <a:buFont typeface="Arial" panose="020B0604020202020204" pitchFamily="34" charset="0"/>
              <a:buChar char="•"/>
            </a:pPr>
            <a:r>
              <a:rPr lang="en-US" b="0" i="0" dirty="0">
                <a:solidFill>
                  <a:srgbClr val="0D0D0D"/>
                </a:solidFill>
                <a:effectLst/>
                <a:latin typeface="-apple-system-body"/>
              </a:rPr>
              <a:t>Request Leave → Check Leave History</a:t>
            </a:r>
          </a:p>
          <a:p>
            <a:pPr algn="l">
              <a:buFont typeface="Arial" panose="020B0604020202020204" pitchFamily="34" charset="0"/>
              <a:buChar char="•"/>
            </a:pPr>
            <a:r>
              <a:rPr lang="en-US" b="0" i="0" dirty="0">
                <a:solidFill>
                  <a:srgbClr val="0D0D0D"/>
                </a:solidFill>
                <a:effectLst/>
                <a:latin typeface="-apple-system-body"/>
              </a:rPr>
              <a:t>Manage Staff Request → Recommend Request</a:t>
            </a:r>
          </a:p>
          <a:p>
            <a:pPr algn="l">
              <a:buFont typeface="Arial" panose="020B0604020202020204" pitchFamily="34" charset="0"/>
              <a:buChar char="•"/>
            </a:pPr>
            <a:r>
              <a:rPr lang="en-US" b="0" i="0" dirty="0">
                <a:solidFill>
                  <a:srgbClr val="0D0D0D"/>
                </a:solidFill>
                <a:effectLst/>
                <a:latin typeface="-apple-system-body"/>
              </a:rPr>
              <a:t>Manage Staff Request → Not Recommend Request</a:t>
            </a:r>
          </a:p>
          <a:p>
            <a:pPr algn="l"/>
            <a:r>
              <a:rPr lang="my-MM" b="0" i="0" dirty="0">
                <a:solidFill>
                  <a:srgbClr val="0D0D0D"/>
                </a:solidFill>
                <a:effectLst/>
                <a:latin typeface="-apple-system-body"/>
              </a:rPr>
              <a:t>ဆိုပြီး ဆက်ထားတာတွေ့ရပါတယ်။</a:t>
            </a:r>
          </a:p>
          <a:p>
            <a:br>
              <a:rPr lang="my-MM" dirty="0"/>
            </a:br>
            <a:endParaRPr lang="en-US" dirty="0"/>
          </a:p>
        </p:txBody>
      </p:sp>
      <p:sp>
        <p:nvSpPr>
          <p:cNvPr id="4" name="Slide Number Placeholder 3"/>
          <p:cNvSpPr>
            <a:spLocks noGrp="1"/>
          </p:cNvSpPr>
          <p:nvPr>
            <p:ph type="sldNum" sz="quarter" idx="5"/>
          </p:nvPr>
        </p:nvSpPr>
        <p:spPr/>
        <p:txBody>
          <a:bodyPr/>
          <a:lstStyle/>
          <a:p>
            <a:fld id="{AEA0FD98-7654-445C-8E24-0AB7F0410E36}" type="slidenum">
              <a:rPr lang="en-US" smtClean="0"/>
              <a:t>12</a:t>
            </a:fld>
            <a:endParaRPr lang="en-US"/>
          </a:p>
        </p:txBody>
      </p:sp>
    </p:spTree>
    <p:extLst>
      <p:ext uri="{BB962C8B-B14F-4D97-AF65-F5344CB8AC3E}">
        <p14:creationId xmlns:p14="http://schemas.microsoft.com/office/powerpoint/2010/main" val="15676235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None/>
            </a:pPr>
            <a:r>
              <a:rPr lang="en-US" dirty="0"/>
              <a:t>Login: </a:t>
            </a:r>
            <a:r>
              <a:rPr lang="my-MM" dirty="0"/>
              <a:t>အရင်ဦးစွာ </a:t>
            </a:r>
            <a:r>
              <a:rPr lang="en-US" dirty="0"/>
              <a:t>Staff </a:t>
            </a:r>
            <a:r>
              <a:rPr lang="my-MM" dirty="0"/>
              <a:t>က </a:t>
            </a:r>
            <a:r>
              <a:rPr lang="en-US" dirty="0"/>
              <a:t>Email </a:t>
            </a:r>
            <a:r>
              <a:rPr lang="my-MM" dirty="0"/>
              <a:t>နဲ့ </a:t>
            </a:r>
            <a:r>
              <a:rPr lang="en-US" dirty="0"/>
              <a:t>Password </a:t>
            </a:r>
            <a:r>
              <a:rPr lang="my-MM" dirty="0"/>
              <a:t>ရိုက်ထည့်ပြီး </a:t>
            </a:r>
            <a:r>
              <a:rPr lang="en-US" dirty="0"/>
              <a:t>Login </a:t>
            </a:r>
            <a:r>
              <a:rPr lang="my-MM" dirty="0"/>
              <a:t>ဝင်ရပါမယ်။ </a:t>
            </a:r>
            <a:r>
              <a:rPr lang="en-US" dirty="0"/>
              <a:t>System </a:t>
            </a:r>
            <a:r>
              <a:rPr lang="my-MM" dirty="0"/>
              <a:t>က အချက်အလက်စစ်ဆေးပြီး မှားနေရင် </a:t>
            </a:r>
            <a:r>
              <a:rPr lang="en-US" dirty="0"/>
              <a:t>Login </a:t>
            </a:r>
            <a:r>
              <a:rPr lang="my-MM" dirty="0"/>
              <a:t>မှာပဲ ပြန်စခိုင်းပါမယ်။ မှန်ရင် </a:t>
            </a:r>
            <a:r>
              <a:rPr lang="en-US" dirty="0"/>
              <a:t>Staff Home Page </a:t>
            </a:r>
            <a:r>
              <a:rPr lang="my-MM" dirty="0"/>
              <a:t>ကို ရောက်ရှိသွားမှာပါ။</a:t>
            </a:r>
            <a:br>
              <a:rPr lang="my-MM" dirty="0"/>
            </a:br>
            <a:br>
              <a:rPr lang="my-MM" dirty="0"/>
            </a:br>
            <a:r>
              <a:rPr lang="en-US" dirty="0"/>
              <a:t>Main Features: Home Page </a:t>
            </a:r>
            <a:r>
              <a:rPr lang="my-MM" dirty="0"/>
              <a:t>ရောက်ရင် </a:t>
            </a:r>
            <a:r>
              <a:rPr lang="en-US" dirty="0"/>
              <a:t>Staff </a:t>
            </a:r>
            <a:r>
              <a:rPr lang="my-MM" dirty="0"/>
              <a:t>အနေနဲ့ မိမိလုပ်ချင်တဲ့ </a:t>
            </a:r>
            <a:r>
              <a:rPr lang="en-US" dirty="0"/>
              <a:t>Menu (</a:t>
            </a:r>
            <a:r>
              <a:rPr lang="my-MM" dirty="0"/>
              <a:t>၄) ခုထဲက ရွေးချယ်နိုင်ပါတယ်-</a:t>
            </a:r>
            <a:br>
              <a:rPr lang="my-MM" dirty="0"/>
            </a:br>
            <a:br>
              <a:rPr lang="my-MM" dirty="0"/>
            </a:br>
            <a:r>
              <a:rPr lang="en-US" dirty="0"/>
              <a:t>View Dashboard: </a:t>
            </a:r>
            <a:r>
              <a:rPr lang="my-MM" dirty="0"/>
              <a:t>အနှစ်ချုပ်အချက်အလက်တွေ ကြည့်နိုင်ပါတယ်။</a:t>
            </a:r>
            <a:br>
              <a:rPr lang="my-MM" dirty="0"/>
            </a:br>
            <a:br>
              <a:rPr lang="my-MM" dirty="0"/>
            </a:br>
            <a:r>
              <a:rPr lang="en-US" dirty="0"/>
              <a:t>Apply Leave Request: </a:t>
            </a:r>
            <a:r>
              <a:rPr lang="my-MM" dirty="0"/>
              <a:t>ခွင့်တိုင်ကြားနိုင်ပါတယ်။</a:t>
            </a:r>
            <a:br>
              <a:rPr lang="my-MM" dirty="0"/>
            </a:br>
            <a:r>
              <a:rPr lang="en-US" dirty="0"/>
              <a:t>View Leave History: </a:t>
            </a:r>
            <a:r>
              <a:rPr lang="my-MM" dirty="0"/>
              <a:t>ယခင် ခွင့်တင်ထားတဲ့ မှတ်တမ်းတွေ ပြန်ကြည့်နိုင်ပါတယ်။</a:t>
            </a:r>
            <a:br>
              <a:rPr lang="my-MM" dirty="0"/>
            </a:br>
            <a:br>
              <a:rPr lang="my-MM" dirty="0"/>
            </a:br>
            <a:r>
              <a:rPr lang="en-US" dirty="0"/>
              <a:t>Manage Profile: </a:t>
            </a:r>
            <a:r>
              <a:rPr lang="my-MM" dirty="0"/>
              <a:t>ကိုယ်ရေးအချက်အလက် ပြင်ဆင်နိုင်ပါတယ်။</a:t>
            </a:r>
            <a:br>
              <a:rPr lang="my-MM" dirty="0"/>
            </a:br>
            <a:br>
              <a:rPr lang="my-MM" dirty="0"/>
            </a:br>
            <a:r>
              <a:rPr lang="en-US" dirty="0"/>
              <a:t>Logout: </a:t>
            </a:r>
            <a:r>
              <a:rPr lang="my-MM" dirty="0"/>
              <a:t>အလုပ်တွေ ပြီးသွားရင်တော့ </a:t>
            </a:r>
            <a:r>
              <a:rPr lang="en-US" dirty="0"/>
              <a:t>Logout </a:t>
            </a:r>
            <a:r>
              <a:rPr lang="my-MM" dirty="0"/>
              <a:t>နှိပ်ပြီး စနစ်ကနေ ထွက်ခွာ (</a:t>
            </a:r>
            <a:r>
              <a:rPr lang="en-US" dirty="0"/>
              <a:t>Stop) </a:t>
            </a:r>
            <a:r>
              <a:rPr lang="my-MM" dirty="0"/>
              <a:t>သွားမှာ ဖြစ်ပါတယ်။"</a:t>
            </a:r>
            <a:br>
              <a:rPr lang="my-MM" dirty="0"/>
            </a:br>
            <a:r>
              <a:rPr lang="en-US" dirty="0"/>
              <a:t> </a:t>
            </a:r>
            <a:r>
              <a:rPr lang="my-MM" dirty="0"/>
              <a:t>ပထမဦးစွာ </a:t>
            </a:r>
            <a:r>
              <a:rPr lang="en-US" dirty="0"/>
              <a:t>User </a:t>
            </a:r>
            <a:r>
              <a:rPr lang="my-MM" dirty="0"/>
              <a:t>အနေနဲ့ စနစ်ကို စတင်အသုံးပြုဖို့အတွက် သူတို့ရဲ့ </a:t>
            </a:r>
            <a:r>
              <a:rPr lang="en-US" dirty="0"/>
              <a:t>Email </a:t>
            </a:r>
            <a:r>
              <a:rPr lang="my-MM" dirty="0"/>
              <a:t>နဲ့ </a:t>
            </a:r>
            <a:r>
              <a:rPr lang="en-US" dirty="0"/>
              <a:t>Password </a:t>
            </a:r>
            <a:r>
              <a:rPr lang="my-MM" dirty="0"/>
              <a:t>ကို ရိုက်ထည့်ပြီး </a:t>
            </a:r>
            <a:r>
              <a:rPr lang="en-US" dirty="0"/>
              <a:t>Login </a:t>
            </a:r>
            <a:r>
              <a:rPr lang="my-MM" dirty="0"/>
              <a:t>ဝင်ရပါမယ်။</a:t>
            </a:r>
            <a:br>
              <a:rPr lang="my-MM" dirty="0"/>
            </a:br>
            <a:br>
              <a:rPr lang="my-MM" dirty="0"/>
            </a:br>
            <a:r>
              <a:rPr lang="my-MM" dirty="0"/>
              <a:t>အဲဒီမှာ စနစ်က အချက်အလက် မှန်/မမှန် စစ်ဆေးသွားမှာ ဖြစ်ပြီး—</a:t>
            </a:r>
            <a:br>
              <a:rPr lang="my-MM" dirty="0"/>
            </a:br>
            <a:br>
              <a:rPr lang="my-MM" dirty="0"/>
            </a:br>
            <a:r>
              <a:rPr lang="my-MM" dirty="0"/>
              <a:t>မှားယွင်းနေရင် (</a:t>
            </a:r>
            <a:r>
              <a:rPr lang="en-US" dirty="0"/>
              <a:t>No): Login </a:t>
            </a:r>
            <a:r>
              <a:rPr lang="my-MM" dirty="0"/>
              <a:t>စာမျက်နှာကို ပြန်ညွှန်းပေးပြီး အချက်အလက် ပြန်ရိုက်ထည့်ခိုင်းပါမယ်။</a:t>
            </a:r>
            <a:br>
              <a:rPr lang="my-MM" dirty="0"/>
            </a:br>
            <a:br>
              <a:rPr lang="my-MM" dirty="0"/>
            </a:br>
            <a:r>
              <a:rPr lang="my-MM" dirty="0"/>
              <a:t>မှန်ကန်သွားရင် (</a:t>
            </a:r>
            <a:r>
              <a:rPr lang="en-US" dirty="0"/>
              <a:t>Yes): User </a:t>
            </a:r>
            <a:r>
              <a:rPr lang="my-MM" dirty="0"/>
              <a:t>ကို </a:t>
            </a:r>
            <a:r>
              <a:rPr lang="en-US" dirty="0"/>
              <a:t>Staff Home Page (</a:t>
            </a:r>
            <a:r>
              <a:rPr lang="my-MM" dirty="0"/>
              <a:t>သို့မဟုတ် </a:t>
            </a:r>
            <a:r>
              <a:rPr lang="en-US" dirty="0"/>
              <a:t>Dashboard) </a:t>
            </a:r>
            <a:r>
              <a:rPr lang="my-MM" dirty="0"/>
              <a:t>ဆီကို တိုက်ရိုက် ပို့ဆောင်ပေးမှာ ဖြစ်ပါတယ်။"</a:t>
            </a:r>
            <a:br>
              <a:rPr lang="my-MM" dirty="0"/>
            </a:br>
            <a:r>
              <a:rPr lang="en-US" dirty="0"/>
              <a:t>Staff Home Page </a:t>
            </a:r>
            <a:r>
              <a:rPr lang="my-MM" dirty="0"/>
              <a:t>ရောက်သွားပြီဆိုရင် </a:t>
            </a:r>
            <a:r>
              <a:rPr lang="en-US" dirty="0"/>
              <a:t>User </a:t>
            </a:r>
            <a:r>
              <a:rPr lang="my-MM" dirty="0"/>
              <a:t>အနေနဲ့ မိမိလုပ်ဆောင်ချင်တဲ့ လုပ်ဆောင်ချက် (</a:t>
            </a:r>
            <a:r>
              <a:rPr lang="en-US" dirty="0"/>
              <a:t>Feature) </a:t>
            </a:r>
            <a:r>
              <a:rPr lang="my-MM" dirty="0"/>
              <a:t>တွေကို ရွေးချယ် အသုံးပြုနိုင်မှာ ဖြစ်ပါတယ်။</a:t>
            </a:r>
            <a:br>
              <a:rPr lang="my-MM" dirty="0"/>
            </a:br>
            <a:br>
              <a:rPr lang="my-MM" dirty="0"/>
            </a:br>
            <a:r>
              <a:rPr lang="en-US" dirty="0"/>
              <a:t>View Dashboard: </a:t>
            </a:r>
            <a:r>
              <a:rPr lang="my-MM" dirty="0"/>
              <a:t>မိမိရဲ့ အချက်အလက် အနှစ်ချုပ်နဲ့ </a:t>
            </a:r>
            <a:r>
              <a:rPr lang="en-US" dirty="0"/>
              <a:t>status </a:t>
            </a:r>
            <a:r>
              <a:rPr lang="my-MM" dirty="0"/>
              <a:t>တွေကို ကြည့်ရှုနိုင်ပါတယ်။</a:t>
            </a:r>
            <a:br>
              <a:rPr lang="my-MM" dirty="0"/>
            </a:br>
            <a:br>
              <a:rPr lang="my-MM" dirty="0"/>
            </a:br>
            <a:r>
              <a:rPr lang="en-US" dirty="0"/>
              <a:t>Apply Leave Request: </a:t>
            </a:r>
            <a:r>
              <a:rPr lang="my-MM" dirty="0"/>
              <a:t>ခွင့်တိုင်ကြားလိုပါက ခွင့်လျှောက်လွှာ စတင်ဖြည့်စွက် လျှောက်ထားနိုင်ပါတယ်။</a:t>
            </a:r>
            <a:br>
              <a:rPr lang="my-MM" dirty="0"/>
            </a:br>
            <a:br>
              <a:rPr lang="my-MM" dirty="0"/>
            </a:br>
            <a:r>
              <a:rPr lang="en-US" dirty="0"/>
              <a:t>View Leave History (or Staff History): </a:t>
            </a:r>
            <a:r>
              <a:rPr lang="my-MM" dirty="0"/>
              <a:t>မိမိ ယခင်က လျှောက်ထားခဲ့ဖူးတဲ့ ခွင့်မှတ်တမ်းတွေနဲ့ ခွင့်ပြုချက် အခြေအနေတွေကို ပြန်လည်ကြည့်ရှုနိုင်ပါတယ်။</a:t>
            </a:r>
            <a:br>
              <a:rPr lang="my-MM" dirty="0"/>
            </a:br>
            <a:r>
              <a:rPr lang="en-US" dirty="0"/>
              <a:t>Manage Profile: </a:t>
            </a:r>
            <a:r>
              <a:rPr lang="my-MM" dirty="0"/>
              <a:t>မိမိရဲ့ ကိုယ်ရေးအချက်အလက် (</a:t>
            </a:r>
            <a:r>
              <a:rPr lang="en-US" dirty="0"/>
              <a:t>Personal Information) </a:t>
            </a:r>
            <a:r>
              <a:rPr lang="my-MM" dirty="0"/>
              <a:t>တွေကို ပြင်ဆင်နိုင်ပါတယ်။"</a:t>
            </a:r>
            <a:endParaRPr lang="en-US" b="1" i="0" dirty="0">
              <a:solidFill>
                <a:srgbClr val="0D0D0D"/>
              </a:solidFill>
              <a:effectLst/>
              <a:latin typeface="-apple-system-body"/>
            </a:endParaRPr>
          </a:p>
          <a:p>
            <a:pPr algn="l">
              <a:buFont typeface="+mj-lt"/>
              <a:buAutoNum type="arabicPeriod"/>
            </a:pPr>
            <a:endParaRPr lang="en-US" b="1" i="0" dirty="0">
              <a:solidFill>
                <a:srgbClr val="0D0D0D"/>
              </a:solidFill>
              <a:effectLst/>
              <a:latin typeface="-apple-system-body"/>
            </a:endParaRPr>
          </a:p>
          <a:p>
            <a:pPr algn="l">
              <a:buFont typeface="+mj-lt"/>
              <a:buAutoNum type="arabicPeriod"/>
            </a:pPr>
            <a:r>
              <a:rPr lang="my-MM" b="1" i="0" dirty="0">
                <a:solidFill>
                  <a:srgbClr val="0D0D0D"/>
                </a:solidFill>
                <a:effectLst/>
                <a:latin typeface="-apple-system-body"/>
              </a:rPr>
              <a:t>၁။ </a:t>
            </a:r>
            <a:r>
              <a:rPr lang="en-US" b="1" i="0" dirty="0">
                <a:solidFill>
                  <a:srgbClr val="0D0D0D"/>
                </a:solidFill>
                <a:effectLst/>
                <a:latin typeface="-apple-system-body"/>
              </a:rPr>
              <a:t>Start</a:t>
            </a:r>
          </a:p>
          <a:p>
            <a:pPr algn="l">
              <a:buFont typeface="+mj-lt"/>
              <a:buAutoNum type="arabicPeriod"/>
            </a:pPr>
            <a:r>
              <a:rPr lang="my-MM" b="0" i="0" dirty="0">
                <a:solidFill>
                  <a:srgbClr val="0D0D0D"/>
                </a:solidFill>
                <a:effectLst/>
                <a:latin typeface="-apple-system-body"/>
              </a:rPr>
              <a:t>အပေါ်ဆုံးက </a:t>
            </a:r>
            <a:r>
              <a:rPr lang="en-US" b="1" i="0" dirty="0">
                <a:solidFill>
                  <a:srgbClr val="0D0D0D"/>
                </a:solidFill>
                <a:effectLst/>
                <a:latin typeface="-apple-system-body"/>
              </a:rPr>
              <a:t>Start</a:t>
            </a:r>
            <a:r>
              <a:rPr lang="en-US" b="0" i="0" dirty="0">
                <a:solidFill>
                  <a:srgbClr val="0D0D0D"/>
                </a:solidFill>
                <a:effectLst/>
                <a:latin typeface="-apple-system-body"/>
              </a:rPr>
              <a:t> </a:t>
            </a:r>
            <a:r>
              <a:rPr lang="my-MM" b="0" i="0" dirty="0">
                <a:solidFill>
                  <a:srgbClr val="0D0D0D"/>
                </a:solidFill>
                <a:effectLst/>
                <a:latin typeface="-apple-system-body"/>
              </a:rPr>
              <a:t>ကနေ စပါတယ်။</a:t>
            </a:r>
          </a:p>
          <a:p>
            <a:pPr algn="l">
              <a:buFont typeface="+mj-lt"/>
              <a:buAutoNum type="arabicPeriod"/>
            </a:pPr>
            <a:r>
              <a:rPr lang="my-MM" b="0" i="0" dirty="0">
                <a:solidFill>
                  <a:srgbClr val="0D0D0D"/>
                </a:solidFill>
                <a:effectLst/>
                <a:latin typeface="-apple-system-body"/>
              </a:rPr>
              <a:t>အဓိပ္ပာယ်က </a:t>
            </a:r>
            <a:r>
              <a:rPr lang="en-US" b="0" i="0" dirty="0">
                <a:solidFill>
                  <a:srgbClr val="0D0D0D"/>
                </a:solidFill>
                <a:effectLst/>
                <a:latin typeface="-apple-system-body"/>
              </a:rPr>
              <a:t>Staff </a:t>
            </a:r>
            <a:r>
              <a:rPr lang="my-MM" b="0" i="0" dirty="0">
                <a:solidFill>
                  <a:srgbClr val="0D0D0D"/>
                </a:solidFill>
                <a:effectLst/>
                <a:latin typeface="-apple-system-body"/>
              </a:rPr>
              <a:t>က </a:t>
            </a:r>
            <a:r>
              <a:rPr lang="en-US" b="0" i="0" dirty="0">
                <a:solidFill>
                  <a:srgbClr val="0D0D0D"/>
                </a:solidFill>
                <a:effectLst/>
                <a:latin typeface="-apple-system-body"/>
              </a:rPr>
              <a:t>Leave Management System </a:t>
            </a:r>
            <a:r>
              <a:rPr lang="my-MM" b="0" i="0" dirty="0">
                <a:solidFill>
                  <a:srgbClr val="0D0D0D"/>
                </a:solidFill>
                <a:effectLst/>
                <a:latin typeface="-apple-system-body"/>
              </a:rPr>
              <a:t>ကို စတင်အသုံးပြုမယ့်အချိန်ပါ။</a:t>
            </a:r>
          </a:p>
          <a:p>
            <a:pPr algn="l">
              <a:buFont typeface="+mj-lt"/>
              <a:buAutoNum type="arabicPeriod"/>
            </a:pPr>
            <a:r>
              <a:rPr lang="my-MM" b="0" i="0" dirty="0">
                <a:solidFill>
                  <a:srgbClr val="0D0D0D"/>
                </a:solidFill>
                <a:effectLst/>
                <a:latin typeface="-apple-system-body"/>
              </a:rPr>
              <a:t>⬇️</a:t>
            </a:r>
          </a:p>
          <a:p>
            <a:pPr algn="l">
              <a:buFont typeface="+mj-lt"/>
              <a:buAutoNum type="arabicPeriod"/>
            </a:pPr>
            <a:r>
              <a:rPr lang="my-MM" b="1" i="0" dirty="0">
                <a:solidFill>
                  <a:srgbClr val="0D0D0D"/>
                </a:solidFill>
                <a:effectLst/>
                <a:latin typeface="-apple-system-body"/>
              </a:rPr>
              <a:t>၂။ </a:t>
            </a:r>
            <a:r>
              <a:rPr lang="en-US" b="1" i="0" dirty="0">
                <a:solidFill>
                  <a:srgbClr val="0D0D0D"/>
                </a:solidFill>
                <a:effectLst/>
                <a:latin typeface="-apple-system-body"/>
              </a:rPr>
              <a:t>Login</a:t>
            </a:r>
          </a:p>
          <a:p>
            <a:pPr algn="l">
              <a:buFont typeface="+mj-lt"/>
              <a:buAutoNum type="arabicPeriod"/>
            </a:pPr>
            <a:r>
              <a:rPr lang="en-US" b="0" i="0" dirty="0">
                <a:solidFill>
                  <a:srgbClr val="0D0D0D"/>
                </a:solidFill>
                <a:effectLst/>
                <a:latin typeface="-apple-system-body"/>
              </a:rPr>
              <a:t>Start </a:t>
            </a:r>
            <a:r>
              <a:rPr lang="my-MM" b="0" i="0" dirty="0">
                <a:solidFill>
                  <a:srgbClr val="0D0D0D"/>
                </a:solidFill>
                <a:effectLst/>
                <a:latin typeface="-apple-system-body"/>
              </a:rPr>
              <a:t>ပြီးရင် </a:t>
            </a:r>
            <a:r>
              <a:rPr lang="en-US" b="1" i="0" dirty="0">
                <a:solidFill>
                  <a:srgbClr val="0D0D0D"/>
                </a:solidFill>
                <a:effectLst/>
                <a:latin typeface="-apple-system-body"/>
              </a:rPr>
              <a:t>Login</a:t>
            </a:r>
            <a:r>
              <a:rPr lang="en-US" b="0" i="0" dirty="0">
                <a:solidFill>
                  <a:srgbClr val="0D0D0D"/>
                </a:solidFill>
                <a:effectLst/>
                <a:latin typeface="-apple-system-body"/>
              </a:rPr>
              <a:t> </a:t>
            </a:r>
            <a:r>
              <a:rPr lang="my-MM" b="0" i="0" dirty="0">
                <a:solidFill>
                  <a:srgbClr val="0D0D0D"/>
                </a:solidFill>
                <a:effectLst/>
                <a:latin typeface="-apple-system-body"/>
              </a:rPr>
              <a:t>လုပ်ရပါတယ်။</a:t>
            </a:r>
          </a:p>
          <a:p>
            <a:pPr algn="l">
              <a:buFont typeface="+mj-lt"/>
              <a:buAutoNum type="arabicPeriod"/>
            </a:pPr>
            <a:r>
              <a:rPr lang="en-US" b="0" i="0" dirty="0">
                <a:solidFill>
                  <a:srgbClr val="0D0D0D"/>
                </a:solidFill>
                <a:effectLst/>
                <a:latin typeface="-apple-system-body"/>
              </a:rPr>
              <a:t>Staff </a:t>
            </a:r>
            <a:r>
              <a:rPr lang="my-MM" b="0" i="0" dirty="0">
                <a:solidFill>
                  <a:srgbClr val="0D0D0D"/>
                </a:solidFill>
                <a:effectLst/>
                <a:latin typeface="-apple-system-body"/>
              </a:rPr>
              <a:t>က ကိုယ့်ရဲ့—</a:t>
            </a:r>
          </a:p>
          <a:p>
            <a:pPr algn="l">
              <a:buFont typeface="+mj-lt"/>
              <a:buAutoNum type="arabicPeriod"/>
            </a:pPr>
            <a:r>
              <a:rPr lang="en-US" b="0" i="0" dirty="0">
                <a:solidFill>
                  <a:srgbClr val="0D0D0D"/>
                </a:solidFill>
                <a:effectLst/>
                <a:latin typeface="-apple-system-body"/>
              </a:rPr>
              <a:t>Email</a:t>
            </a:r>
          </a:p>
          <a:p>
            <a:pPr algn="l">
              <a:buFont typeface="+mj-lt"/>
              <a:buAutoNum type="arabicPeriod"/>
            </a:pPr>
            <a:r>
              <a:rPr lang="en-US" b="0" i="0" dirty="0">
                <a:solidFill>
                  <a:srgbClr val="0D0D0D"/>
                </a:solidFill>
                <a:effectLst/>
                <a:latin typeface="-apple-system-body"/>
              </a:rPr>
              <a:t>Password</a:t>
            </a:r>
          </a:p>
          <a:p>
            <a:pPr algn="l">
              <a:buFont typeface="+mj-lt"/>
              <a:buAutoNum type="arabicPeriod"/>
            </a:pPr>
            <a:r>
              <a:rPr lang="my-MM" b="0" i="0" dirty="0">
                <a:solidFill>
                  <a:srgbClr val="0D0D0D"/>
                </a:solidFill>
                <a:effectLst/>
                <a:latin typeface="-apple-system-body"/>
              </a:rPr>
              <a:t>ကို ထည့်ပြီး </a:t>
            </a:r>
            <a:r>
              <a:rPr lang="en-US" b="0" i="0" dirty="0">
                <a:solidFill>
                  <a:srgbClr val="0D0D0D"/>
                </a:solidFill>
                <a:effectLst/>
                <a:latin typeface="-apple-system-body"/>
              </a:rPr>
              <a:t>Login </a:t>
            </a:r>
            <a:r>
              <a:rPr lang="my-MM" b="0" i="0" dirty="0">
                <a:solidFill>
                  <a:srgbClr val="0D0D0D"/>
                </a:solidFill>
                <a:effectLst/>
                <a:latin typeface="-apple-system-body"/>
              </a:rPr>
              <a:t>ဝင်ပါတယ်။</a:t>
            </a:r>
          </a:p>
          <a:p>
            <a:pPr algn="l">
              <a:buFont typeface="+mj-lt"/>
              <a:buAutoNum type="arabicPeriod"/>
            </a:pPr>
            <a:r>
              <a:rPr lang="my-MM" b="0" i="0" dirty="0">
                <a:solidFill>
                  <a:srgbClr val="0D0D0D"/>
                </a:solidFill>
                <a:effectLst/>
                <a:latin typeface="-apple-system-body"/>
              </a:rPr>
              <a:t>⬇️</a:t>
            </a:r>
          </a:p>
          <a:p>
            <a:pPr algn="l">
              <a:buFont typeface="+mj-lt"/>
              <a:buAutoNum type="arabicPeriod"/>
            </a:pPr>
            <a:r>
              <a:rPr lang="my-MM" b="1" i="0" dirty="0">
                <a:solidFill>
                  <a:srgbClr val="0D0D0D"/>
                </a:solidFill>
                <a:effectLst/>
                <a:latin typeface="-apple-system-body"/>
              </a:rPr>
              <a:t>၃။ </a:t>
            </a:r>
            <a:r>
              <a:rPr lang="en-US" b="1" i="0" dirty="0">
                <a:solidFill>
                  <a:srgbClr val="0D0D0D"/>
                </a:solidFill>
                <a:effectLst/>
                <a:latin typeface="-apple-system-body"/>
              </a:rPr>
              <a:t>Check Email &amp; Password</a:t>
            </a:r>
          </a:p>
          <a:p>
            <a:pPr algn="l">
              <a:buFont typeface="+mj-lt"/>
              <a:buAutoNum type="arabicPeriod"/>
            </a:pPr>
            <a:r>
              <a:rPr lang="en-US" b="0" i="0" dirty="0">
                <a:solidFill>
                  <a:srgbClr val="0D0D0D"/>
                </a:solidFill>
                <a:effectLst/>
                <a:latin typeface="-apple-system-body"/>
              </a:rPr>
              <a:t>Login </a:t>
            </a:r>
            <a:r>
              <a:rPr lang="my-MM" b="0" i="0" dirty="0">
                <a:solidFill>
                  <a:srgbClr val="0D0D0D"/>
                </a:solidFill>
                <a:effectLst/>
                <a:latin typeface="-apple-system-body"/>
              </a:rPr>
              <a:t>လုပ်ပြီးတာနဲ့ </a:t>
            </a:r>
            <a:r>
              <a:rPr lang="en-US" b="0" i="0" dirty="0">
                <a:solidFill>
                  <a:srgbClr val="0D0D0D"/>
                </a:solidFill>
                <a:effectLst/>
                <a:latin typeface="-apple-system-body"/>
              </a:rPr>
              <a:t>System </a:t>
            </a:r>
            <a:r>
              <a:rPr lang="my-MM" b="0" i="0" dirty="0">
                <a:solidFill>
                  <a:srgbClr val="0D0D0D"/>
                </a:solidFill>
                <a:effectLst/>
                <a:latin typeface="-apple-system-body"/>
              </a:rPr>
              <a:t>က </a:t>
            </a:r>
            <a:r>
              <a:rPr lang="en-US" b="1" i="0" dirty="0">
                <a:solidFill>
                  <a:srgbClr val="0D0D0D"/>
                </a:solidFill>
                <a:effectLst/>
                <a:latin typeface="-apple-system-body"/>
              </a:rPr>
              <a:t>Email </a:t>
            </a:r>
            <a:r>
              <a:rPr lang="my-MM" b="1" i="0" dirty="0">
                <a:solidFill>
                  <a:srgbClr val="0D0D0D"/>
                </a:solidFill>
                <a:effectLst/>
                <a:latin typeface="-apple-system-body"/>
              </a:rPr>
              <a:t>နဲ့ </a:t>
            </a:r>
            <a:r>
              <a:rPr lang="en-US" b="1" i="0" dirty="0">
                <a:solidFill>
                  <a:srgbClr val="0D0D0D"/>
                </a:solidFill>
                <a:effectLst/>
                <a:latin typeface="-apple-system-body"/>
              </a:rPr>
              <a:t>Password </a:t>
            </a:r>
            <a:r>
              <a:rPr lang="my-MM" b="1" i="0" dirty="0">
                <a:solidFill>
                  <a:srgbClr val="0D0D0D"/>
                </a:solidFill>
                <a:effectLst/>
                <a:latin typeface="-apple-system-body"/>
              </a:rPr>
              <a:t>မှန်/မမှန် စစ်ဆေးပါတယ်</a:t>
            </a:r>
            <a:r>
              <a:rPr lang="my-MM" b="0" i="0" dirty="0">
                <a:solidFill>
                  <a:srgbClr val="0D0D0D"/>
                </a:solidFill>
                <a:effectLst/>
                <a:latin typeface="-apple-system-body"/>
              </a:rPr>
              <a:t>။</a:t>
            </a:r>
          </a:p>
          <a:p>
            <a:pPr algn="l">
              <a:buFont typeface="+mj-lt"/>
              <a:buAutoNum type="arabicPeriod"/>
            </a:pPr>
            <a:r>
              <a:rPr lang="my-MM" b="0" i="0" dirty="0">
                <a:solidFill>
                  <a:srgbClr val="0D0D0D"/>
                </a:solidFill>
                <a:effectLst/>
                <a:latin typeface="-apple-system-body"/>
              </a:rPr>
              <a:t>ဒီနေရာမှာ </a:t>
            </a:r>
            <a:r>
              <a:rPr lang="en-US" b="0" i="0" dirty="0">
                <a:solidFill>
                  <a:srgbClr val="0D0D0D"/>
                </a:solidFill>
                <a:effectLst/>
                <a:latin typeface="-apple-system-body"/>
              </a:rPr>
              <a:t>Diamond </a:t>
            </a:r>
            <a:r>
              <a:rPr lang="my-MM" b="0" i="0" dirty="0">
                <a:solidFill>
                  <a:srgbClr val="0D0D0D"/>
                </a:solidFill>
                <a:effectLst/>
                <a:latin typeface="-apple-system-body"/>
              </a:rPr>
              <a:t>ပုံစံနဲ့ </a:t>
            </a:r>
            <a:r>
              <a:rPr lang="en-US" b="0" i="0" dirty="0">
                <a:solidFill>
                  <a:srgbClr val="0D0D0D"/>
                </a:solidFill>
                <a:effectLst/>
                <a:latin typeface="-apple-system-body"/>
              </a:rPr>
              <a:t>Decision </a:t>
            </a:r>
            <a:r>
              <a:rPr lang="my-MM" b="0" i="0" dirty="0">
                <a:solidFill>
                  <a:srgbClr val="0D0D0D"/>
                </a:solidFill>
                <a:effectLst/>
                <a:latin typeface="-apple-system-body"/>
              </a:rPr>
              <a:t>ဖြစ်နေတာကို တွေ့ရပါတယ်။</a:t>
            </a:r>
          </a:p>
          <a:p>
            <a:pPr algn="l">
              <a:buFont typeface="+mj-lt"/>
              <a:buAutoNum type="arabicPeriod"/>
            </a:pPr>
            <a:r>
              <a:rPr lang="en-US" b="1" i="0" dirty="0">
                <a:solidFill>
                  <a:srgbClr val="0D0D0D"/>
                </a:solidFill>
                <a:effectLst/>
                <a:latin typeface="-apple-system-body"/>
              </a:rPr>
              <a:t>❌ No </a:t>
            </a:r>
            <a:r>
              <a:rPr lang="my-MM" b="1" i="0" dirty="0">
                <a:solidFill>
                  <a:srgbClr val="0D0D0D"/>
                </a:solidFill>
                <a:effectLst/>
                <a:latin typeface="-apple-system-body"/>
              </a:rPr>
              <a:t>ဖြစ်ရင်</a:t>
            </a:r>
          </a:p>
          <a:p>
            <a:pPr algn="l">
              <a:buFont typeface="+mj-lt"/>
              <a:buAutoNum type="arabicPeriod"/>
            </a:pPr>
            <a:r>
              <a:rPr lang="en-US" b="0" i="0" dirty="0">
                <a:solidFill>
                  <a:srgbClr val="0D0D0D"/>
                </a:solidFill>
                <a:effectLst/>
                <a:latin typeface="-apple-system-body"/>
              </a:rPr>
              <a:t>Email </a:t>
            </a:r>
            <a:r>
              <a:rPr lang="my-MM" b="0" i="0" dirty="0">
                <a:solidFill>
                  <a:srgbClr val="0D0D0D"/>
                </a:solidFill>
                <a:effectLst/>
                <a:latin typeface="-apple-system-body"/>
              </a:rPr>
              <a:t>ဒါမှမဟုတ် </a:t>
            </a:r>
            <a:r>
              <a:rPr lang="en-US" b="0" i="0" dirty="0">
                <a:solidFill>
                  <a:srgbClr val="0D0D0D"/>
                </a:solidFill>
                <a:effectLst/>
                <a:latin typeface="-apple-system-body"/>
              </a:rPr>
              <a:t>Password </a:t>
            </a:r>
            <a:r>
              <a:rPr lang="my-MM" b="1" i="0" dirty="0">
                <a:solidFill>
                  <a:srgbClr val="0D0D0D"/>
                </a:solidFill>
                <a:effectLst/>
                <a:latin typeface="-apple-system-body"/>
              </a:rPr>
              <a:t>မမှန်ဘူး</a:t>
            </a:r>
            <a:r>
              <a:rPr lang="my-MM" b="0" i="0" dirty="0">
                <a:solidFill>
                  <a:srgbClr val="0D0D0D"/>
                </a:solidFill>
                <a:effectLst/>
                <a:latin typeface="-apple-system-body"/>
              </a:rPr>
              <a:t> ဆိုရင်—</a:t>
            </a:r>
          </a:p>
          <a:p>
            <a:pPr algn="l">
              <a:buFont typeface="+mj-lt"/>
              <a:buAutoNum type="arabicPeriod"/>
            </a:pPr>
            <a:r>
              <a:rPr lang="en-US" b="1" i="0" dirty="0">
                <a:solidFill>
                  <a:srgbClr val="0D0D0D"/>
                </a:solidFill>
                <a:effectLst/>
                <a:latin typeface="-apple-system-body"/>
              </a:rPr>
              <a:t>No → Login </a:t>
            </a:r>
            <a:r>
              <a:rPr lang="my-MM" b="1" i="0" dirty="0">
                <a:solidFill>
                  <a:srgbClr val="0D0D0D"/>
                </a:solidFill>
                <a:effectLst/>
                <a:latin typeface="-apple-system-body"/>
              </a:rPr>
              <a:t>ကို ပြန်သွားမယ်</a:t>
            </a:r>
            <a:endParaRPr lang="my-MM" b="0" i="0" dirty="0">
              <a:solidFill>
                <a:srgbClr val="0D0D0D"/>
              </a:solidFill>
              <a:effectLst/>
              <a:latin typeface="-apple-system-body"/>
            </a:endParaRPr>
          </a:p>
          <a:p>
            <a:pPr algn="l">
              <a:buFont typeface="+mj-lt"/>
              <a:buAutoNum type="arabicPeriod"/>
            </a:pPr>
            <a:r>
              <a:rPr lang="my-MM" b="0" i="0" dirty="0">
                <a:solidFill>
                  <a:srgbClr val="0D0D0D"/>
                </a:solidFill>
                <a:effectLst/>
                <a:latin typeface="-apple-system-body"/>
              </a:rPr>
              <a:t>ဆိုတဲ့ </a:t>
            </a:r>
            <a:r>
              <a:rPr lang="en-US" b="0" i="0" dirty="0">
                <a:solidFill>
                  <a:srgbClr val="0D0D0D"/>
                </a:solidFill>
                <a:effectLst/>
                <a:latin typeface="-apple-system-body"/>
              </a:rPr>
              <a:t>Flow </a:t>
            </a:r>
            <a:r>
              <a:rPr lang="my-MM" b="0" i="0" dirty="0">
                <a:solidFill>
                  <a:srgbClr val="0D0D0D"/>
                </a:solidFill>
                <a:effectLst/>
                <a:latin typeface="-apple-system-body"/>
              </a:rPr>
              <a:t>ဖြစ်ပါတယ်။</a:t>
            </a:r>
          </a:p>
          <a:p>
            <a:pPr algn="l">
              <a:buFont typeface="+mj-lt"/>
              <a:buAutoNum type="arabicPeriod"/>
            </a:pPr>
            <a:r>
              <a:rPr lang="my-MM" b="0" i="0" dirty="0">
                <a:solidFill>
                  <a:srgbClr val="0D0D0D"/>
                </a:solidFill>
                <a:effectLst/>
                <a:latin typeface="-apple-system-body"/>
              </a:rPr>
              <a:t>အလွယ်ပြောရရင်—</a:t>
            </a:r>
          </a:p>
          <a:p>
            <a:pPr algn="l">
              <a:buFont typeface="+mj-lt"/>
              <a:buAutoNum type="arabicPeriod"/>
            </a:pPr>
            <a:r>
              <a:rPr lang="my-MM" b="0" i="0" dirty="0">
                <a:solidFill>
                  <a:srgbClr val="0D0D0D"/>
                </a:solidFill>
                <a:effectLst/>
                <a:latin typeface="-apple-system-body"/>
              </a:rPr>
              <a:t>“</a:t>
            </a:r>
            <a:r>
              <a:rPr lang="en-US" b="0" i="0" dirty="0">
                <a:solidFill>
                  <a:srgbClr val="0D0D0D"/>
                </a:solidFill>
                <a:effectLst/>
                <a:latin typeface="-apple-system-body"/>
              </a:rPr>
              <a:t>Password </a:t>
            </a:r>
            <a:r>
              <a:rPr lang="my-MM" b="0" i="0" dirty="0">
                <a:solidFill>
                  <a:srgbClr val="0D0D0D"/>
                </a:solidFill>
                <a:effectLst/>
                <a:latin typeface="-apple-system-body"/>
              </a:rPr>
              <a:t>မှားနေတယ်၊ </a:t>
            </a:r>
            <a:r>
              <a:rPr lang="en-US" b="0" i="0" dirty="0">
                <a:solidFill>
                  <a:srgbClr val="0D0D0D"/>
                </a:solidFill>
                <a:effectLst/>
                <a:latin typeface="-apple-system-body"/>
              </a:rPr>
              <a:t>Login </a:t>
            </a:r>
            <a:r>
              <a:rPr lang="my-MM" b="0" i="0" dirty="0">
                <a:solidFill>
                  <a:srgbClr val="0D0D0D"/>
                </a:solidFill>
                <a:effectLst/>
                <a:latin typeface="-apple-system-body"/>
              </a:rPr>
              <a:t>ထပ်လုပ်ပါ”</a:t>
            </a:r>
          </a:p>
          <a:p>
            <a:pPr algn="l">
              <a:buFont typeface="+mj-lt"/>
              <a:buAutoNum type="arabicPeriod"/>
            </a:pPr>
            <a:r>
              <a:rPr lang="my-MM" b="0" i="0" dirty="0">
                <a:solidFill>
                  <a:srgbClr val="0D0D0D"/>
                </a:solidFill>
                <a:effectLst/>
                <a:latin typeface="-apple-system-body"/>
              </a:rPr>
              <a:t>ဆိုတဲ့သဘောပါ။</a:t>
            </a:r>
          </a:p>
          <a:p>
            <a:pPr algn="l">
              <a:buFont typeface="+mj-lt"/>
              <a:buAutoNum type="arabicPeriod"/>
            </a:pPr>
            <a:r>
              <a:rPr lang="my-MM" b="0" i="0" dirty="0">
                <a:solidFill>
                  <a:srgbClr val="0D0D0D"/>
                </a:solidFill>
                <a:effectLst/>
                <a:latin typeface="-apple-system-body"/>
              </a:rPr>
              <a:t>ဒါကြောင့် </a:t>
            </a:r>
            <a:r>
              <a:rPr lang="en-US" b="0" i="0" dirty="0">
                <a:solidFill>
                  <a:srgbClr val="0D0D0D"/>
                </a:solidFill>
                <a:effectLst/>
                <a:latin typeface="-apple-system-body"/>
              </a:rPr>
              <a:t>Staff </a:t>
            </a:r>
            <a:r>
              <a:rPr lang="my-MM" b="0" i="0" dirty="0">
                <a:solidFill>
                  <a:srgbClr val="0D0D0D"/>
                </a:solidFill>
                <a:effectLst/>
                <a:latin typeface="-apple-system-body"/>
              </a:rPr>
              <a:t>က </a:t>
            </a:r>
            <a:r>
              <a:rPr lang="en-US" b="0" i="0" dirty="0">
                <a:solidFill>
                  <a:srgbClr val="0D0D0D"/>
                </a:solidFill>
                <a:effectLst/>
                <a:latin typeface="-apple-system-body"/>
              </a:rPr>
              <a:t>Email/Password </a:t>
            </a:r>
            <a:r>
              <a:rPr lang="my-MM" b="0" i="0" dirty="0">
                <a:solidFill>
                  <a:srgbClr val="0D0D0D"/>
                </a:solidFill>
                <a:effectLst/>
                <a:latin typeface="-apple-system-body"/>
              </a:rPr>
              <a:t>မှန်တဲ့အထိ </a:t>
            </a:r>
            <a:r>
              <a:rPr lang="en-US" b="0" i="0" dirty="0">
                <a:solidFill>
                  <a:srgbClr val="0D0D0D"/>
                </a:solidFill>
                <a:effectLst/>
                <a:latin typeface="-apple-system-body"/>
              </a:rPr>
              <a:t>Login </a:t>
            </a:r>
            <a:r>
              <a:rPr lang="my-MM" b="0" i="0" dirty="0">
                <a:solidFill>
                  <a:srgbClr val="0D0D0D"/>
                </a:solidFill>
                <a:effectLst/>
                <a:latin typeface="-apple-system-body"/>
              </a:rPr>
              <a:t>ပြန်လုပ်ရပါမယ်။</a:t>
            </a:r>
          </a:p>
          <a:p>
            <a:pPr algn="l">
              <a:buFont typeface="+mj-lt"/>
              <a:buAutoNum type="arabicPeriod"/>
            </a:pPr>
            <a:r>
              <a:rPr lang="en-US" b="1" i="0" dirty="0">
                <a:solidFill>
                  <a:srgbClr val="0D0D0D"/>
                </a:solidFill>
                <a:effectLst/>
                <a:latin typeface="-apple-system-body"/>
              </a:rPr>
              <a:t>✅ Yes </a:t>
            </a:r>
            <a:r>
              <a:rPr lang="my-MM" b="1" i="0" dirty="0">
                <a:solidFill>
                  <a:srgbClr val="0D0D0D"/>
                </a:solidFill>
                <a:effectLst/>
                <a:latin typeface="-apple-system-body"/>
              </a:rPr>
              <a:t>ဖြစ်ရင်</a:t>
            </a:r>
          </a:p>
          <a:p>
            <a:pPr algn="l">
              <a:buFont typeface="+mj-lt"/>
              <a:buAutoNum type="arabicPeriod"/>
            </a:pPr>
            <a:r>
              <a:rPr lang="en-US" b="0" i="0" dirty="0">
                <a:solidFill>
                  <a:srgbClr val="0D0D0D"/>
                </a:solidFill>
                <a:effectLst/>
                <a:latin typeface="-apple-system-body"/>
              </a:rPr>
              <a:t>Email </a:t>
            </a:r>
            <a:r>
              <a:rPr lang="my-MM" b="0" i="0" dirty="0">
                <a:solidFill>
                  <a:srgbClr val="0D0D0D"/>
                </a:solidFill>
                <a:effectLst/>
                <a:latin typeface="-apple-system-body"/>
              </a:rPr>
              <a:t>နဲ့ </a:t>
            </a:r>
            <a:r>
              <a:rPr lang="en-US" b="0" i="0" dirty="0">
                <a:solidFill>
                  <a:srgbClr val="0D0D0D"/>
                </a:solidFill>
                <a:effectLst/>
                <a:latin typeface="-apple-system-body"/>
              </a:rPr>
              <a:t>Password </a:t>
            </a:r>
            <a:r>
              <a:rPr lang="my-MM" b="1" i="0" dirty="0">
                <a:solidFill>
                  <a:srgbClr val="0D0D0D"/>
                </a:solidFill>
                <a:effectLst/>
                <a:latin typeface="-apple-system-body"/>
              </a:rPr>
              <a:t>မှန်တယ်</a:t>
            </a:r>
            <a:r>
              <a:rPr lang="my-MM" b="0" i="0" dirty="0">
                <a:solidFill>
                  <a:srgbClr val="0D0D0D"/>
                </a:solidFill>
                <a:effectLst/>
                <a:latin typeface="-apple-system-body"/>
              </a:rPr>
              <a:t> ဆိုရင်—</a:t>
            </a:r>
          </a:p>
          <a:p>
            <a:pPr algn="l">
              <a:buFont typeface="+mj-lt"/>
              <a:buAutoNum type="arabicPeriod"/>
            </a:pPr>
            <a:r>
              <a:rPr lang="en-US" b="1" i="0" dirty="0">
                <a:solidFill>
                  <a:srgbClr val="0D0D0D"/>
                </a:solidFill>
                <a:effectLst/>
                <a:latin typeface="-apple-system-body"/>
              </a:rPr>
              <a:t>Yes → Staff Home Page</a:t>
            </a:r>
            <a:endParaRPr lang="en-US" b="0" i="0" dirty="0">
              <a:solidFill>
                <a:srgbClr val="0D0D0D"/>
              </a:solidFill>
              <a:effectLst/>
              <a:latin typeface="-apple-system-body"/>
            </a:endParaRPr>
          </a:p>
          <a:p>
            <a:pPr algn="l">
              <a:buFont typeface="+mj-lt"/>
              <a:buAutoNum type="arabicPeriod"/>
            </a:pPr>
            <a:r>
              <a:rPr lang="my-MM" b="0" i="0" dirty="0">
                <a:solidFill>
                  <a:srgbClr val="0D0D0D"/>
                </a:solidFill>
                <a:effectLst/>
                <a:latin typeface="-apple-system-body"/>
              </a:rPr>
              <a:t>ကို ရောက်သွားပါတယ်။</a:t>
            </a:r>
          </a:p>
          <a:p>
            <a:pPr algn="l">
              <a:buFont typeface="+mj-lt"/>
              <a:buAutoNum type="arabicPeriod"/>
            </a:pPr>
            <a:r>
              <a:rPr lang="my-MM" b="0" i="0" dirty="0">
                <a:solidFill>
                  <a:srgbClr val="0D0D0D"/>
                </a:solidFill>
                <a:effectLst/>
                <a:latin typeface="-apple-system-body"/>
              </a:rPr>
              <a:t>ဒါက </a:t>
            </a:r>
            <a:r>
              <a:rPr lang="en-US" b="0" i="0" dirty="0">
                <a:solidFill>
                  <a:srgbClr val="0D0D0D"/>
                </a:solidFill>
                <a:effectLst/>
                <a:latin typeface="-apple-system-body"/>
              </a:rPr>
              <a:t>Staff </a:t>
            </a:r>
            <a:r>
              <a:rPr lang="my-MM" b="0" i="0" dirty="0">
                <a:solidFill>
                  <a:srgbClr val="0D0D0D"/>
                </a:solidFill>
                <a:effectLst/>
                <a:latin typeface="-apple-system-body"/>
              </a:rPr>
              <a:t>အတွက် </a:t>
            </a:r>
            <a:r>
              <a:rPr lang="en-US" b="0" i="0" dirty="0">
                <a:solidFill>
                  <a:srgbClr val="0D0D0D"/>
                </a:solidFill>
                <a:effectLst/>
                <a:latin typeface="-apple-system-body"/>
              </a:rPr>
              <a:t>Main Page </a:t>
            </a:r>
            <a:r>
              <a:rPr lang="my-MM" b="0" i="0" dirty="0">
                <a:solidFill>
                  <a:srgbClr val="0D0D0D"/>
                </a:solidFill>
                <a:effectLst/>
                <a:latin typeface="-apple-system-body"/>
              </a:rPr>
              <a:t>ဖြစ်ပါတယ်။</a:t>
            </a:r>
          </a:p>
          <a:p>
            <a:pPr algn="l">
              <a:buFont typeface="+mj-lt"/>
              <a:buAutoNum type="arabicPeriod"/>
            </a:pPr>
            <a:r>
              <a:rPr lang="my-MM" b="1" i="0" dirty="0">
                <a:solidFill>
                  <a:srgbClr val="0D0D0D"/>
                </a:solidFill>
                <a:effectLst/>
                <a:latin typeface="-apple-system-body"/>
              </a:rPr>
              <a:t>၄။ </a:t>
            </a:r>
            <a:r>
              <a:rPr lang="en-US" b="1" i="0" dirty="0">
                <a:solidFill>
                  <a:srgbClr val="0D0D0D"/>
                </a:solidFill>
                <a:effectLst/>
                <a:latin typeface="-apple-system-body"/>
              </a:rPr>
              <a:t>Staff Home Page</a:t>
            </a:r>
          </a:p>
          <a:p>
            <a:pPr algn="l">
              <a:buFont typeface="+mj-lt"/>
              <a:buAutoNum type="arabicPeriod"/>
            </a:pPr>
            <a:r>
              <a:rPr lang="en-US" b="0" i="0" dirty="0">
                <a:solidFill>
                  <a:srgbClr val="0D0D0D"/>
                </a:solidFill>
                <a:effectLst/>
                <a:latin typeface="-apple-system-body"/>
              </a:rPr>
              <a:t>Staff Home Page </a:t>
            </a:r>
            <a:r>
              <a:rPr lang="my-MM" b="0" i="0" dirty="0">
                <a:solidFill>
                  <a:srgbClr val="0D0D0D"/>
                </a:solidFill>
                <a:effectLst/>
                <a:latin typeface="-apple-system-body"/>
              </a:rPr>
              <a:t>ရောက်သွားရင် </a:t>
            </a:r>
            <a:r>
              <a:rPr lang="en-US" b="0" i="0" dirty="0">
                <a:solidFill>
                  <a:srgbClr val="0D0D0D"/>
                </a:solidFill>
                <a:effectLst/>
                <a:latin typeface="-apple-system-body"/>
              </a:rPr>
              <a:t>Staff </a:t>
            </a:r>
            <a:r>
              <a:rPr lang="my-MM" b="0" i="0" dirty="0">
                <a:solidFill>
                  <a:srgbClr val="0D0D0D"/>
                </a:solidFill>
                <a:effectLst/>
                <a:latin typeface="-apple-system-body"/>
              </a:rPr>
              <a:t>အနေနဲ့ လုပ်ဆောင်ချက် </a:t>
            </a:r>
            <a:r>
              <a:rPr lang="my-MM" b="1" i="0" dirty="0">
                <a:solidFill>
                  <a:srgbClr val="0D0D0D"/>
                </a:solidFill>
                <a:effectLst/>
                <a:latin typeface="-apple-system-body"/>
              </a:rPr>
              <a:t>၄ ခု</a:t>
            </a:r>
            <a:r>
              <a:rPr lang="my-MM" b="0" i="0" dirty="0">
                <a:solidFill>
                  <a:srgbClr val="0D0D0D"/>
                </a:solidFill>
                <a:effectLst/>
                <a:latin typeface="-apple-system-body"/>
              </a:rPr>
              <a:t> ရှိပါတယ်။</a:t>
            </a:r>
          </a:p>
          <a:p>
            <a:pPr algn="l">
              <a:buFont typeface="+mj-lt"/>
              <a:buAutoNum type="arabicPeriod"/>
            </a:pPr>
            <a:r>
              <a:rPr lang="my-MM" b="1" i="0" dirty="0">
                <a:solidFill>
                  <a:srgbClr val="0D0D0D"/>
                </a:solidFill>
                <a:effectLst/>
                <a:latin typeface="-apple-system-body"/>
              </a:rPr>
              <a:t>① </a:t>
            </a:r>
            <a:r>
              <a:rPr lang="en-US" b="1" i="0" dirty="0">
                <a:solidFill>
                  <a:srgbClr val="0D0D0D"/>
                </a:solidFill>
                <a:effectLst/>
                <a:latin typeface="-apple-system-body"/>
              </a:rPr>
              <a:t>View Dashboard</a:t>
            </a:r>
          </a:p>
          <a:p>
            <a:pPr algn="l">
              <a:buFont typeface="+mj-lt"/>
              <a:buAutoNum type="arabicPeriod"/>
            </a:pPr>
            <a:r>
              <a:rPr lang="en-US" b="1" i="0" dirty="0">
                <a:solidFill>
                  <a:srgbClr val="0D0D0D"/>
                </a:solidFill>
                <a:effectLst/>
                <a:latin typeface="-apple-system-body"/>
              </a:rPr>
              <a:t>View Dashboard</a:t>
            </a:r>
            <a:r>
              <a:rPr lang="en-US" b="0" i="0" dirty="0">
                <a:solidFill>
                  <a:srgbClr val="0D0D0D"/>
                </a:solidFill>
                <a:effectLst/>
                <a:latin typeface="-apple-system-body"/>
              </a:rPr>
              <a:t> </a:t>
            </a:r>
            <a:r>
              <a:rPr lang="my-MM" b="0" i="0" dirty="0">
                <a:solidFill>
                  <a:srgbClr val="0D0D0D"/>
                </a:solidFill>
                <a:effectLst/>
                <a:latin typeface="-apple-system-body"/>
              </a:rPr>
              <a:t>ကိုနှိပ်ပြီး </a:t>
            </a:r>
            <a:r>
              <a:rPr lang="en-US" b="0" i="0" dirty="0">
                <a:solidFill>
                  <a:srgbClr val="0D0D0D"/>
                </a:solidFill>
                <a:effectLst/>
                <a:latin typeface="-apple-system-body"/>
              </a:rPr>
              <a:t>Dashboard </a:t>
            </a:r>
            <a:r>
              <a:rPr lang="my-MM" b="0" i="0" dirty="0">
                <a:solidFill>
                  <a:srgbClr val="0D0D0D"/>
                </a:solidFill>
                <a:effectLst/>
                <a:latin typeface="-apple-system-body"/>
              </a:rPr>
              <a:t>ကို ကြည့်နိုင်ပါတယ်။</a:t>
            </a:r>
          </a:p>
          <a:p>
            <a:pPr algn="l">
              <a:buFont typeface="+mj-lt"/>
              <a:buAutoNum type="arabicPeriod"/>
            </a:pPr>
            <a:r>
              <a:rPr lang="en-US" b="0" i="0" dirty="0">
                <a:solidFill>
                  <a:srgbClr val="0D0D0D"/>
                </a:solidFill>
                <a:effectLst/>
                <a:latin typeface="-apple-system-body"/>
              </a:rPr>
              <a:t>Dashboard </a:t>
            </a:r>
            <a:r>
              <a:rPr lang="my-MM" b="0" i="0" dirty="0">
                <a:solidFill>
                  <a:srgbClr val="0D0D0D"/>
                </a:solidFill>
                <a:effectLst/>
                <a:latin typeface="-apple-system-body"/>
              </a:rPr>
              <a:t>မှာ </a:t>
            </a:r>
            <a:r>
              <a:rPr lang="en-US" b="0" i="0" dirty="0">
                <a:solidFill>
                  <a:srgbClr val="0D0D0D"/>
                </a:solidFill>
                <a:effectLst/>
                <a:latin typeface="-apple-system-body"/>
              </a:rPr>
              <a:t>Staff </a:t>
            </a:r>
            <a:r>
              <a:rPr lang="my-MM" b="0" i="0" dirty="0">
                <a:solidFill>
                  <a:srgbClr val="0D0D0D"/>
                </a:solidFill>
                <a:effectLst/>
                <a:latin typeface="-apple-system-body"/>
              </a:rPr>
              <a:t>ရဲ့ </a:t>
            </a:r>
            <a:r>
              <a:rPr lang="en-US" b="0" i="0" dirty="0">
                <a:solidFill>
                  <a:srgbClr val="0D0D0D"/>
                </a:solidFill>
                <a:effectLst/>
                <a:latin typeface="-apple-system-body"/>
              </a:rPr>
              <a:t>Leave information </a:t>
            </a:r>
            <a:r>
              <a:rPr lang="my-MM" b="0" i="0" dirty="0">
                <a:solidFill>
                  <a:srgbClr val="0D0D0D"/>
                </a:solidFill>
                <a:effectLst/>
                <a:latin typeface="-apple-system-body"/>
              </a:rPr>
              <a:t>စတာတွေကို အကျဉ်းချုပ်ကြည့်နိုင်ပါတယ်။</a:t>
            </a:r>
          </a:p>
          <a:p>
            <a:pPr algn="l">
              <a:buFont typeface="+mj-lt"/>
              <a:buAutoNum type="arabicPeriod"/>
            </a:pPr>
            <a:r>
              <a:rPr lang="my-MM" b="1" i="0" dirty="0">
                <a:solidFill>
                  <a:srgbClr val="0D0D0D"/>
                </a:solidFill>
                <a:effectLst/>
                <a:latin typeface="-apple-system-body"/>
              </a:rPr>
              <a:t>② </a:t>
            </a:r>
            <a:r>
              <a:rPr lang="en-US" b="1" i="0" dirty="0">
                <a:solidFill>
                  <a:srgbClr val="0D0D0D"/>
                </a:solidFill>
                <a:effectLst/>
                <a:latin typeface="-apple-system-body"/>
              </a:rPr>
              <a:t>Apply Leave Request</a:t>
            </a:r>
          </a:p>
          <a:p>
            <a:pPr algn="l">
              <a:buFont typeface="+mj-lt"/>
              <a:buAutoNum type="arabicPeriod"/>
            </a:pPr>
            <a:r>
              <a:rPr lang="en-US" b="0" i="0" dirty="0">
                <a:solidFill>
                  <a:srgbClr val="0D0D0D"/>
                </a:solidFill>
                <a:effectLst/>
                <a:latin typeface="-apple-system-body"/>
              </a:rPr>
              <a:t>Staff </a:t>
            </a:r>
            <a:r>
              <a:rPr lang="my-MM" b="0" i="0" dirty="0">
                <a:solidFill>
                  <a:srgbClr val="0D0D0D"/>
                </a:solidFill>
                <a:effectLst/>
                <a:latin typeface="-apple-system-body"/>
              </a:rPr>
              <a:t>က </a:t>
            </a:r>
            <a:r>
              <a:rPr lang="en-US" b="0" i="0" dirty="0">
                <a:solidFill>
                  <a:srgbClr val="0D0D0D"/>
                </a:solidFill>
                <a:effectLst/>
                <a:latin typeface="-apple-system-body"/>
              </a:rPr>
              <a:t>Leave </a:t>
            </a:r>
            <a:r>
              <a:rPr lang="my-MM" b="0" i="0" dirty="0">
                <a:solidFill>
                  <a:srgbClr val="0D0D0D"/>
                </a:solidFill>
                <a:effectLst/>
                <a:latin typeface="-apple-system-body"/>
              </a:rPr>
              <a:t>ယူချင်ရင်—</a:t>
            </a:r>
          </a:p>
          <a:p>
            <a:pPr algn="l">
              <a:buFont typeface="+mj-lt"/>
              <a:buAutoNum type="arabicPeriod"/>
            </a:pPr>
            <a:r>
              <a:rPr lang="en-US" b="1" i="0" dirty="0">
                <a:solidFill>
                  <a:srgbClr val="0D0D0D"/>
                </a:solidFill>
                <a:effectLst/>
                <a:latin typeface="-apple-system-body"/>
              </a:rPr>
              <a:t>Apply Leave Request</a:t>
            </a:r>
            <a:endParaRPr lang="en-US" b="0" i="0" dirty="0">
              <a:solidFill>
                <a:srgbClr val="0D0D0D"/>
              </a:solidFill>
              <a:effectLst/>
              <a:latin typeface="-apple-system-body"/>
            </a:endParaRPr>
          </a:p>
          <a:p>
            <a:pPr algn="l">
              <a:buFont typeface="+mj-lt"/>
              <a:buAutoNum type="arabicPeriod"/>
            </a:pPr>
            <a:r>
              <a:rPr lang="my-MM" b="0" i="0" dirty="0">
                <a:solidFill>
                  <a:srgbClr val="0D0D0D"/>
                </a:solidFill>
                <a:effectLst/>
                <a:latin typeface="-apple-system-body"/>
              </a:rPr>
              <a:t>ကို အသုံးပြုပါတယ်။</a:t>
            </a:r>
          </a:p>
          <a:p>
            <a:pPr algn="l">
              <a:buFont typeface="+mj-lt"/>
              <a:buAutoNum type="arabicPeriod"/>
            </a:pPr>
            <a:r>
              <a:rPr lang="my-MM" b="0" i="0" dirty="0">
                <a:solidFill>
                  <a:srgbClr val="0D0D0D"/>
                </a:solidFill>
                <a:effectLst/>
                <a:latin typeface="-apple-system-body"/>
              </a:rPr>
              <a:t>ဥပမာ—</a:t>
            </a:r>
          </a:p>
          <a:p>
            <a:pPr algn="l">
              <a:buFont typeface="+mj-lt"/>
              <a:buAutoNum type="arabicPeriod"/>
            </a:pPr>
            <a:r>
              <a:rPr lang="my-MM" b="0" i="0" dirty="0">
                <a:solidFill>
                  <a:srgbClr val="0D0D0D"/>
                </a:solidFill>
                <a:effectLst/>
                <a:latin typeface="-apple-system-body"/>
              </a:rPr>
              <a:t>“နောက်အပတ် </a:t>
            </a:r>
            <a:r>
              <a:rPr lang="en-US" b="0" i="0" dirty="0">
                <a:solidFill>
                  <a:srgbClr val="0D0D0D"/>
                </a:solidFill>
                <a:effectLst/>
                <a:latin typeface="-apple-system-body"/>
              </a:rPr>
              <a:t>Monday </a:t>
            </a:r>
            <a:r>
              <a:rPr lang="my-MM" b="0" i="0" dirty="0">
                <a:solidFill>
                  <a:srgbClr val="0D0D0D"/>
                </a:solidFill>
                <a:effectLst/>
                <a:latin typeface="-apple-system-body"/>
              </a:rPr>
              <a:t>မှာ </a:t>
            </a:r>
            <a:r>
              <a:rPr lang="en-US" b="0" i="0" dirty="0">
                <a:solidFill>
                  <a:srgbClr val="0D0D0D"/>
                </a:solidFill>
                <a:effectLst/>
                <a:latin typeface="-apple-system-body"/>
              </a:rPr>
              <a:t>Annual Leave </a:t>
            </a:r>
            <a:r>
              <a:rPr lang="my-MM" b="0" i="0" dirty="0">
                <a:solidFill>
                  <a:srgbClr val="0D0D0D"/>
                </a:solidFill>
                <a:effectLst/>
                <a:latin typeface="-apple-system-body"/>
              </a:rPr>
              <a:t>ယူချင်တယ်”</a:t>
            </a:r>
          </a:p>
          <a:p>
            <a:pPr algn="l">
              <a:buFont typeface="+mj-lt"/>
              <a:buAutoNum type="arabicPeriod"/>
            </a:pPr>
            <a:r>
              <a:rPr lang="my-MM" b="0" i="0" dirty="0">
                <a:solidFill>
                  <a:srgbClr val="0D0D0D"/>
                </a:solidFill>
                <a:effectLst/>
                <a:latin typeface="-apple-system-body"/>
              </a:rPr>
              <a:t>ဆိုရင် </a:t>
            </a:r>
            <a:r>
              <a:rPr lang="en-US" b="0" i="0" dirty="0">
                <a:solidFill>
                  <a:srgbClr val="0D0D0D"/>
                </a:solidFill>
                <a:effectLst/>
                <a:latin typeface="-apple-system-body"/>
              </a:rPr>
              <a:t>Leave Request </a:t>
            </a:r>
            <a:r>
              <a:rPr lang="my-MM" b="0" i="0" dirty="0">
                <a:solidFill>
                  <a:srgbClr val="0D0D0D"/>
                </a:solidFill>
                <a:effectLst/>
                <a:latin typeface="-apple-system-body"/>
              </a:rPr>
              <a:t>တင်နိုင်ပါတယ်။</a:t>
            </a:r>
          </a:p>
          <a:p>
            <a:pPr algn="l">
              <a:buFont typeface="+mj-lt"/>
              <a:buAutoNum type="arabicPeriod"/>
            </a:pPr>
            <a:r>
              <a:rPr lang="my-MM" b="1" i="0" dirty="0">
                <a:solidFill>
                  <a:srgbClr val="0D0D0D"/>
                </a:solidFill>
                <a:effectLst/>
                <a:latin typeface="-apple-system-body"/>
              </a:rPr>
              <a:t>③ </a:t>
            </a:r>
            <a:r>
              <a:rPr lang="en-US" b="1" i="0" dirty="0">
                <a:solidFill>
                  <a:srgbClr val="0D0D0D"/>
                </a:solidFill>
                <a:effectLst/>
                <a:latin typeface="-apple-system-body"/>
              </a:rPr>
              <a:t>View Leave History</a:t>
            </a:r>
          </a:p>
          <a:p>
            <a:pPr algn="l">
              <a:buFont typeface="+mj-lt"/>
              <a:buAutoNum type="arabicPeriod"/>
            </a:pPr>
            <a:r>
              <a:rPr lang="en-US" b="1" i="0" dirty="0">
                <a:solidFill>
                  <a:srgbClr val="0D0D0D"/>
                </a:solidFill>
                <a:effectLst/>
                <a:latin typeface="-apple-system-body"/>
              </a:rPr>
              <a:t>View Leave History</a:t>
            </a:r>
            <a:r>
              <a:rPr lang="en-US" b="0" i="0" dirty="0">
                <a:solidFill>
                  <a:srgbClr val="0D0D0D"/>
                </a:solidFill>
                <a:effectLst/>
                <a:latin typeface="-apple-system-body"/>
              </a:rPr>
              <a:t> </a:t>
            </a:r>
            <a:r>
              <a:rPr lang="my-MM" b="0" i="0" dirty="0">
                <a:solidFill>
                  <a:srgbClr val="0D0D0D"/>
                </a:solidFill>
                <a:effectLst/>
                <a:latin typeface="-apple-system-body"/>
              </a:rPr>
              <a:t>ကတော့ </a:t>
            </a:r>
            <a:r>
              <a:rPr lang="en-US" b="0" i="0" dirty="0">
                <a:solidFill>
                  <a:srgbClr val="0D0D0D"/>
                </a:solidFill>
                <a:effectLst/>
                <a:latin typeface="-apple-system-body"/>
              </a:rPr>
              <a:t>Staff </a:t>
            </a:r>
            <a:r>
              <a:rPr lang="my-MM" b="0" i="0" dirty="0">
                <a:solidFill>
                  <a:srgbClr val="0D0D0D"/>
                </a:solidFill>
                <a:effectLst/>
                <a:latin typeface="-apple-system-body"/>
              </a:rPr>
              <a:t>အရင်တုန်းက တင်ခဲ့တဲ့ </a:t>
            </a:r>
            <a:r>
              <a:rPr lang="en-US" b="0" i="0" dirty="0">
                <a:solidFill>
                  <a:srgbClr val="0D0D0D"/>
                </a:solidFill>
                <a:effectLst/>
                <a:latin typeface="-apple-system-body"/>
              </a:rPr>
              <a:t>Leave Request </a:t>
            </a:r>
            <a:r>
              <a:rPr lang="my-MM" b="0" i="0" dirty="0">
                <a:solidFill>
                  <a:srgbClr val="0D0D0D"/>
                </a:solidFill>
                <a:effectLst/>
                <a:latin typeface="-apple-system-body"/>
              </a:rPr>
              <a:t>တွေကို ပြန်ကြည့်ဖို့ပါ။</a:t>
            </a:r>
          </a:p>
          <a:p>
            <a:pPr algn="l">
              <a:buFont typeface="+mj-lt"/>
              <a:buAutoNum type="arabicPeriod"/>
            </a:pPr>
            <a:r>
              <a:rPr lang="my-MM" b="0" i="0" dirty="0">
                <a:solidFill>
                  <a:srgbClr val="0D0D0D"/>
                </a:solidFill>
                <a:effectLst/>
                <a:latin typeface="-apple-system-body"/>
              </a:rPr>
              <a:t>ဥပမာ—</a:t>
            </a:r>
          </a:p>
          <a:p>
            <a:pPr algn="l">
              <a:buFont typeface="+mj-lt"/>
              <a:buAutoNum type="arabicPeriod"/>
            </a:pPr>
            <a:r>
              <a:rPr lang="my-MM" b="0" i="0" dirty="0">
                <a:solidFill>
                  <a:srgbClr val="0D0D0D"/>
                </a:solidFill>
                <a:effectLst/>
                <a:latin typeface="-apple-system-body"/>
              </a:rPr>
              <a:t>ဘယ်နေ့ </a:t>
            </a:r>
            <a:r>
              <a:rPr lang="en-US" b="0" i="0" dirty="0">
                <a:solidFill>
                  <a:srgbClr val="0D0D0D"/>
                </a:solidFill>
                <a:effectLst/>
                <a:latin typeface="-apple-system-body"/>
              </a:rPr>
              <a:t>Leave </a:t>
            </a:r>
            <a:r>
              <a:rPr lang="my-MM" b="0" i="0" dirty="0">
                <a:solidFill>
                  <a:srgbClr val="0D0D0D"/>
                </a:solidFill>
                <a:effectLst/>
                <a:latin typeface="-apple-system-body"/>
              </a:rPr>
              <a:t>တောင်းခဲ့လဲ</a:t>
            </a:r>
          </a:p>
          <a:p>
            <a:pPr algn="l">
              <a:buFont typeface="+mj-lt"/>
              <a:buAutoNum type="arabicPeriod"/>
            </a:pPr>
            <a:r>
              <a:rPr lang="my-MM" b="0" i="0" dirty="0">
                <a:solidFill>
                  <a:srgbClr val="0D0D0D"/>
                </a:solidFill>
                <a:effectLst/>
                <a:latin typeface="-apple-system-body"/>
              </a:rPr>
              <a:t>ဘာ </a:t>
            </a:r>
            <a:r>
              <a:rPr lang="en-US" b="0" i="0" dirty="0">
                <a:solidFill>
                  <a:srgbClr val="0D0D0D"/>
                </a:solidFill>
                <a:effectLst/>
                <a:latin typeface="-apple-system-body"/>
              </a:rPr>
              <a:t>Leave Type </a:t>
            </a:r>
            <a:r>
              <a:rPr lang="my-MM" b="0" i="0" dirty="0">
                <a:solidFill>
                  <a:srgbClr val="0D0D0D"/>
                </a:solidFill>
                <a:effectLst/>
                <a:latin typeface="-apple-system-body"/>
              </a:rPr>
              <a:t>လဲ</a:t>
            </a:r>
          </a:p>
          <a:p>
            <a:pPr algn="l">
              <a:buFont typeface="+mj-lt"/>
              <a:buAutoNum type="arabicPeriod"/>
            </a:pPr>
            <a:r>
              <a:rPr lang="en-US" b="0" i="0" dirty="0">
                <a:solidFill>
                  <a:srgbClr val="0D0D0D"/>
                </a:solidFill>
                <a:effectLst/>
                <a:latin typeface="-apple-system-body"/>
              </a:rPr>
              <a:t>Approved </a:t>
            </a:r>
            <a:r>
              <a:rPr lang="my-MM" b="0" i="0" dirty="0">
                <a:solidFill>
                  <a:srgbClr val="0D0D0D"/>
                </a:solidFill>
                <a:effectLst/>
                <a:latin typeface="-apple-system-body"/>
              </a:rPr>
              <a:t>ဖြစ်လား</a:t>
            </a:r>
          </a:p>
          <a:p>
            <a:pPr algn="l">
              <a:buFont typeface="+mj-lt"/>
              <a:buAutoNum type="arabicPeriod"/>
            </a:pPr>
            <a:r>
              <a:rPr lang="en-US" b="0" i="0" dirty="0">
                <a:solidFill>
                  <a:srgbClr val="0D0D0D"/>
                </a:solidFill>
                <a:effectLst/>
                <a:latin typeface="-apple-system-body"/>
              </a:rPr>
              <a:t>Rejected </a:t>
            </a:r>
            <a:r>
              <a:rPr lang="my-MM" b="0" i="0" dirty="0">
                <a:solidFill>
                  <a:srgbClr val="0D0D0D"/>
                </a:solidFill>
                <a:effectLst/>
                <a:latin typeface="-apple-system-body"/>
              </a:rPr>
              <a:t>ဖြစ်လား</a:t>
            </a:r>
          </a:p>
          <a:p>
            <a:pPr algn="l">
              <a:buFont typeface="+mj-lt"/>
              <a:buAutoNum type="arabicPeriod"/>
            </a:pPr>
            <a:r>
              <a:rPr lang="my-MM" b="0" i="0" dirty="0">
                <a:solidFill>
                  <a:srgbClr val="0D0D0D"/>
                </a:solidFill>
                <a:effectLst/>
                <a:latin typeface="-apple-system-body"/>
              </a:rPr>
              <a:t>စတာတွေ ပြန်ကြည့်နိုင်ပါတယ်။</a:t>
            </a:r>
          </a:p>
          <a:p>
            <a:pPr algn="l">
              <a:buFont typeface="+mj-lt"/>
              <a:buAutoNum type="arabicPeriod"/>
            </a:pPr>
            <a:r>
              <a:rPr lang="my-MM" b="1" i="0" dirty="0">
                <a:solidFill>
                  <a:srgbClr val="0D0D0D"/>
                </a:solidFill>
                <a:effectLst/>
                <a:latin typeface="-apple-system-body"/>
              </a:rPr>
              <a:t>④ </a:t>
            </a:r>
            <a:r>
              <a:rPr lang="en-US" b="1" i="0" dirty="0">
                <a:solidFill>
                  <a:srgbClr val="0D0D0D"/>
                </a:solidFill>
                <a:effectLst/>
                <a:latin typeface="-apple-system-body"/>
              </a:rPr>
              <a:t>Manage Profile</a:t>
            </a:r>
          </a:p>
          <a:p>
            <a:pPr algn="l">
              <a:buFont typeface="+mj-lt"/>
              <a:buAutoNum type="arabicPeriod"/>
            </a:pPr>
            <a:r>
              <a:rPr lang="en-US" b="1" i="0" dirty="0">
                <a:solidFill>
                  <a:srgbClr val="0D0D0D"/>
                </a:solidFill>
                <a:effectLst/>
                <a:latin typeface="-apple-system-body"/>
              </a:rPr>
              <a:t>Manage Profile</a:t>
            </a:r>
            <a:r>
              <a:rPr lang="en-US" b="0" i="0" dirty="0">
                <a:solidFill>
                  <a:srgbClr val="0D0D0D"/>
                </a:solidFill>
                <a:effectLst/>
                <a:latin typeface="-apple-system-body"/>
              </a:rPr>
              <a:t> </a:t>
            </a:r>
            <a:r>
              <a:rPr lang="my-MM" b="0" i="0" dirty="0">
                <a:solidFill>
                  <a:srgbClr val="0D0D0D"/>
                </a:solidFill>
                <a:effectLst/>
                <a:latin typeface="-apple-system-body"/>
              </a:rPr>
              <a:t>က ကိုယ့်ရဲ့ </a:t>
            </a:r>
            <a:r>
              <a:rPr lang="en-US" b="0" i="0" dirty="0">
                <a:solidFill>
                  <a:srgbClr val="0D0D0D"/>
                </a:solidFill>
                <a:effectLst/>
                <a:latin typeface="-apple-system-body"/>
              </a:rPr>
              <a:t>Account/Profile information </a:t>
            </a:r>
            <a:r>
              <a:rPr lang="my-MM" b="0" i="0" dirty="0">
                <a:solidFill>
                  <a:srgbClr val="0D0D0D"/>
                </a:solidFill>
                <a:effectLst/>
                <a:latin typeface="-apple-system-body"/>
              </a:rPr>
              <a:t>ကို စီမံဖို့ပါ။</a:t>
            </a:r>
          </a:p>
          <a:p>
            <a:pPr algn="l">
              <a:buFont typeface="+mj-lt"/>
              <a:buAutoNum type="arabicPeriod"/>
            </a:pPr>
            <a:r>
              <a:rPr lang="my-MM" b="0" i="0" dirty="0">
                <a:solidFill>
                  <a:srgbClr val="0D0D0D"/>
                </a:solidFill>
                <a:effectLst/>
                <a:latin typeface="-apple-system-body"/>
              </a:rPr>
              <a:t>ဥပမာ—</a:t>
            </a:r>
          </a:p>
          <a:p>
            <a:pPr algn="l">
              <a:buFont typeface="+mj-lt"/>
              <a:buAutoNum type="arabicPeriod"/>
            </a:pPr>
            <a:r>
              <a:rPr lang="en-US" b="0" i="0" dirty="0">
                <a:solidFill>
                  <a:srgbClr val="0D0D0D"/>
                </a:solidFill>
                <a:effectLst/>
                <a:latin typeface="-apple-system-body"/>
              </a:rPr>
              <a:t>Name</a:t>
            </a:r>
          </a:p>
          <a:p>
            <a:pPr algn="l">
              <a:buFont typeface="+mj-lt"/>
              <a:buAutoNum type="arabicPeriod"/>
            </a:pPr>
            <a:r>
              <a:rPr lang="en-US" b="0" i="0" dirty="0">
                <a:solidFill>
                  <a:srgbClr val="0D0D0D"/>
                </a:solidFill>
                <a:effectLst/>
                <a:latin typeface="-apple-system-body"/>
              </a:rPr>
              <a:t>Email</a:t>
            </a:r>
          </a:p>
          <a:p>
            <a:pPr algn="l">
              <a:buFont typeface="+mj-lt"/>
              <a:buAutoNum type="arabicPeriod"/>
            </a:pPr>
            <a:r>
              <a:rPr lang="en-US" b="0" i="0" dirty="0">
                <a:solidFill>
                  <a:srgbClr val="0D0D0D"/>
                </a:solidFill>
                <a:effectLst/>
                <a:latin typeface="-apple-system-body"/>
              </a:rPr>
              <a:t>Phone Number</a:t>
            </a:r>
          </a:p>
          <a:p>
            <a:pPr algn="l">
              <a:buFont typeface="+mj-lt"/>
              <a:buAutoNum type="arabicPeriod"/>
            </a:pPr>
            <a:r>
              <a:rPr lang="en-US" b="0" i="0" dirty="0">
                <a:solidFill>
                  <a:srgbClr val="0D0D0D"/>
                </a:solidFill>
                <a:effectLst/>
                <a:latin typeface="-apple-system-body"/>
              </a:rPr>
              <a:t>Password</a:t>
            </a:r>
          </a:p>
          <a:p>
            <a:pPr algn="l">
              <a:buFont typeface="+mj-lt"/>
              <a:buAutoNum type="arabicPeriod"/>
            </a:pPr>
            <a:r>
              <a:rPr lang="my-MM" b="0" i="0" dirty="0">
                <a:solidFill>
                  <a:srgbClr val="0D0D0D"/>
                </a:solidFill>
                <a:effectLst/>
                <a:latin typeface="-apple-system-body"/>
              </a:rPr>
              <a:t>စတာတွေကို ပြင်ဆင်နိုင်ပါတယ်။</a:t>
            </a:r>
          </a:p>
          <a:p>
            <a:pPr algn="l">
              <a:buFont typeface="+mj-lt"/>
              <a:buAutoNum type="arabicPeriod"/>
            </a:pPr>
            <a:r>
              <a:rPr lang="my-MM" b="1" i="0" dirty="0">
                <a:solidFill>
                  <a:srgbClr val="0D0D0D"/>
                </a:solidFill>
                <a:effectLst/>
                <a:latin typeface="-apple-system-body"/>
              </a:rPr>
              <a:t>၅။ </a:t>
            </a:r>
            <a:r>
              <a:rPr lang="en-US" b="1" i="0" dirty="0">
                <a:solidFill>
                  <a:srgbClr val="0D0D0D"/>
                </a:solidFill>
                <a:effectLst/>
                <a:latin typeface="-apple-system-body"/>
              </a:rPr>
              <a:t>Logout</a:t>
            </a:r>
          </a:p>
          <a:p>
            <a:pPr algn="l">
              <a:buFont typeface="+mj-lt"/>
              <a:buAutoNum type="arabicPeriod"/>
            </a:pPr>
            <a:r>
              <a:rPr lang="en-US" b="0" i="0" dirty="0">
                <a:solidFill>
                  <a:srgbClr val="0D0D0D"/>
                </a:solidFill>
                <a:effectLst/>
                <a:latin typeface="-apple-system-body"/>
              </a:rPr>
              <a:t>Staff </a:t>
            </a:r>
            <a:r>
              <a:rPr lang="my-MM" b="0" i="0" dirty="0">
                <a:solidFill>
                  <a:srgbClr val="0D0D0D"/>
                </a:solidFill>
                <a:effectLst/>
                <a:latin typeface="-apple-system-body"/>
              </a:rPr>
              <a:t>က </a:t>
            </a:r>
            <a:r>
              <a:rPr lang="en-US" b="0" i="0" dirty="0">
                <a:solidFill>
                  <a:srgbClr val="0D0D0D"/>
                </a:solidFill>
                <a:effectLst/>
                <a:latin typeface="-apple-system-body"/>
              </a:rPr>
              <a:t>Dashboard </a:t>
            </a:r>
            <a:r>
              <a:rPr lang="my-MM" b="0" i="0" dirty="0">
                <a:solidFill>
                  <a:srgbClr val="0D0D0D"/>
                </a:solidFill>
                <a:effectLst/>
                <a:latin typeface="-apple-system-body"/>
              </a:rPr>
              <a:t>ကြည့်ပြီးတာဖြစ်ဖြစ်၊ </a:t>
            </a:r>
            <a:r>
              <a:rPr lang="en-US" b="0" i="0" dirty="0">
                <a:solidFill>
                  <a:srgbClr val="0D0D0D"/>
                </a:solidFill>
                <a:effectLst/>
                <a:latin typeface="-apple-system-body"/>
              </a:rPr>
              <a:t>Leave Request </a:t>
            </a:r>
            <a:r>
              <a:rPr lang="my-MM" b="0" i="0" dirty="0">
                <a:solidFill>
                  <a:srgbClr val="0D0D0D"/>
                </a:solidFill>
                <a:effectLst/>
                <a:latin typeface="-apple-system-body"/>
              </a:rPr>
              <a:t>တင်ပြီးတာဖြစ်ဖြစ်၊ </a:t>
            </a:r>
            <a:r>
              <a:rPr lang="en-US" b="0" i="0" dirty="0">
                <a:solidFill>
                  <a:srgbClr val="0D0D0D"/>
                </a:solidFill>
                <a:effectLst/>
                <a:latin typeface="-apple-system-body"/>
              </a:rPr>
              <a:t>Profile </a:t>
            </a:r>
            <a:r>
              <a:rPr lang="my-MM" b="0" i="0" dirty="0">
                <a:solidFill>
                  <a:srgbClr val="0D0D0D"/>
                </a:solidFill>
                <a:effectLst/>
                <a:latin typeface="-apple-system-body"/>
              </a:rPr>
              <a:t>ပြင်ပြီးတာဖြစ်ဖြစ် အလုပ်ပြီးသွားရင် </a:t>
            </a:r>
            <a:r>
              <a:rPr lang="en-US" b="1" i="0" dirty="0">
                <a:solidFill>
                  <a:srgbClr val="0D0D0D"/>
                </a:solidFill>
                <a:effectLst/>
                <a:latin typeface="-apple-system-body"/>
              </a:rPr>
              <a:t>Logout</a:t>
            </a:r>
            <a:r>
              <a:rPr lang="en-US" b="0" i="0" dirty="0">
                <a:solidFill>
                  <a:srgbClr val="0D0D0D"/>
                </a:solidFill>
                <a:effectLst/>
                <a:latin typeface="-apple-system-body"/>
              </a:rPr>
              <a:t> </a:t>
            </a:r>
            <a:r>
              <a:rPr lang="my-MM" b="0" i="0" dirty="0">
                <a:solidFill>
                  <a:srgbClr val="0D0D0D"/>
                </a:solidFill>
                <a:effectLst/>
                <a:latin typeface="-apple-system-body"/>
              </a:rPr>
              <a:t>လုပ်ပါတယ်။</a:t>
            </a:r>
          </a:p>
          <a:p>
            <a:pPr algn="l">
              <a:buFont typeface="+mj-lt"/>
              <a:buAutoNum type="arabicPeriod"/>
            </a:pPr>
            <a:r>
              <a:rPr lang="en-US" b="0" i="0" dirty="0">
                <a:solidFill>
                  <a:srgbClr val="0D0D0D"/>
                </a:solidFill>
                <a:effectLst/>
                <a:latin typeface="-apple-system-body"/>
              </a:rPr>
              <a:t>Logout </a:t>
            </a:r>
            <a:r>
              <a:rPr lang="my-MM" b="0" i="0" dirty="0">
                <a:solidFill>
                  <a:srgbClr val="0D0D0D"/>
                </a:solidFill>
                <a:effectLst/>
                <a:latin typeface="-apple-system-body"/>
              </a:rPr>
              <a:t>လုပ်ပြီးရင်—</a:t>
            </a:r>
          </a:p>
          <a:p>
            <a:pPr algn="l">
              <a:buFont typeface="+mj-lt"/>
              <a:buAutoNum type="arabicPeriod"/>
            </a:pPr>
            <a:r>
              <a:rPr lang="my-MM" b="0" i="0" dirty="0">
                <a:solidFill>
                  <a:srgbClr val="0D0D0D"/>
                </a:solidFill>
                <a:effectLst/>
                <a:latin typeface="-apple-system-body"/>
              </a:rPr>
              <a:t>⬇️</a:t>
            </a:r>
          </a:p>
          <a:p>
            <a:pPr algn="l">
              <a:buFont typeface="+mj-lt"/>
              <a:buAutoNum type="arabicPeriod"/>
            </a:pPr>
            <a:r>
              <a:rPr lang="my-MM" b="1" i="0" dirty="0">
                <a:solidFill>
                  <a:srgbClr val="0D0D0D"/>
                </a:solidFill>
                <a:effectLst/>
                <a:latin typeface="-apple-system-body"/>
              </a:rPr>
              <a:t>၆။ </a:t>
            </a:r>
            <a:r>
              <a:rPr lang="en-US" b="1" i="0" dirty="0">
                <a:solidFill>
                  <a:srgbClr val="0D0D0D"/>
                </a:solidFill>
                <a:effectLst/>
                <a:latin typeface="-apple-system-body"/>
              </a:rPr>
              <a:t>Stop</a:t>
            </a:r>
          </a:p>
          <a:p>
            <a:pPr algn="l">
              <a:buFont typeface="+mj-lt"/>
              <a:buAutoNum type="arabicPeriod"/>
            </a:pPr>
            <a:r>
              <a:rPr lang="en-US" b="1" i="0" dirty="0">
                <a:solidFill>
                  <a:srgbClr val="0D0D0D"/>
                </a:solidFill>
                <a:effectLst/>
                <a:latin typeface="-apple-system-body"/>
              </a:rPr>
              <a:t>Stop</a:t>
            </a:r>
            <a:r>
              <a:rPr lang="en-US" b="0" i="0" dirty="0">
                <a:solidFill>
                  <a:srgbClr val="0D0D0D"/>
                </a:solidFill>
                <a:effectLst/>
                <a:latin typeface="-apple-system-body"/>
              </a:rPr>
              <a:t> </a:t>
            </a:r>
            <a:r>
              <a:rPr lang="my-MM" b="0" i="0" dirty="0">
                <a:solidFill>
                  <a:srgbClr val="0D0D0D"/>
                </a:solidFill>
                <a:effectLst/>
                <a:latin typeface="-apple-system-body"/>
              </a:rPr>
              <a:t>ရောက်သွားပြီး </a:t>
            </a:r>
            <a:r>
              <a:rPr lang="en-US" b="0" i="0" dirty="0">
                <a:solidFill>
                  <a:srgbClr val="0D0D0D"/>
                </a:solidFill>
                <a:effectLst/>
                <a:latin typeface="-apple-system-body"/>
              </a:rPr>
              <a:t>Activity Flow </a:t>
            </a:r>
            <a:r>
              <a:rPr lang="my-MM" b="0" i="0" dirty="0">
                <a:solidFill>
                  <a:srgbClr val="0D0D0D"/>
                </a:solidFill>
                <a:effectLst/>
                <a:latin typeface="-apple-system-body"/>
              </a:rPr>
              <a:t>ပြီးဆုံးပါတယ်။</a:t>
            </a:r>
          </a:p>
          <a:p>
            <a:pPr algn="l">
              <a:buFont typeface="+mj-lt"/>
              <a:buAutoNum type="arabicPeriod"/>
            </a:pPr>
            <a:r>
              <a:rPr lang="en-US" b="1" i="0" dirty="0">
                <a:solidFill>
                  <a:srgbClr val="0D0D0D"/>
                </a:solidFill>
                <a:effectLst/>
                <a:latin typeface="-apple-system-body"/>
              </a:rPr>
              <a:t>🧠 </a:t>
            </a:r>
            <a:r>
              <a:rPr lang="my-MM" b="1" i="0" dirty="0">
                <a:solidFill>
                  <a:srgbClr val="0D0D0D"/>
                </a:solidFill>
                <a:effectLst/>
                <a:latin typeface="-apple-system-body"/>
              </a:rPr>
              <a:t>ဒီပုံကို အလွယ်ဆုံးမှတ်မယ်ဆိုရင်</a:t>
            </a:r>
          </a:p>
          <a:p>
            <a:pPr algn="l">
              <a:buFont typeface="+mj-lt"/>
              <a:buAutoNum type="arabicPeriod"/>
            </a:pPr>
            <a:r>
              <a:rPr lang="en-US" b="0" i="0" dirty="0">
                <a:solidFill>
                  <a:srgbClr val="0D0D0D"/>
                </a:solidFill>
                <a:effectLst/>
                <a:latin typeface="-apple-system-body"/>
              </a:rPr>
              <a:t>Flow </a:t>
            </a:r>
            <a:r>
              <a:rPr lang="my-MM" b="0" i="0" dirty="0">
                <a:solidFill>
                  <a:srgbClr val="0D0D0D"/>
                </a:solidFill>
                <a:effectLst/>
                <a:latin typeface="-apple-system-body"/>
              </a:rPr>
              <a:t>တစ်ခုလုံးက—</a:t>
            </a:r>
          </a:p>
          <a:p>
            <a:pPr algn="l">
              <a:buFont typeface="+mj-lt"/>
              <a:buAutoNum type="arabicPeriod"/>
            </a:pPr>
            <a:r>
              <a:rPr lang="en-US" b="1" i="0" dirty="0">
                <a:solidFill>
                  <a:srgbClr val="0D0D0D"/>
                </a:solidFill>
                <a:effectLst/>
                <a:latin typeface="-apple-system-body"/>
              </a:rPr>
              <a:t>Start</a:t>
            </a:r>
            <a:br>
              <a:rPr lang="en-US" b="0" i="0" dirty="0">
                <a:solidFill>
                  <a:srgbClr val="0D0D0D"/>
                </a:solidFill>
                <a:effectLst/>
                <a:latin typeface="-apple-system-body"/>
              </a:rPr>
            </a:br>
            <a:r>
              <a:rPr lang="en-US" b="0" i="0" dirty="0">
                <a:solidFill>
                  <a:srgbClr val="0D0D0D"/>
                </a:solidFill>
                <a:effectLst/>
                <a:latin typeface="-apple-system-body"/>
              </a:rPr>
              <a:t>↓</a:t>
            </a:r>
            <a:br>
              <a:rPr lang="en-US" b="0" i="0" dirty="0">
                <a:solidFill>
                  <a:srgbClr val="0D0D0D"/>
                </a:solidFill>
                <a:effectLst/>
                <a:latin typeface="-apple-system-body"/>
              </a:rPr>
            </a:br>
            <a:r>
              <a:rPr lang="en-US" b="1" i="0" dirty="0">
                <a:solidFill>
                  <a:srgbClr val="0D0D0D"/>
                </a:solidFill>
                <a:effectLst/>
                <a:latin typeface="-apple-system-body"/>
              </a:rPr>
              <a:t>Login</a:t>
            </a:r>
            <a:br>
              <a:rPr lang="en-US" b="0" i="0" dirty="0">
                <a:solidFill>
                  <a:srgbClr val="0D0D0D"/>
                </a:solidFill>
                <a:effectLst/>
                <a:latin typeface="-apple-system-body"/>
              </a:rPr>
            </a:br>
            <a:r>
              <a:rPr lang="en-US" b="0" i="0" dirty="0">
                <a:solidFill>
                  <a:srgbClr val="0D0D0D"/>
                </a:solidFill>
                <a:effectLst/>
                <a:latin typeface="-apple-system-body"/>
              </a:rPr>
              <a:t>↓</a:t>
            </a:r>
            <a:br>
              <a:rPr lang="en-US" b="0" i="0" dirty="0">
                <a:solidFill>
                  <a:srgbClr val="0D0D0D"/>
                </a:solidFill>
                <a:effectLst/>
                <a:latin typeface="-apple-system-body"/>
              </a:rPr>
            </a:br>
            <a:r>
              <a:rPr lang="en-US" b="1" i="0" dirty="0">
                <a:solidFill>
                  <a:srgbClr val="0D0D0D"/>
                </a:solidFill>
                <a:effectLst/>
                <a:latin typeface="-apple-system-body"/>
              </a:rPr>
              <a:t>Email &amp; Password </a:t>
            </a:r>
            <a:r>
              <a:rPr lang="my-MM" b="1" i="0" dirty="0">
                <a:solidFill>
                  <a:srgbClr val="0D0D0D"/>
                </a:solidFill>
                <a:effectLst/>
                <a:latin typeface="-apple-system-body"/>
              </a:rPr>
              <a:t>စစ်မယ်</a:t>
            </a:r>
            <a:br>
              <a:rPr lang="my-MM" b="0" i="0" dirty="0">
                <a:solidFill>
                  <a:srgbClr val="0D0D0D"/>
                </a:solidFill>
                <a:effectLst/>
                <a:latin typeface="-apple-system-body"/>
              </a:rPr>
            </a:br>
            <a:r>
              <a:rPr lang="my-MM" b="0" i="0" dirty="0">
                <a:solidFill>
                  <a:srgbClr val="0D0D0D"/>
                </a:solidFill>
                <a:effectLst/>
                <a:latin typeface="-apple-system-body"/>
              </a:rPr>
              <a:t>↓</a:t>
            </a:r>
            <a:br>
              <a:rPr lang="my-MM" b="0" i="0" dirty="0">
                <a:solidFill>
                  <a:srgbClr val="0D0D0D"/>
                </a:solidFill>
                <a:effectLst/>
                <a:latin typeface="-apple-system-body"/>
              </a:rPr>
            </a:br>
            <a:r>
              <a:rPr lang="en-US" b="0" i="0" dirty="0">
                <a:solidFill>
                  <a:srgbClr val="0D0D0D"/>
                </a:solidFill>
                <a:effectLst/>
                <a:latin typeface="-apple-system-body"/>
              </a:rPr>
              <a:t>❌ </a:t>
            </a:r>
            <a:r>
              <a:rPr lang="en-US" b="1" i="0" dirty="0">
                <a:solidFill>
                  <a:srgbClr val="0D0D0D"/>
                </a:solidFill>
                <a:effectLst/>
                <a:latin typeface="-apple-system-body"/>
              </a:rPr>
              <a:t>No</a:t>
            </a:r>
            <a:r>
              <a:rPr lang="en-US" b="0" i="0" dirty="0">
                <a:solidFill>
                  <a:srgbClr val="0D0D0D"/>
                </a:solidFill>
                <a:effectLst/>
                <a:latin typeface="-apple-system-body"/>
              </a:rPr>
              <a:t> → Login </a:t>
            </a:r>
            <a:r>
              <a:rPr lang="my-MM" b="0" i="0" dirty="0">
                <a:solidFill>
                  <a:srgbClr val="0D0D0D"/>
                </a:solidFill>
                <a:effectLst/>
                <a:latin typeface="-apple-system-body"/>
              </a:rPr>
              <a:t>ပြန်လုပ်</a:t>
            </a:r>
            <a:br>
              <a:rPr lang="my-MM" b="0" i="0" dirty="0">
                <a:solidFill>
                  <a:srgbClr val="0D0D0D"/>
                </a:solidFill>
                <a:effectLst/>
                <a:latin typeface="-apple-system-body"/>
              </a:rPr>
            </a:br>
            <a:r>
              <a:rPr lang="en-US" b="0" i="0" dirty="0">
                <a:solidFill>
                  <a:srgbClr val="0D0D0D"/>
                </a:solidFill>
                <a:effectLst/>
                <a:latin typeface="-apple-system-body"/>
              </a:rPr>
              <a:t>✅ </a:t>
            </a:r>
            <a:r>
              <a:rPr lang="en-US" b="1" i="0" dirty="0">
                <a:solidFill>
                  <a:srgbClr val="0D0D0D"/>
                </a:solidFill>
                <a:effectLst/>
                <a:latin typeface="-apple-system-body"/>
              </a:rPr>
              <a:t>Yes</a:t>
            </a:r>
            <a:r>
              <a:rPr lang="en-US" b="0" i="0" dirty="0">
                <a:solidFill>
                  <a:srgbClr val="0D0D0D"/>
                </a:solidFill>
                <a:effectLst/>
                <a:latin typeface="-apple-system-body"/>
              </a:rPr>
              <a:t> → Staff Home Page</a:t>
            </a:r>
            <a:br>
              <a:rPr lang="en-US" b="0" i="0" dirty="0">
                <a:solidFill>
                  <a:srgbClr val="0D0D0D"/>
                </a:solidFill>
                <a:effectLst/>
                <a:latin typeface="-apple-system-body"/>
              </a:rPr>
            </a:br>
            <a:r>
              <a:rPr lang="en-US" b="0" i="0" dirty="0">
                <a:solidFill>
                  <a:srgbClr val="0D0D0D"/>
                </a:solidFill>
                <a:effectLst/>
                <a:latin typeface="-apple-system-body"/>
              </a:rPr>
              <a:t>↓</a:t>
            </a:r>
            <a:br>
              <a:rPr lang="en-US" b="0" i="0" dirty="0">
                <a:solidFill>
                  <a:srgbClr val="0D0D0D"/>
                </a:solidFill>
                <a:effectLst/>
                <a:latin typeface="-apple-system-body"/>
              </a:rPr>
            </a:br>
            <a:r>
              <a:rPr lang="en-US" b="1" i="0" dirty="0">
                <a:solidFill>
                  <a:srgbClr val="0D0D0D"/>
                </a:solidFill>
                <a:effectLst/>
                <a:latin typeface="-apple-system-body"/>
              </a:rPr>
              <a:t>Dashboard / Apply Leave / Leave History / Manage Profile</a:t>
            </a:r>
            <a:br>
              <a:rPr lang="en-US" b="0" i="0" dirty="0">
                <a:solidFill>
                  <a:srgbClr val="0D0D0D"/>
                </a:solidFill>
                <a:effectLst/>
                <a:latin typeface="-apple-system-body"/>
              </a:rPr>
            </a:br>
            <a:r>
              <a:rPr lang="en-US" b="0" i="0" dirty="0">
                <a:solidFill>
                  <a:srgbClr val="0D0D0D"/>
                </a:solidFill>
                <a:effectLst/>
                <a:latin typeface="-apple-system-body"/>
              </a:rPr>
              <a:t>↓</a:t>
            </a:r>
            <a:br>
              <a:rPr lang="en-US" b="0" i="0" dirty="0">
                <a:solidFill>
                  <a:srgbClr val="0D0D0D"/>
                </a:solidFill>
                <a:effectLst/>
                <a:latin typeface="-apple-system-body"/>
              </a:rPr>
            </a:br>
            <a:r>
              <a:rPr lang="en-US" b="1" i="0" dirty="0">
                <a:solidFill>
                  <a:srgbClr val="0D0D0D"/>
                </a:solidFill>
                <a:effectLst/>
                <a:latin typeface="-apple-system-body"/>
              </a:rPr>
              <a:t>Logout</a:t>
            </a:r>
            <a:br>
              <a:rPr lang="en-US" b="0" i="0" dirty="0">
                <a:solidFill>
                  <a:srgbClr val="0D0D0D"/>
                </a:solidFill>
                <a:effectLst/>
                <a:latin typeface="-apple-system-body"/>
              </a:rPr>
            </a:br>
            <a:r>
              <a:rPr lang="en-US" b="0" i="0" dirty="0">
                <a:solidFill>
                  <a:srgbClr val="0D0D0D"/>
                </a:solidFill>
                <a:effectLst/>
                <a:latin typeface="-apple-system-body"/>
              </a:rPr>
              <a:t>↓</a:t>
            </a:r>
            <a:br>
              <a:rPr lang="en-US" b="0" i="0" dirty="0">
                <a:solidFill>
                  <a:srgbClr val="0D0D0D"/>
                </a:solidFill>
                <a:effectLst/>
                <a:latin typeface="-apple-system-body"/>
              </a:rPr>
            </a:br>
            <a:r>
              <a:rPr lang="en-US" b="1" i="0" dirty="0">
                <a:solidFill>
                  <a:srgbClr val="0D0D0D"/>
                </a:solidFill>
                <a:effectLst/>
                <a:latin typeface="-apple-system-body"/>
              </a:rPr>
              <a:t>Stop</a:t>
            </a:r>
            <a:endParaRPr lang="en-US" b="0" i="0" dirty="0">
              <a:solidFill>
                <a:srgbClr val="0D0D0D"/>
              </a:solidFill>
              <a:effectLst/>
              <a:latin typeface="-apple-system-body"/>
            </a:endParaRPr>
          </a:p>
          <a:p>
            <a:pPr algn="l">
              <a:buFont typeface="+mj-lt"/>
              <a:buAutoNum type="arabicPeriod"/>
            </a:pPr>
            <a:r>
              <a:rPr lang="my-MM" b="0" i="0" dirty="0">
                <a:solidFill>
                  <a:srgbClr val="0D0D0D"/>
                </a:solidFill>
                <a:effectLst/>
                <a:latin typeface="-apple-system-body"/>
              </a:rPr>
              <a:t>ဆိုတဲ့ပုံစံပါ။</a:t>
            </a:r>
          </a:p>
          <a:p>
            <a:pPr algn="l">
              <a:buFont typeface="+mj-lt"/>
              <a:buAutoNum type="arabicPeriod"/>
            </a:pPr>
            <a:r>
              <a:rPr lang="my-MM" b="1" i="0" dirty="0">
                <a:solidFill>
                  <a:srgbClr val="0D0D0D"/>
                </a:solidFill>
                <a:effectLst/>
                <a:latin typeface="-apple-system-body"/>
              </a:rPr>
              <a:t>အဓိကအချက်</a:t>
            </a:r>
          </a:p>
          <a:p>
            <a:pPr algn="l">
              <a:buFont typeface="+mj-lt"/>
              <a:buAutoNum type="arabicPeriod"/>
            </a:pPr>
            <a:r>
              <a:rPr lang="my-MM" b="0" i="0" dirty="0">
                <a:solidFill>
                  <a:srgbClr val="0D0D0D"/>
                </a:solidFill>
                <a:effectLst/>
                <a:latin typeface="-apple-system-body"/>
              </a:rPr>
              <a:t>ဒီ </a:t>
            </a:r>
            <a:r>
              <a:rPr lang="en-US" b="0" i="0" dirty="0">
                <a:solidFill>
                  <a:srgbClr val="0D0D0D"/>
                </a:solidFill>
                <a:effectLst/>
                <a:latin typeface="-apple-system-body"/>
              </a:rPr>
              <a:t>Diagram </a:t>
            </a:r>
            <a:r>
              <a:rPr lang="my-MM" b="0" i="0" dirty="0">
                <a:solidFill>
                  <a:srgbClr val="0D0D0D"/>
                </a:solidFill>
                <a:effectLst/>
                <a:latin typeface="-apple-system-body"/>
              </a:rPr>
              <a:t>မှာ အရေးကြီးဆုံးက </a:t>
            </a:r>
            <a:r>
              <a:rPr lang="en-US" b="1" i="0" dirty="0">
                <a:solidFill>
                  <a:srgbClr val="0D0D0D"/>
                </a:solidFill>
                <a:effectLst/>
                <a:latin typeface="-apple-system-body"/>
              </a:rPr>
              <a:t>Decision Point</a:t>
            </a:r>
            <a:r>
              <a:rPr lang="en-US" b="0" i="0" dirty="0">
                <a:solidFill>
                  <a:srgbClr val="0D0D0D"/>
                </a:solidFill>
                <a:effectLst/>
                <a:latin typeface="-apple-system-body"/>
              </a:rPr>
              <a:t> </a:t>
            </a:r>
            <a:r>
              <a:rPr lang="my-MM" b="0" i="0" dirty="0">
                <a:solidFill>
                  <a:srgbClr val="0D0D0D"/>
                </a:solidFill>
                <a:effectLst/>
                <a:latin typeface="-apple-system-body"/>
              </a:rPr>
              <a:t>ဖြစ်တဲ့ </a:t>
            </a:r>
            <a:r>
              <a:rPr lang="en-US" b="0" i="0" dirty="0">
                <a:solidFill>
                  <a:srgbClr val="0D0D0D"/>
                </a:solidFill>
                <a:effectLst/>
                <a:latin typeface="-apple-system-body"/>
              </a:rPr>
              <a:t>Check email &amp; password </a:t>
            </a:r>
            <a:r>
              <a:rPr lang="my-MM" b="0" i="0" dirty="0">
                <a:solidFill>
                  <a:srgbClr val="0D0D0D"/>
                </a:solidFill>
                <a:effectLst/>
                <a:latin typeface="-apple-system-body"/>
              </a:rPr>
              <a:t>ပါ။</a:t>
            </a:r>
          </a:p>
          <a:p>
            <a:pPr algn="l">
              <a:buFont typeface="+mj-lt"/>
              <a:buAutoNum type="arabicPeriod"/>
            </a:pPr>
            <a:r>
              <a:rPr lang="my-MM" b="1" i="0" dirty="0">
                <a:solidFill>
                  <a:srgbClr val="0D0D0D"/>
                </a:solidFill>
                <a:effectLst/>
                <a:latin typeface="-apple-system-body"/>
              </a:rPr>
              <a:t>မှန်ရင် → </a:t>
            </a:r>
            <a:r>
              <a:rPr lang="en-US" b="1" i="0" dirty="0">
                <a:solidFill>
                  <a:srgbClr val="0D0D0D"/>
                </a:solidFill>
                <a:effectLst/>
                <a:latin typeface="-apple-system-body"/>
              </a:rPr>
              <a:t>Staff Home Page</a:t>
            </a:r>
            <a:endParaRPr lang="en-US" b="0" i="0" dirty="0">
              <a:solidFill>
                <a:srgbClr val="0D0D0D"/>
              </a:solidFill>
              <a:effectLst/>
              <a:latin typeface="-apple-system-body"/>
            </a:endParaRPr>
          </a:p>
          <a:p>
            <a:pPr algn="l">
              <a:buFont typeface="+mj-lt"/>
              <a:buAutoNum type="arabicPeriod"/>
            </a:pPr>
            <a:r>
              <a:rPr lang="my-MM" b="1" i="0" dirty="0">
                <a:solidFill>
                  <a:srgbClr val="0D0D0D"/>
                </a:solidFill>
                <a:effectLst/>
                <a:latin typeface="-apple-system-body"/>
              </a:rPr>
              <a:t>မမှန်ရင် → </a:t>
            </a:r>
            <a:r>
              <a:rPr lang="en-US" b="1" i="0" dirty="0">
                <a:solidFill>
                  <a:srgbClr val="0D0D0D"/>
                </a:solidFill>
                <a:effectLst/>
                <a:latin typeface="-apple-system-body"/>
              </a:rPr>
              <a:t>Login </a:t>
            </a:r>
            <a:r>
              <a:rPr lang="my-MM" b="1" i="0" dirty="0">
                <a:solidFill>
                  <a:srgbClr val="0D0D0D"/>
                </a:solidFill>
                <a:effectLst/>
                <a:latin typeface="-apple-system-body"/>
              </a:rPr>
              <a:t>ကို ပြန်သွား</a:t>
            </a:r>
            <a:endParaRPr lang="my-MM" b="0" i="0" dirty="0">
              <a:solidFill>
                <a:srgbClr val="0D0D0D"/>
              </a:solidFill>
              <a:effectLst/>
              <a:latin typeface="-apple-system-body"/>
            </a:endParaRPr>
          </a:p>
          <a:p>
            <a:pPr algn="l">
              <a:buFont typeface="+mj-lt"/>
              <a:buAutoNum type="arabicPeriod"/>
            </a:pPr>
            <a:r>
              <a:rPr lang="my-MM" b="0" i="0" dirty="0">
                <a:solidFill>
                  <a:srgbClr val="0D0D0D"/>
                </a:solidFill>
                <a:effectLst/>
                <a:latin typeface="-apple-system-body"/>
              </a:rPr>
              <a:t>ဆိုတဲ့ </a:t>
            </a:r>
            <a:r>
              <a:rPr lang="en-US" b="1" i="0" dirty="0">
                <a:solidFill>
                  <a:srgbClr val="0D0D0D"/>
                </a:solidFill>
                <a:effectLst/>
                <a:latin typeface="-apple-system-body"/>
              </a:rPr>
              <a:t>loop</a:t>
            </a:r>
            <a:r>
              <a:rPr lang="en-US" b="0" i="0" dirty="0">
                <a:solidFill>
                  <a:srgbClr val="0D0D0D"/>
                </a:solidFill>
                <a:effectLst/>
                <a:latin typeface="-apple-system-body"/>
              </a:rPr>
              <a:t> </a:t>
            </a:r>
            <a:r>
              <a:rPr lang="my-MM" b="0" i="0" dirty="0">
                <a:solidFill>
                  <a:srgbClr val="0D0D0D"/>
                </a:solidFill>
                <a:effectLst/>
                <a:latin typeface="-apple-system-body"/>
              </a:rPr>
              <a:t>တစ်ခုရှိပါတယ်။</a:t>
            </a:r>
          </a:p>
          <a:p>
            <a:pPr algn="l">
              <a:buFont typeface="+mj-lt"/>
              <a:buAutoNum type="arabicPeriod"/>
            </a:pPr>
            <a:r>
              <a:rPr lang="my-MM" b="0" i="0" dirty="0">
                <a:solidFill>
                  <a:srgbClr val="0D0D0D"/>
                </a:solidFill>
                <a:effectLst/>
                <a:latin typeface="-apple-system-body"/>
              </a:rPr>
              <a:t>ဒါကြောင့် ဒီပုံက </a:t>
            </a:r>
            <a:r>
              <a:rPr lang="en-US" b="0" i="0" dirty="0">
                <a:solidFill>
                  <a:srgbClr val="0D0D0D"/>
                </a:solidFill>
                <a:effectLst/>
                <a:latin typeface="-apple-system-body"/>
              </a:rPr>
              <a:t>Staff </a:t>
            </a:r>
            <a:r>
              <a:rPr lang="my-MM" b="0" i="0" dirty="0">
                <a:solidFill>
                  <a:srgbClr val="0D0D0D"/>
                </a:solidFill>
                <a:effectLst/>
                <a:latin typeface="-apple-system-body"/>
              </a:rPr>
              <a:t>တစ်ယောက်ရဲ့ </a:t>
            </a:r>
            <a:r>
              <a:rPr lang="en-US" b="1" i="0" dirty="0">
                <a:solidFill>
                  <a:srgbClr val="0D0D0D"/>
                </a:solidFill>
                <a:effectLst/>
                <a:latin typeface="-apple-system-body"/>
              </a:rPr>
              <a:t>System Login </a:t>
            </a:r>
            <a:r>
              <a:rPr lang="my-MM" b="1" i="0" dirty="0">
                <a:solidFill>
                  <a:srgbClr val="0D0D0D"/>
                </a:solidFill>
                <a:effectLst/>
                <a:latin typeface="-apple-system-body"/>
              </a:rPr>
              <a:t>ကနေ </a:t>
            </a:r>
            <a:r>
              <a:rPr lang="en-US" b="1" i="0" dirty="0">
                <a:solidFill>
                  <a:srgbClr val="0D0D0D"/>
                </a:solidFill>
                <a:effectLst/>
                <a:latin typeface="-apple-system-body"/>
              </a:rPr>
              <a:t>Logout </a:t>
            </a:r>
            <a:r>
              <a:rPr lang="my-MM" b="1" i="0" dirty="0">
                <a:solidFill>
                  <a:srgbClr val="0D0D0D"/>
                </a:solidFill>
                <a:effectLst/>
                <a:latin typeface="-apple-system-body"/>
              </a:rPr>
              <a:t>အထိ လုပ်ဆောင်ရတဲ့ လမ်းကြောင်းတစ်ခုလုံး</a:t>
            </a:r>
            <a:r>
              <a:rPr lang="my-MM" b="0" i="0" dirty="0">
                <a:solidFill>
                  <a:srgbClr val="0D0D0D"/>
                </a:solidFill>
                <a:effectLst/>
                <a:latin typeface="-apple-system-body"/>
              </a:rPr>
              <a:t> ကို ဖော်ပြထားတာလို့ နားလည်ရင် အဆင်ပြေပါတယ်။</a:t>
            </a:r>
          </a:p>
        </p:txBody>
      </p:sp>
      <p:sp>
        <p:nvSpPr>
          <p:cNvPr id="4" name="Slide Number Placeholder 3"/>
          <p:cNvSpPr>
            <a:spLocks noGrp="1"/>
          </p:cNvSpPr>
          <p:nvPr>
            <p:ph type="sldNum" sz="quarter" idx="5"/>
          </p:nvPr>
        </p:nvSpPr>
        <p:spPr/>
        <p:txBody>
          <a:bodyPr/>
          <a:lstStyle/>
          <a:p>
            <a:fld id="{AEA0FD98-7654-445C-8E24-0AB7F0410E36}" type="slidenum">
              <a:rPr lang="en-US" smtClean="0"/>
              <a:t>13</a:t>
            </a:fld>
            <a:endParaRPr lang="en-US"/>
          </a:p>
        </p:txBody>
      </p:sp>
    </p:spTree>
    <p:extLst>
      <p:ext uri="{BB962C8B-B14F-4D97-AF65-F5344CB8AC3E}">
        <p14:creationId xmlns:p14="http://schemas.microsoft.com/office/powerpoint/2010/main" val="19265679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my-MM" dirty="0"/>
              <a:t>ပထမဦးစွာ</a:t>
            </a:r>
            <a:r>
              <a:rPr lang="en-US" dirty="0"/>
              <a:t>department head </a:t>
            </a:r>
            <a:r>
              <a:rPr lang="my-MM" dirty="0"/>
              <a:t>အနေနဲ့ စနစ်ကို စတင်အသုံးပြုဖိုအတွက် သူတိုရဲ့ </a:t>
            </a:r>
            <a:r>
              <a:rPr lang="en-US" dirty="0"/>
              <a:t>Email </a:t>
            </a:r>
            <a:r>
              <a:rPr lang="my-MM" dirty="0"/>
              <a:t>နဲ့ </a:t>
            </a:r>
            <a:r>
              <a:rPr lang="en-US" dirty="0"/>
              <a:t>Password </a:t>
            </a:r>
            <a:r>
              <a:rPr lang="my-MM" dirty="0"/>
              <a:t>ကို ရိုက်ထည့်ပြီး </a:t>
            </a:r>
            <a:r>
              <a:rPr lang="en-US" dirty="0"/>
              <a:t>Login </a:t>
            </a:r>
            <a:r>
              <a:rPr lang="my-MM" dirty="0"/>
              <a:t>ဝင်ရပါမယ်။</a:t>
            </a:r>
            <a:br>
              <a:rPr lang="my-MM" dirty="0"/>
            </a:br>
            <a:br>
              <a:rPr lang="my-MM" dirty="0"/>
            </a:br>
            <a:r>
              <a:rPr lang="my-MM" dirty="0"/>
              <a:t>အဲဒီမှာ စနစ်က အချက်အလက် မှန်/မမှန် စစ်ဆေးသွားမှာ ဖြစ်ပြီး—</a:t>
            </a:r>
            <a:br>
              <a:rPr lang="my-MM" dirty="0"/>
            </a:br>
            <a:br>
              <a:rPr lang="my-MM" dirty="0"/>
            </a:br>
            <a:r>
              <a:rPr lang="my-MM" dirty="0"/>
              <a:t>မှားယွင်းနေရင် (</a:t>
            </a:r>
            <a:r>
              <a:rPr lang="en-US" dirty="0"/>
              <a:t>No): Login </a:t>
            </a:r>
            <a:r>
              <a:rPr lang="my-MM" dirty="0"/>
              <a:t>စာမျက်နှာကို ပြန်ညွှန်းပေးပြီး အချက်အလက် ပြန်ရိုက်ထည့်ခိုင်းပါမယ်။</a:t>
            </a:r>
            <a:br>
              <a:rPr lang="my-MM" dirty="0"/>
            </a:br>
            <a:br>
              <a:rPr lang="my-MM" dirty="0"/>
            </a:br>
            <a:r>
              <a:rPr lang="my-MM" dirty="0"/>
              <a:t>မှန်ကန်သွားရင် (</a:t>
            </a:r>
            <a:r>
              <a:rPr lang="en-US" dirty="0"/>
              <a:t>Yes): User </a:t>
            </a:r>
            <a:r>
              <a:rPr lang="my-MM" dirty="0"/>
              <a:t>ကို </a:t>
            </a:r>
            <a:r>
              <a:rPr lang="en-US" dirty="0"/>
              <a:t>Staff Home Page (</a:t>
            </a:r>
            <a:r>
              <a:rPr lang="my-MM" dirty="0"/>
              <a:t>သိုမဟုတ် </a:t>
            </a:r>
            <a:r>
              <a:rPr lang="en-US" dirty="0"/>
              <a:t>Dashboard) </a:t>
            </a:r>
            <a:r>
              <a:rPr lang="my-MM" dirty="0"/>
              <a:t>ဆီကို တိုက်ရိုက် ပိုဆောင်ပေးမှာ ဖြစ်ပါတယ်။"</a:t>
            </a:r>
            <a:br>
              <a:rPr lang="my-MM" dirty="0"/>
            </a:br>
            <a:r>
              <a:rPr lang="en-US" dirty="0"/>
              <a:t>DH Home Page </a:t>
            </a:r>
            <a:r>
              <a:rPr lang="my-MM" dirty="0"/>
              <a:t>ရောက်သွားပြီဆိုရင် </a:t>
            </a:r>
            <a:r>
              <a:rPr lang="en-US" dirty="0"/>
              <a:t>User </a:t>
            </a:r>
            <a:r>
              <a:rPr lang="my-MM" dirty="0"/>
              <a:t>အနေနဲ့ မိမိလုပ်ဆောင်ချင်တဲ့ လုပ်ဆောင်ချက် (</a:t>
            </a:r>
            <a:r>
              <a:rPr lang="en-US" dirty="0"/>
              <a:t>Feature) </a:t>
            </a:r>
            <a:r>
              <a:rPr lang="my-MM" dirty="0"/>
              <a:t>တွေကို ရွေးချယ် အသုံးပြုနိုင်မှာ ဖြစ်ပါတယ်။</a:t>
            </a:r>
            <a:br>
              <a:rPr lang="my-MM" dirty="0"/>
            </a:br>
            <a:br>
              <a:rPr lang="my-MM" dirty="0"/>
            </a:br>
            <a:r>
              <a:rPr lang="en-US" dirty="0"/>
              <a:t>View Dashboard: </a:t>
            </a:r>
            <a:r>
              <a:rPr lang="my-MM" dirty="0"/>
              <a:t>မိမိရဲ့ အချက်အလက် အနှစ်ချုပ်နဲ့ </a:t>
            </a:r>
            <a:r>
              <a:rPr lang="en-US" dirty="0"/>
              <a:t>status </a:t>
            </a:r>
            <a:r>
              <a:rPr lang="my-MM" dirty="0"/>
              <a:t>တွေကို ကြည့်ရှုနိုင်ပါတယ်။</a:t>
            </a:r>
            <a:br>
              <a:rPr lang="my-MM" dirty="0"/>
            </a:br>
            <a:br>
              <a:rPr lang="my-MM" dirty="0"/>
            </a:br>
            <a:r>
              <a:rPr lang="en-US" dirty="0"/>
              <a:t>Apply Leave Request: </a:t>
            </a:r>
            <a:r>
              <a:rPr lang="my-MM" dirty="0"/>
              <a:t>ခွင့်တိုင်ကြားလိုပါက ခွင့်လျှောက်လွှာ စတင်ဖြည့်စွက် လျှောက်ထားနိုင်ပါတယ်။</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Leave Request Submission: Staff </a:t>
            </a:r>
            <a:r>
              <a:rPr lang="my-MM" dirty="0"/>
              <a:t>က ခွင့်တင်လိုက်တဲ့အခါမှာ </a:t>
            </a:r>
            <a:r>
              <a:rPr lang="en-US" dirty="0"/>
              <a:t>Recommendation (</a:t>
            </a:r>
            <a:r>
              <a:rPr lang="my-MM" dirty="0"/>
              <a:t>ထောက်ခံချက်) အဆင့်ကို ရောက်သွားပါတယ်။</a:t>
            </a:r>
            <a:br>
              <a:rPr lang="my-MM" dirty="0"/>
            </a:br>
            <a:br>
              <a:rPr lang="my-MM" dirty="0"/>
            </a:br>
            <a:r>
              <a:rPr lang="en-US" dirty="0"/>
              <a:t>Approval Decision:</a:t>
            </a:r>
            <a:br>
              <a:rPr lang="en-US" dirty="0"/>
            </a:br>
            <a:br>
              <a:rPr lang="en-US" dirty="0"/>
            </a:br>
            <a:r>
              <a:rPr lang="en-US" dirty="0"/>
              <a:t>Not Recommend (</a:t>
            </a:r>
            <a:r>
              <a:rPr lang="my-MM" dirty="0"/>
              <a:t>မထောက်ခံပါ): </a:t>
            </a:r>
            <a:r>
              <a:rPr lang="en-US" dirty="0"/>
              <a:t>DH က</a:t>
            </a:r>
            <a:r>
              <a:rPr lang="my-MM" dirty="0"/>
              <a:t>မထောက်ခံရင် </a:t>
            </a:r>
            <a:r>
              <a:rPr lang="en-US" dirty="0"/>
              <a:t>Staff </a:t>
            </a:r>
            <a:r>
              <a:rPr lang="my-MM" dirty="0"/>
              <a:t>ဆီကို </a:t>
            </a:r>
            <a:r>
              <a:rPr lang="en-US" dirty="0"/>
              <a:t>Rejected Notification </a:t>
            </a:r>
            <a:r>
              <a:rPr lang="my-MM" dirty="0"/>
              <a:t>စာ ပိုပေးလိုက်မှာ ဖြစ်ပါတယ်။</a:t>
            </a:r>
            <a:br>
              <a:rPr lang="my-MM" dirty="0"/>
            </a:br>
            <a:r>
              <a:rPr lang="en-US" dirty="0"/>
              <a:t>Recommend (</a:t>
            </a:r>
            <a:r>
              <a:rPr lang="my-MM" dirty="0"/>
              <a:t>ထောက်ခံပါသည်): ထောက်ခံလိုက်ရင်တော့ ဒီ ခွင့်လျှောက်လွှာကို အတည်ပြုပေးနိုင်ဖို </a:t>
            </a:r>
            <a:r>
              <a:rPr lang="en-US" dirty="0"/>
              <a:t>Admin </a:t>
            </a:r>
            <a:r>
              <a:rPr lang="my-MM" dirty="0"/>
              <a:t>ဆီကို </a:t>
            </a:r>
            <a:r>
              <a:rPr lang="en-US" dirty="0"/>
              <a:t>Forward </a:t>
            </a:r>
            <a:r>
              <a:rPr lang="my-MM" dirty="0"/>
              <a:t>ဆက်လက် ပေးပို သွားမှာ ဖြစ်ပါတယ်</a:t>
            </a:r>
            <a:r>
              <a:rPr lang="en-US" dirty="0"/>
              <a:t>,</a:t>
            </a:r>
            <a:br>
              <a:rPr lang="my-MM" dirty="0"/>
            </a:br>
            <a:r>
              <a:rPr lang="en-US" dirty="0"/>
              <a:t>View Leave History (or Staff History): </a:t>
            </a:r>
            <a:r>
              <a:rPr lang="my-MM" dirty="0"/>
              <a:t>မိမိ ယခင်က လျှောက်ထားခဲ့ဖူးတဲ့ ခွင့်မှတ်တမ်းတွေနဲ့ ခွင့်ပြုချက် အခြေအနေတွေကို ပြန်လည်ကြည့်ရှုနိုင်ပါတယ်။</a:t>
            </a:r>
            <a:br>
              <a:rPr lang="my-MM" dirty="0"/>
            </a:br>
            <a:r>
              <a:rPr lang="en-US" dirty="0"/>
              <a:t>Manage Profile: </a:t>
            </a:r>
            <a:r>
              <a:rPr lang="my-MM" dirty="0"/>
              <a:t>မိမိရဲ့ ကိုယ်ရေးအချက်အလက် (</a:t>
            </a:r>
            <a:r>
              <a:rPr lang="en-US" dirty="0"/>
              <a:t>Personal Information) </a:t>
            </a:r>
            <a:r>
              <a:rPr lang="my-MM" dirty="0"/>
              <a:t>တွေကို ပြင်ဆင်နိုင်ပါတယ်။“</a:t>
            </a:r>
            <a:endParaRPr lang="en-US" dirty="0"/>
          </a:p>
          <a:p>
            <a:r>
              <a:rPr lang="en-US" dirty="0"/>
              <a:t>Leave Request Submission: Staff </a:t>
            </a:r>
            <a:r>
              <a:rPr lang="my-MM" dirty="0"/>
              <a:t>က ခွင့်တင်လိုက်တဲ့အခါမှာ </a:t>
            </a:r>
            <a:r>
              <a:rPr lang="en-US" dirty="0"/>
              <a:t>Recommendation (</a:t>
            </a:r>
            <a:r>
              <a:rPr lang="my-MM" dirty="0"/>
              <a:t>ထောက်ခံချက်) အဆင့်ကို ရောက်သွားပါတယ်။</a:t>
            </a:r>
            <a:br>
              <a:rPr lang="my-MM" dirty="0"/>
            </a:br>
            <a:br>
              <a:rPr lang="my-MM" dirty="0"/>
            </a:br>
            <a:r>
              <a:rPr lang="en-US" dirty="0"/>
              <a:t>Approval Decision:</a:t>
            </a:r>
            <a:br>
              <a:rPr lang="en-US" dirty="0"/>
            </a:br>
            <a:br>
              <a:rPr lang="en-US" dirty="0"/>
            </a:br>
            <a:r>
              <a:rPr lang="en-US" dirty="0"/>
              <a:t>Not Recommend (</a:t>
            </a:r>
            <a:r>
              <a:rPr lang="my-MM" dirty="0"/>
              <a:t>မထောက်ခံပါ): မန်နေဂျာ/လူကြီးက မထောက်ခံရင် </a:t>
            </a:r>
            <a:r>
              <a:rPr lang="en-US" dirty="0"/>
              <a:t>Staff </a:t>
            </a:r>
            <a:r>
              <a:rPr lang="my-MM" dirty="0"/>
              <a:t>ဆီကို </a:t>
            </a:r>
            <a:r>
              <a:rPr lang="en-US" dirty="0"/>
              <a:t>Rejected Notification </a:t>
            </a:r>
            <a:r>
              <a:rPr lang="my-MM" dirty="0"/>
              <a:t>စာ ပိုပေးလိုက်မှာ ဖြစ်ပါတယ်။</a:t>
            </a:r>
            <a:br>
              <a:rPr lang="my-MM" dirty="0"/>
            </a:br>
            <a:br>
              <a:rPr lang="my-MM" dirty="0"/>
            </a:br>
            <a:r>
              <a:rPr lang="en-US" dirty="0"/>
              <a:t>Recommend (</a:t>
            </a:r>
            <a:r>
              <a:rPr lang="my-MM" dirty="0"/>
              <a:t>ထောက်ခံပါသည်): ထောက်ခံလိုက်ရင်တော့ ဒီ ခွင့်လျှောက်လွှာကို အတည်ပြုပေးနိုင်ဖို </a:t>
            </a:r>
            <a:r>
              <a:rPr lang="en-US" dirty="0"/>
              <a:t>Admin </a:t>
            </a:r>
            <a:r>
              <a:rPr lang="my-MM" dirty="0"/>
              <a:t>ဆီကို </a:t>
            </a:r>
            <a:r>
              <a:rPr lang="en-US" dirty="0"/>
              <a:t>Forward </a:t>
            </a:r>
            <a:r>
              <a:rPr lang="my-MM" dirty="0"/>
              <a:t>ဆက်လက် ပေးပို သွားမှာ ဖြစ်ပါတယ်။</a:t>
            </a:r>
            <a:endParaRPr lang="en-US" dirty="0"/>
          </a:p>
          <a:p>
            <a:endParaRPr lang="en-US" dirty="0"/>
          </a:p>
          <a:p>
            <a:r>
              <a:rPr lang="my-MM" dirty="0"/>
              <a:t>အရင်ဦးစွာ </a:t>
            </a:r>
            <a:r>
              <a:rPr lang="en-US" dirty="0"/>
              <a:t>Staff </a:t>
            </a:r>
            <a:r>
              <a:rPr lang="my-MM" dirty="0"/>
              <a:t>က </a:t>
            </a:r>
            <a:r>
              <a:rPr lang="en-US" dirty="0"/>
              <a:t>Email </a:t>
            </a:r>
            <a:r>
              <a:rPr lang="my-MM" dirty="0"/>
              <a:t>နဲ့ </a:t>
            </a:r>
            <a:r>
              <a:rPr lang="en-US" dirty="0"/>
              <a:t>Password </a:t>
            </a:r>
            <a:r>
              <a:rPr lang="my-MM" dirty="0"/>
              <a:t>ရိုက်ထည့်ပြီး </a:t>
            </a:r>
            <a:r>
              <a:rPr lang="en-US" dirty="0"/>
              <a:t>Login </a:t>
            </a:r>
            <a:r>
              <a:rPr lang="my-MM" dirty="0"/>
              <a:t>ဝင်ရပါမယ်။ </a:t>
            </a:r>
            <a:r>
              <a:rPr lang="en-US" dirty="0"/>
              <a:t>System </a:t>
            </a:r>
            <a:r>
              <a:rPr lang="my-MM" dirty="0"/>
              <a:t>က အချက်အလက်စစ်ဆေးပြီး မှားနေရင် </a:t>
            </a:r>
            <a:r>
              <a:rPr lang="en-US" dirty="0"/>
              <a:t>Login </a:t>
            </a:r>
            <a:r>
              <a:rPr lang="my-MM" dirty="0"/>
              <a:t>မှာပဲ ပြန်စခိုင်းပါမယ်။ မှန်ရင် </a:t>
            </a:r>
            <a:r>
              <a:rPr lang="en-US" dirty="0"/>
              <a:t>Staff Home Page </a:t>
            </a:r>
            <a:r>
              <a:rPr lang="my-MM" dirty="0"/>
              <a:t>ကို ရောက်ရှိသွားမှာပါ။</a:t>
            </a:r>
            <a:br>
              <a:rPr lang="my-MM" dirty="0"/>
            </a:br>
            <a:br>
              <a:rPr lang="my-MM" dirty="0"/>
            </a:br>
            <a:r>
              <a:rPr lang="en-US" dirty="0"/>
              <a:t>Main Features: Home Page </a:t>
            </a:r>
            <a:r>
              <a:rPr lang="my-MM" dirty="0"/>
              <a:t>ရောက်ရင် </a:t>
            </a:r>
            <a:r>
              <a:rPr lang="en-US" dirty="0"/>
              <a:t>Staff </a:t>
            </a:r>
            <a:r>
              <a:rPr lang="my-MM" dirty="0"/>
              <a:t>အနေနဲ့ မိမိလုပ်ချင်တဲ့ </a:t>
            </a:r>
            <a:r>
              <a:rPr lang="en-US" dirty="0"/>
              <a:t>Menu (</a:t>
            </a:r>
            <a:r>
              <a:rPr lang="my-MM" dirty="0"/>
              <a:t>၄) ခုထဲက ရွေးချယ်နိုင်ပါတယ်-</a:t>
            </a:r>
            <a:br>
              <a:rPr lang="my-MM" dirty="0"/>
            </a:br>
            <a:br>
              <a:rPr lang="my-MM" dirty="0"/>
            </a:br>
            <a:r>
              <a:rPr lang="en-US" dirty="0"/>
              <a:t>View Dashboard: </a:t>
            </a:r>
            <a:r>
              <a:rPr lang="my-MM" dirty="0"/>
              <a:t>အနှစ်ချုပ်အချက်အလက်တွေ ကြည့်နိုင်ပါတယ်။</a:t>
            </a:r>
            <a:br>
              <a:rPr lang="my-MM" dirty="0"/>
            </a:br>
            <a:br>
              <a:rPr lang="my-MM" dirty="0"/>
            </a:br>
            <a:r>
              <a:rPr lang="en-US" dirty="0"/>
              <a:t>Apply Leave Request: </a:t>
            </a:r>
            <a:r>
              <a:rPr lang="my-MM" dirty="0"/>
              <a:t>ခွင့်တိုင်ကြားနိုင်ပါတယ်။</a:t>
            </a:r>
            <a:br>
              <a:rPr lang="my-MM" dirty="0"/>
            </a:br>
            <a:r>
              <a:rPr lang="en-US" dirty="0"/>
              <a:t>View Leave History: </a:t>
            </a:r>
            <a:r>
              <a:rPr lang="my-MM" dirty="0"/>
              <a:t>ယခင် ခွင့်တင်ထားတဲ့ မှတ်တမ်းတွေ ပြန်ကြည့်နိုင်ပါတယ်။</a:t>
            </a:r>
            <a:br>
              <a:rPr lang="my-MM" dirty="0"/>
            </a:br>
            <a:br>
              <a:rPr lang="my-MM" dirty="0"/>
            </a:br>
            <a:r>
              <a:rPr lang="en-US" dirty="0"/>
              <a:t>Manage Profile: </a:t>
            </a:r>
            <a:r>
              <a:rPr lang="my-MM" dirty="0"/>
              <a:t>ကိုယ်ရေးအချက်အလက် ပြင်ဆင်နိုင်ပါတယ်။</a:t>
            </a:r>
            <a:br>
              <a:rPr lang="my-MM" dirty="0"/>
            </a:br>
            <a:br>
              <a:rPr lang="my-MM" dirty="0"/>
            </a:br>
            <a:r>
              <a:rPr lang="en-US" dirty="0"/>
              <a:t>Logout: </a:t>
            </a:r>
            <a:r>
              <a:rPr lang="my-MM" dirty="0"/>
              <a:t>အလုပ်တွေ ပြီးသွားရင်တော့ </a:t>
            </a:r>
            <a:r>
              <a:rPr lang="en-US" dirty="0"/>
              <a:t>Logout </a:t>
            </a:r>
            <a:r>
              <a:rPr lang="my-MM" dirty="0"/>
              <a:t>နှိပ်ပြီး စနစ်ကနေ ထွက်ခွာ (</a:t>
            </a:r>
            <a:r>
              <a:rPr lang="en-US" dirty="0"/>
              <a:t>Stop) </a:t>
            </a:r>
            <a:r>
              <a:rPr lang="my-MM" dirty="0"/>
              <a:t>သွားမှာ ဖြစ်ပါတယ်။"</a:t>
            </a:r>
            <a:br>
              <a:rPr lang="my-MM" dirty="0"/>
            </a:br>
            <a:r>
              <a:rPr lang="my-MM" dirty="0"/>
              <a:t>ပထမဦးစွာ </a:t>
            </a:r>
            <a:r>
              <a:rPr lang="en-US" dirty="0"/>
              <a:t>User </a:t>
            </a:r>
            <a:r>
              <a:rPr lang="my-MM" dirty="0"/>
              <a:t>အနေနဲ့ စနစ်ကို စတင်အသုံးပြုဖို့အတွက် သူတို့ရဲ့ </a:t>
            </a:r>
            <a:r>
              <a:rPr lang="en-US" dirty="0"/>
              <a:t>Email </a:t>
            </a:r>
            <a:r>
              <a:rPr lang="my-MM" dirty="0"/>
              <a:t>နဲ့ </a:t>
            </a:r>
            <a:r>
              <a:rPr lang="en-US" dirty="0"/>
              <a:t>Password </a:t>
            </a:r>
            <a:r>
              <a:rPr lang="my-MM" dirty="0"/>
              <a:t>ကို ရိုက်ထည့်ပြီး </a:t>
            </a:r>
            <a:r>
              <a:rPr lang="en-US" dirty="0"/>
              <a:t>Login </a:t>
            </a:r>
            <a:r>
              <a:rPr lang="my-MM" dirty="0"/>
              <a:t>ဝင်ရပါမယ်။</a:t>
            </a:r>
            <a:br>
              <a:rPr lang="my-MM" dirty="0"/>
            </a:br>
            <a:br>
              <a:rPr lang="my-MM" dirty="0"/>
            </a:br>
            <a:r>
              <a:rPr lang="my-MM" dirty="0"/>
              <a:t>အဲဒီမှာ စနစ်က အချက်အလက် မှန်/မမှန် စစ်ဆေးသွားမှာ ဖြစ်ပြီး—</a:t>
            </a:r>
            <a:br>
              <a:rPr lang="my-MM" dirty="0"/>
            </a:br>
            <a:br>
              <a:rPr lang="my-MM" dirty="0"/>
            </a:br>
            <a:r>
              <a:rPr lang="my-MM" dirty="0"/>
              <a:t>မှားယွင်းနေရင် (</a:t>
            </a:r>
            <a:r>
              <a:rPr lang="en-US" dirty="0"/>
              <a:t>No): Login </a:t>
            </a:r>
            <a:r>
              <a:rPr lang="my-MM" dirty="0"/>
              <a:t>စာမျက်နှာကို ပြန်ညွှန်းပေးပြီး အချက်အလက် ပြန်ရိုက်ထည့်ခိုင်းပါမယ်။</a:t>
            </a:r>
            <a:br>
              <a:rPr lang="my-MM" dirty="0"/>
            </a:br>
            <a:br>
              <a:rPr lang="my-MM" dirty="0"/>
            </a:br>
            <a:r>
              <a:rPr lang="my-MM" dirty="0"/>
              <a:t>မှန်ကန်သွားရင် (</a:t>
            </a:r>
            <a:r>
              <a:rPr lang="en-US" dirty="0"/>
              <a:t>Yes): User </a:t>
            </a:r>
            <a:r>
              <a:rPr lang="my-MM" dirty="0"/>
              <a:t>ကို </a:t>
            </a:r>
            <a:r>
              <a:rPr lang="en-US" dirty="0"/>
              <a:t>Staff Home Page (</a:t>
            </a:r>
            <a:r>
              <a:rPr lang="my-MM" dirty="0"/>
              <a:t>သို့မဟုတ် </a:t>
            </a:r>
            <a:r>
              <a:rPr lang="en-US" dirty="0"/>
              <a:t>Dashboard) </a:t>
            </a:r>
            <a:r>
              <a:rPr lang="my-MM" dirty="0"/>
              <a:t>ဆီကို တိုက်ရိုက် ပို့ဆောင်ပေးမှာ ဖြစ်ပါတယ်။"</a:t>
            </a:r>
            <a:br>
              <a:rPr lang="my-MM" dirty="0"/>
            </a:br>
            <a:r>
              <a:rPr lang="en-US" dirty="0"/>
              <a:t>Staff Home Page </a:t>
            </a:r>
            <a:r>
              <a:rPr lang="my-MM" dirty="0"/>
              <a:t>ရောက်သွားပြီဆိုရင် </a:t>
            </a:r>
            <a:r>
              <a:rPr lang="en-US" dirty="0"/>
              <a:t>User </a:t>
            </a:r>
            <a:r>
              <a:rPr lang="my-MM" dirty="0"/>
              <a:t>အနေနဲ့ မိမိလုပ်ဆောင်ချင်တဲ့ လုပ်ဆောင်ချက် (</a:t>
            </a:r>
            <a:r>
              <a:rPr lang="en-US" dirty="0"/>
              <a:t>Feature) </a:t>
            </a:r>
            <a:r>
              <a:rPr lang="my-MM" dirty="0"/>
              <a:t>တွေကို ရွေးချယ် အသုံးပြုနိုင်မှာ ဖြစ်ပါတယ်။</a:t>
            </a:r>
            <a:br>
              <a:rPr lang="my-MM" dirty="0"/>
            </a:br>
            <a:br>
              <a:rPr lang="my-MM" dirty="0"/>
            </a:br>
            <a:r>
              <a:rPr lang="en-US" dirty="0"/>
              <a:t>View Dashboard: </a:t>
            </a:r>
            <a:r>
              <a:rPr lang="my-MM" dirty="0"/>
              <a:t>မိမိရဲ့ အချက်အလက် အနှစ်ချုပ်နဲ့ </a:t>
            </a:r>
            <a:r>
              <a:rPr lang="en-US" dirty="0"/>
              <a:t>status </a:t>
            </a:r>
            <a:r>
              <a:rPr lang="my-MM" dirty="0"/>
              <a:t>တွေကို ကြည့်ရှုနိုင်ပါတယ်။</a:t>
            </a:r>
            <a:br>
              <a:rPr lang="my-MM" dirty="0"/>
            </a:br>
            <a:br>
              <a:rPr lang="my-MM" dirty="0"/>
            </a:br>
            <a:r>
              <a:rPr lang="en-US" dirty="0"/>
              <a:t>Apply Leave Request: </a:t>
            </a:r>
            <a:r>
              <a:rPr lang="my-MM" dirty="0"/>
              <a:t>ခွင့်တိုင်ကြားလိုပါက ခွင့်လျှောက်လွှာ စတင်ဖြည့်စွက် လျှောက်ထားနိုင်ပါတယ်။</a:t>
            </a:r>
            <a:r>
              <a:rPr lang="en-US" dirty="0"/>
              <a:t>Leave Request Submission: Staff </a:t>
            </a:r>
            <a:r>
              <a:rPr lang="my-MM" dirty="0"/>
              <a:t>က ခွင့်တင်လိုက်တဲ့အခါမှာ </a:t>
            </a:r>
            <a:r>
              <a:rPr lang="en-US" dirty="0"/>
              <a:t>Recommendation (</a:t>
            </a:r>
            <a:r>
              <a:rPr lang="my-MM" dirty="0"/>
              <a:t>ထောက်ခံချက်) အဆင့်ကို ရောက်သွားပါတယ်။</a:t>
            </a:r>
            <a:br>
              <a:rPr lang="my-MM" dirty="0"/>
            </a:br>
            <a:br>
              <a:rPr lang="my-MM" dirty="0"/>
            </a:br>
            <a:endParaRPr lang="en-US" dirty="0"/>
          </a:p>
        </p:txBody>
      </p:sp>
      <p:sp>
        <p:nvSpPr>
          <p:cNvPr id="4" name="Slide Number Placeholder 3"/>
          <p:cNvSpPr>
            <a:spLocks noGrp="1"/>
          </p:cNvSpPr>
          <p:nvPr>
            <p:ph type="sldNum" sz="quarter" idx="5"/>
          </p:nvPr>
        </p:nvSpPr>
        <p:spPr/>
        <p:txBody>
          <a:bodyPr/>
          <a:lstStyle/>
          <a:p>
            <a:fld id="{AEA0FD98-7654-445C-8E24-0AB7F0410E36}" type="slidenum">
              <a:rPr lang="en-US" smtClean="0"/>
              <a:t>14</a:t>
            </a:fld>
            <a:endParaRPr lang="en-US"/>
          </a:p>
        </p:txBody>
      </p:sp>
    </p:spTree>
    <p:extLst>
      <p:ext uri="{BB962C8B-B14F-4D97-AF65-F5344CB8AC3E}">
        <p14:creationId xmlns:p14="http://schemas.microsoft.com/office/powerpoint/2010/main" val="41802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AutoNum type="arabicPeriod"/>
            </a:pPr>
            <a:endParaRPr lang="en-US" b="0" i="0" dirty="0">
              <a:solidFill>
                <a:srgbClr val="0D0D0D"/>
              </a:solidFill>
              <a:effectLst/>
              <a:latin typeface="-apple-system-body"/>
            </a:endParaRPr>
          </a:p>
          <a:p>
            <a:pPr algn="l">
              <a:buFont typeface="+mj-lt"/>
              <a:buAutoNum type="arabicPeriod"/>
            </a:pPr>
            <a:endParaRPr lang="en-US" b="0" i="0" dirty="0">
              <a:solidFill>
                <a:srgbClr val="0D0D0D"/>
              </a:solidFill>
              <a:effectLst/>
              <a:latin typeface="-apple-system-body"/>
            </a:endParaRPr>
          </a:p>
          <a:p>
            <a:pPr algn="l">
              <a:buFont typeface="+mj-lt"/>
              <a:buAutoNum type="arabicPeriod"/>
            </a:pPr>
            <a:r>
              <a:rPr lang="en-US" b="0" i="0" dirty="0">
                <a:solidFill>
                  <a:srgbClr val="0D0D0D"/>
                </a:solidFill>
                <a:effectLst/>
                <a:latin typeface="-apple-system-body"/>
              </a:rPr>
              <a:t>Admin </a:t>
            </a:r>
            <a:r>
              <a:rPr lang="my-MM" b="0" i="0" dirty="0">
                <a:solidFill>
                  <a:srgbClr val="0D0D0D"/>
                </a:solidFill>
                <a:effectLst/>
                <a:latin typeface="-apple-system-body"/>
              </a:rPr>
              <a:t>က </a:t>
            </a:r>
            <a:r>
              <a:rPr lang="en-US" b="0" i="0" dirty="0">
                <a:solidFill>
                  <a:srgbClr val="0D0D0D"/>
                </a:solidFill>
                <a:effectLst/>
                <a:latin typeface="-apple-system-body"/>
              </a:rPr>
              <a:t>System </a:t>
            </a:r>
            <a:r>
              <a:rPr lang="my-MM" b="0" i="0" dirty="0">
                <a:solidFill>
                  <a:srgbClr val="0D0D0D"/>
                </a:solidFill>
                <a:effectLst/>
                <a:latin typeface="-apple-system-body"/>
              </a:rPr>
              <a:t>ထဲမှာ—</a:t>
            </a:r>
          </a:p>
          <a:p>
            <a:pPr algn="l">
              <a:buFont typeface="+mj-lt"/>
              <a:buAutoNum type="arabicPeriod"/>
            </a:pPr>
            <a:r>
              <a:rPr lang="en-US" b="0" i="0" dirty="0">
                <a:solidFill>
                  <a:srgbClr val="0D0D0D"/>
                </a:solidFill>
                <a:effectLst/>
                <a:latin typeface="-apple-system-body"/>
              </a:rPr>
              <a:t>Login </a:t>
            </a:r>
            <a:r>
              <a:rPr lang="my-MM" b="0" i="0" dirty="0">
                <a:solidFill>
                  <a:srgbClr val="0D0D0D"/>
                </a:solidFill>
                <a:effectLst/>
                <a:latin typeface="-apple-system-body"/>
              </a:rPr>
              <a:t>ဝင်နိုင်တယ်</a:t>
            </a:r>
          </a:p>
          <a:p>
            <a:pPr algn="l">
              <a:buFont typeface="+mj-lt"/>
              <a:buAutoNum type="arabicPeriod"/>
            </a:pPr>
            <a:r>
              <a:rPr lang="en-US" b="0" i="0" dirty="0">
                <a:solidFill>
                  <a:srgbClr val="0D0D0D"/>
                </a:solidFill>
                <a:effectLst/>
                <a:latin typeface="-apple-system-body"/>
              </a:rPr>
              <a:t>Dashboard </a:t>
            </a:r>
            <a:r>
              <a:rPr lang="my-MM" b="0" i="0" dirty="0">
                <a:solidFill>
                  <a:srgbClr val="0D0D0D"/>
                </a:solidFill>
                <a:effectLst/>
                <a:latin typeface="-apple-system-body"/>
              </a:rPr>
              <a:t>ကြည့်နိုင်တယ်</a:t>
            </a:r>
          </a:p>
          <a:p>
            <a:pPr algn="l">
              <a:buFont typeface="+mj-lt"/>
              <a:buAutoNum type="arabicPeriod"/>
            </a:pPr>
            <a:r>
              <a:rPr lang="en-US" b="0" i="0" dirty="0">
                <a:solidFill>
                  <a:srgbClr val="0D0D0D"/>
                </a:solidFill>
                <a:effectLst/>
                <a:latin typeface="-apple-system-body"/>
              </a:rPr>
              <a:t>Department </a:t>
            </a:r>
            <a:r>
              <a:rPr lang="my-MM" b="0" i="0" dirty="0">
                <a:solidFill>
                  <a:srgbClr val="0D0D0D"/>
                </a:solidFill>
                <a:effectLst/>
                <a:latin typeface="-apple-system-body"/>
              </a:rPr>
              <a:t>တွေကို </a:t>
            </a:r>
            <a:r>
              <a:rPr lang="en-US" b="0" i="0" dirty="0">
                <a:solidFill>
                  <a:srgbClr val="0D0D0D"/>
                </a:solidFill>
                <a:effectLst/>
                <a:latin typeface="-apple-system-body"/>
              </a:rPr>
              <a:t>Manage </a:t>
            </a:r>
            <a:r>
              <a:rPr lang="my-MM" b="0" i="0" dirty="0">
                <a:solidFill>
                  <a:srgbClr val="0D0D0D"/>
                </a:solidFill>
                <a:effectLst/>
                <a:latin typeface="-apple-system-body"/>
              </a:rPr>
              <a:t>လုပ်နိုင်တယ်</a:t>
            </a:r>
          </a:p>
          <a:p>
            <a:pPr algn="l">
              <a:buFont typeface="+mj-lt"/>
              <a:buAutoNum type="arabicPeriod"/>
            </a:pPr>
            <a:r>
              <a:rPr lang="en-US" b="0" i="0" dirty="0">
                <a:solidFill>
                  <a:srgbClr val="0D0D0D"/>
                </a:solidFill>
                <a:effectLst/>
                <a:latin typeface="-apple-system-body"/>
              </a:rPr>
              <a:t>Leave Type </a:t>
            </a:r>
            <a:r>
              <a:rPr lang="my-MM" b="0" i="0" dirty="0">
                <a:solidFill>
                  <a:srgbClr val="0D0D0D"/>
                </a:solidFill>
                <a:effectLst/>
                <a:latin typeface="-apple-system-body"/>
              </a:rPr>
              <a:t>တွေကို </a:t>
            </a:r>
            <a:r>
              <a:rPr lang="en-US" b="0" i="0" dirty="0">
                <a:solidFill>
                  <a:srgbClr val="0D0D0D"/>
                </a:solidFill>
                <a:effectLst/>
                <a:latin typeface="-apple-system-body"/>
              </a:rPr>
              <a:t>Manage </a:t>
            </a:r>
            <a:r>
              <a:rPr lang="my-MM" b="0" i="0" dirty="0">
                <a:solidFill>
                  <a:srgbClr val="0D0D0D"/>
                </a:solidFill>
                <a:effectLst/>
                <a:latin typeface="-apple-system-body"/>
              </a:rPr>
              <a:t>လုပ်နိုင်တယ်</a:t>
            </a:r>
          </a:p>
          <a:p>
            <a:pPr algn="l">
              <a:buFont typeface="+mj-lt"/>
              <a:buAutoNum type="arabicPeriod"/>
            </a:pPr>
            <a:r>
              <a:rPr lang="en-US" b="0" i="0" dirty="0">
                <a:solidFill>
                  <a:srgbClr val="0D0D0D"/>
                </a:solidFill>
                <a:effectLst/>
                <a:latin typeface="-apple-system-body"/>
              </a:rPr>
              <a:t>Staff </a:t>
            </a:r>
            <a:r>
              <a:rPr lang="my-MM" b="0" i="0" dirty="0">
                <a:solidFill>
                  <a:srgbClr val="0D0D0D"/>
                </a:solidFill>
                <a:effectLst/>
                <a:latin typeface="-apple-system-body"/>
              </a:rPr>
              <a:t>တွေကို </a:t>
            </a:r>
            <a:r>
              <a:rPr lang="en-US" b="0" i="0" dirty="0">
                <a:solidFill>
                  <a:srgbClr val="0D0D0D"/>
                </a:solidFill>
                <a:effectLst/>
                <a:latin typeface="-apple-system-body"/>
              </a:rPr>
              <a:t>Manage </a:t>
            </a:r>
            <a:r>
              <a:rPr lang="my-MM" b="0" i="0" dirty="0">
                <a:solidFill>
                  <a:srgbClr val="0D0D0D"/>
                </a:solidFill>
                <a:effectLst/>
                <a:latin typeface="-apple-system-body"/>
              </a:rPr>
              <a:t>လုပ်နိုင်တယ်</a:t>
            </a:r>
          </a:p>
          <a:p>
            <a:pPr algn="l">
              <a:buFont typeface="+mj-lt"/>
              <a:buAutoNum type="arabicPeriod"/>
            </a:pPr>
            <a:r>
              <a:rPr lang="en-US" b="0" i="0" dirty="0">
                <a:solidFill>
                  <a:srgbClr val="0D0D0D"/>
                </a:solidFill>
                <a:effectLst/>
                <a:latin typeface="-apple-system-body"/>
              </a:rPr>
              <a:t>Leave Request </a:t>
            </a:r>
            <a:r>
              <a:rPr lang="my-MM" b="0" i="0" dirty="0">
                <a:solidFill>
                  <a:srgbClr val="0D0D0D"/>
                </a:solidFill>
                <a:effectLst/>
                <a:latin typeface="-apple-system-body"/>
              </a:rPr>
              <a:t>တွေကို စီမံနိုင်တယ်</a:t>
            </a:r>
          </a:p>
          <a:p>
            <a:pPr algn="l">
              <a:buFont typeface="+mj-lt"/>
              <a:buAutoNum type="arabicPeriod"/>
            </a:pPr>
            <a:r>
              <a:rPr lang="en-US" b="0" i="0" dirty="0">
                <a:solidFill>
                  <a:srgbClr val="0D0D0D"/>
                </a:solidFill>
                <a:effectLst/>
                <a:latin typeface="-apple-system-body"/>
              </a:rPr>
              <a:t>Report </a:t>
            </a:r>
            <a:r>
              <a:rPr lang="my-MM" b="0" i="0" dirty="0">
                <a:solidFill>
                  <a:srgbClr val="0D0D0D"/>
                </a:solidFill>
                <a:effectLst/>
                <a:latin typeface="-apple-system-body"/>
              </a:rPr>
              <a:t>တွေ </a:t>
            </a:r>
            <a:r>
              <a:rPr lang="en-US" b="0" i="0" dirty="0">
                <a:solidFill>
                  <a:srgbClr val="0D0D0D"/>
                </a:solidFill>
                <a:effectLst/>
                <a:latin typeface="-apple-system-body"/>
              </a:rPr>
              <a:t>Generate </a:t>
            </a:r>
            <a:r>
              <a:rPr lang="my-MM" b="0" i="0" dirty="0">
                <a:solidFill>
                  <a:srgbClr val="0D0D0D"/>
                </a:solidFill>
                <a:effectLst/>
                <a:latin typeface="-apple-system-body"/>
              </a:rPr>
              <a:t>လုပ်နိုင်တယ်</a:t>
            </a:r>
          </a:p>
          <a:p>
            <a:pPr algn="l">
              <a:buFont typeface="+mj-lt"/>
              <a:buAutoNum type="arabicPeriod"/>
            </a:pPr>
            <a:r>
              <a:rPr lang="en-US" b="0" i="0" dirty="0">
                <a:solidFill>
                  <a:srgbClr val="0D0D0D"/>
                </a:solidFill>
                <a:effectLst/>
                <a:latin typeface="-apple-system-body"/>
              </a:rPr>
              <a:t>Logout </a:t>
            </a:r>
            <a:r>
              <a:rPr lang="my-MM" b="0" i="0" dirty="0">
                <a:solidFill>
                  <a:srgbClr val="0D0D0D"/>
                </a:solidFill>
                <a:effectLst/>
                <a:latin typeface="-apple-system-body"/>
              </a:rPr>
              <a:t>လုပ်နိုင်တယ်</a:t>
            </a:r>
          </a:p>
          <a:p>
            <a:pPr algn="l">
              <a:buFont typeface="+mj-lt"/>
              <a:buAutoNum type="arabicPeriod"/>
            </a:pPr>
            <a:r>
              <a:rPr lang="my-MM" b="0" i="0" dirty="0">
                <a:solidFill>
                  <a:srgbClr val="0D0D0D"/>
                </a:solidFill>
                <a:effectLst/>
                <a:latin typeface="-apple-system-body"/>
              </a:rPr>
              <a:t>ဆိုတဲ့ အဓိကလုပ်ဆောင်ချက်တွေ ရှိပါတယ်။</a:t>
            </a:r>
          </a:p>
          <a:p>
            <a:pPr algn="l">
              <a:buFont typeface="+mj-lt"/>
              <a:buAutoNum type="arabicPeriod"/>
            </a:pPr>
            <a:r>
              <a:rPr lang="my-MM" b="1" i="0" dirty="0">
                <a:solidFill>
                  <a:srgbClr val="0D0D0D"/>
                </a:solidFill>
                <a:effectLst/>
                <a:latin typeface="-apple-system-body"/>
              </a:rPr>
              <a:t>၂။ </a:t>
            </a:r>
            <a:r>
              <a:rPr lang="en-US" b="1" i="0" dirty="0">
                <a:solidFill>
                  <a:srgbClr val="0D0D0D"/>
                </a:solidFill>
                <a:effectLst/>
                <a:latin typeface="-apple-system-body"/>
              </a:rPr>
              <a:t>Login</a:t>
            </a:r>
          </a:p>
          <a:p>
            <a:pPr algn="l">
              <a:buFont typeface="+mj-lt"/>
              <a:buAutoNum type="arabicPeriod"/>
            </a:pPr>
            <a:r>
              <a:rPr lang="my-MM" b="0" i="0" dirty="0">
                <a:solidFill>
                  <a:srgbClr val="0D0D0D"/>
                </a:solidFill>
                <a:effectLst/>
                <a:latin typeface="-apple-system-body"/>
              </a:rPr>
              <a:t>ပထမဆုံး </a:t>
            </a:r>
            <a:r>
              <a:rPr lang="en-US" b="0" i="0" dirty="0">
                <a:solidFill>
                  <a:srgbClr val="0D0D0D"/>
                </a:solidFill>
                <a:effectLst/>
                <a:latin typeface="-apple-system-body"/>
              </a:rPr>
              <a:t>Admin </a:t>
            </a:r>
            <a:r>
              <a:rPr lang="my-MM" b="0" i="0" dirty="0">
                <a:solidFill>
                  <a:srgbClr val="0D0D0D"/>
                </a:solidFill>
                <a:effectLst/>
                <a:latin typeface="-apple-system-body"/>
              </a:rPr>
              <a:t>က </a:t>
            </a:r>
            <a:r>
              <a:rPr lang="en-US" b="1" i="0" dirty="0">
                <a:solidFill>
                  <a:srgbClr val="0D0D0D"/>
                </a:solidFill>
                <a:effectLst/>
                <a:latin typeface="-apple-system-body"/>
              </a:rPr>
              <a:t>Login</a:t>
            </a:r>
            <a:r>
              <a:rPr lang="en-US" b="0" i="0" dirty="0">
                <a:solidFill>
                  <a:srgbClr val="0D0D0D"/>
                </a:solidFill>
                <a:effectLst/>
                <a:latin typeface="-apple-system-body"/>
              </a:rPr>
              <a:t> </a:t>
            </a:r>
            <a:r>
              <a:rPr lang="my-MM" b="0" i="0" dirty="0">
                <a:solidFill>
                  <a:srgbClr val="0D0D0D"/>
                </a:solidFill>
                <a:effectLst/>
                <a:latin typeface="-apple-system-body"/>
              </a:rPr>
              <a:t>ဝင်ပါတယ်။</a:t>
            </a:r>
          </a:p>
          <a:p>
            <a:pPr algn="l">
              <a:buFont typeface="+mj-lt"/>
              <a:buAutoNum type="arabicPeriod"/>
            </a:pPr>
            <a:r>
              <a:rPr lang="en-US" b="0" i="0" dirty="0">
                <a:solidFill>
                  <a:srgbClr val="0D0D0D"/>
                </a:solidFill>
                <a:effectLst/>
                <a:latin typeface="-apple-system-body"/>
              </a:rPr>
              <a:t>Username / Password </a:t>
            </a:r>
            <a:r>
              <a:rPr lang="my-MM" b="0" i="0" dirty="0">
                <a:solidFill>
                  <a:srgbClr val="0D0D0D"/>
                </a:solidFill>
                <a:effectLst/>
                <a:latin typeface="-apple-system-body"/>
              </a:rPr>
              <a:t>မှန်ရင် </a:t>
            </a:r>
            <a:r>
              <a:rPr lang="en-US" b="0" i="0" dirty="0">
                <a:solidFill>
                  <a:srgbClr val="0D0D0D"/>
                </a:solidFill>
                <a:effectLst/>
                <a:latin typeface="-apple-system-body"/>
              </a:rPr>
              <a:t>System </a:t>
            </a:r>
            <a:r>
              <a:rPr lang="my-MM" b="0" i="0" dirty="0">
                <a:solidFill>
                  <a:srgbClr val="0D0D0D"/>
                </a:solidFill>
                <a:effectLst/>
                <a:latin typeface="-apple-system-body"/>
              </a:rPr>
              <a:t>ထဲဝင်ပြီး </a:t>
            </a:r>
            <a:r>
              <a:rPr lang="en-US" b="0" i="0" dirty="0">
                <a:solidFill>
                  <a:srgbClr val="0D0D0D"/>
                </a:solidFill>
                <a:effectLst/>
                <a:latin typeface="-apple-system-body"/>
              </a:rPr>
              <a:t>Admin Function </a:t>
            </a:r>
            <a:r>
              <a:rPr lang="my-MM" b="0" i="0" dirty="0">
                <a:solidFill>
                  <a:srgbClr val="0D0D0D"/>
                </a:solidFill>
                <a:effectLst/>
                <a:latin typeface="-apple-system-body"/>
              </a:rPr>
              <a:t>တွေကို အသုံးပြုနိုင်မယ်။</a:t>
            </a:r>
          </a:p>
          <a:p>
            <a:pPr algn="l">
              <a:buFont typeface="+mj-lt"/>
              <a:buAutoNum type="arabicPeriod"/>
            </a:pPr>
            <a:r>
              <a:rPr lang="my-MM" b="1" i="0" dirty="0">
                <a:solidFill>
                  <a:srgbClr val="0D0D0D"/>
                </a:solidFill>
                <a:effectLst/>
                <a:latin typeface="-apple-system-body"/>
              </a:rPr>
              <a:t>၃။ </a:t>
            </a:r>
            <a:r>
              <a:rPr lang="en-US" b="1" i="0" dirty="0">
                <a:solidFill>
                  <a:srgbClr val="0D0D0D"/>
                </a:solidFill>
                <a:effectLst/>
                <a:latin typeface="-apple-system-body"/>
              </a:rPr>
              <a:t>Dashboard</a:t>
            </a:r>
          </a:p>
          <a:p>
            <a:pPr algn="l">
              <a:buFont typeface="+mj-lt"/>
              <a:buAutoNum type="arabicPeriod"/>
            </a:pPr>
            <a:r>
              <a:rPr lang="en-US" b="0" i="0" dirty="0">
                <a:solidFill>
                  <a:srgbClr val="0D0D0D"/>
                </a:solidFill>
                <a:effectLst/>
                <a:latin typeface="-apple-system-body"/>
              </a:rPr>
              <a:t>Login </a:t>
            </a:r>
            <a:r>
              <a:rPr lang="my-MM" b="0" i="0" dirty="0">
                <a:solidFill>
                  <a:srgbClr val="0D0D0D"/>
                </a:solidFill>
                <a:effectLst/>
                <a:latin typeface="-apple-system-body"/>
              </a:rPr>
              <a:t>ဝင်ပြီးရင် </a:t>
            </a:r>
            <a:r>
              <a:rPr lang="en-US" b="1" i="0" dirty="0">
                <a:solidFill>
                  <a:srgbClr val="0D0D0D"/>
                </a:solidFill>
                <a:effectLst/>
                <a:latin typeface="-apple-system-body"/>
              </a:rPr>
              <a:t>Dashboard</a:t>
            </a:r>
            <a:r>
              <a:rPr lang="en-US" b="0" i="0" dirty="0">
                <a:solidFill>
                  <a:srgbClr val="0D0D0D"/>
                </a:solidFill>
                <a:effectLst/>
                <a:latin typeface="-apple-system-body"/>
              </a:rPr>
              <a:t> </a:t>
            </a:r>
            <a:r>
              <a:rPr lang="my-MM" b="0" i="0" dirty="0">
                <a:solidFill>
                  <a:srgbClr val="0D0D0D"/>
                </a:solidFill>
                <a:effectLst/>
                <a:latin typeface="-apple-system-body"/>
              </a:rPr>
              <a:t>ကို ကြည့်နိုင်ပါတယ်။</a:t>
            </a:r>
          </a:p>
          <a:p>
            <a:pPr algn="l">
              <a:buFont typeface="+mj-lt"/>
              <a:buAutoNum type="arabicPeriod"/>
            </a:pPr>
            <a:r>
              <a:rPr lang="en-US" b="0" i="0" dirty="0">
                <a:solidFill>
                  <a:srgbClr val="0D0D0D"/>
                </a:solidFill>
                <a:effectLst/>
                <a:latin typeface="-apple-system-body"/>
              </a:rPr>
              <a:t>Dashboard </a:t>
            </a:r>
            <a:r>
              <a:rPr lang="my-MM" b="0" i="0" dirty="0">
                <a:solidFill>
                  <a:srgbClr val="0D0D0D"/>
                </a:solidFill>
                <a:effectLst/>
                <a:latin typeface="-apple-system-body"/>
              </a:rPr>
              <a:t>ဆိုတာ </a:t>
            </a:r>
            <a:r>
              <a:rPr lang="en-US" b="0" i="0" dirty="0">
                <a:solidFill>
                  <a:srgbClr val="0D0D0D"/>
                </a:solidFill>
                <a:effectLst/>
                <a:latin typeface="-apple-system-body"/>
              </a:rPr>
              <a:t>System </a:t>
            </a:r>
            <a:r>
              <a:rPr lang="my-MM" b="0" i="0" dirty="0">
                <a:solidFill>
                  <a:srgbClr val="0D0D0D"/>
                </a:solidFill>
                <a:effectLst/>
                <a:latin typeface="-apple-system-body"/>
              </a:rPr>
              <a:t>ရဲ့ အခြေအနေတွေကို အကျဉ်းချုပ်မြင်ရတဲ့နေရာပါ။</a:t>
            </a:r>
          </a:p>
          <a:p>
            <a:pPr algn="l">
              <a:buFont typeface="+mj-lt"/>
              <a:buAutoNum type="arabicPeriod"/>
            </a:pPr>
            <a:r>
              <a:rPr lang="my-MM" b="0" i="0" dirty="0">
                <a:solidFill>
                  <a:srgbClr val="0D0D0D"/>
                </a:solidFill>
                <a:effectLst/>
                <a:latin typeface="-apple-system-body"/>
              </a:rPr>
              <a:t>ဥပမာ—</a:t>
            </a:r>
          </a:p>
          <a:p>
            <a:pPr algn="l">
              <a:buFont typeface="+mj-lt"/>
              <a:buAutoNum type="arabicPeriod"/>
            </a:pPr>
            <a:r>
              <a:rPr lang="en-US" b="0" i="0" dirty="0">
                <a:solidFill>
                  <a:srgbClr val="0D0D0D"/>
                </a:solidFill>
                <a:effectLst/>
                <a:latin typeface="-apple-system-body"/>
              </a:rPr>
              <a:t>Leave Request </a:t>
            </a:r>
            <a:r>
              <a:rPr lang="my-MM" b="0" i="0" dirty="0">
                <a:solidFill>
                  <a:srgbClr val="0D0D0D"/>
                </a:solidFill>
                <a:effectLst/>
                <a:latin typeface="-apple-system-body"/>
              </a:rPr>
              <a:t>ဘယ်နှခု </a:t>
            </a:r>
            <a:r>
              <a:rPr lang="en-US" b="0" i="0" dirty="0">
                <a:solidFill>
                  <a:srgbClr val="0D0D0D"/>
                </a:solidFill>
                <a:effectLst/>
                <a:latin typeface="-apple-system-body"/>
              </a:rPr>
              <a:t>Pending </a:t>
            </a:r>
            <a:r>
              <a:rPr lang="my-MM" b="0" i="0" dirty="0">
                <a:solidFill>
                  <a:srgbClr val="0D0D0D"/>
                </a:solidFill>
                <a:effectLst/>
                <a:latin typeface="-apple-system-body"/>
              </a:rPr>
              <a:t>ဖြစ်နေသလဲ</a:t>
            </a:r>
          </a:p>
          <a:p>
            <a:pPr algn="l">
              <a:buFont typeface="+mj-lt"/>
              <a:buAutoNum type="arabicPeriod"/>
            </a:pPr>
            <a:r>
              <a:rPr lang="en-US" b="0" i="0" dirty="0">
                <a:solidFill>
                  <a:srgbClr val="0D0D0D"/>
                </a:solidFill>
                <a:effectLst/>
                <a:latin typeface="-apple-system-body"/>
              </a:rPr>
              <a:t>Approved Leave </a:t>
            </a:r>
            <a:r>
              <a:rPr lang="my-MM" b="0" i="0" dirty="0">
                <a:solidFill>
                  <a:srgbClr val="0D0D0D"/>
                </a:solidFill>
                <a:effectLst/>
                <a:latin typeface="-apple-system-body"/>
              </a:rPr>
              <a:t>ဘယ်နှခုရှိသလဲ</a:t>
            </a:r>
          </a:p>
          <a:p>
            <a:pPr algn="l">
              <a:buFont typeface="+mj-lt"/>
              <a:buAutoNum type="arabicPeriod"/>
            </a:pPr>
            <a:r>
              <a:rPr lang="en-US" b="0" i="0" dirty="0">
                <a:solidFill>
                  <a:srgbClr val="0D0D0D"/>
                </a:solidFill>
                <a:effectLst/>
                <a:latin typeface="-apple-system-body"/>
              </a:rPr>
              <a:t>Staff </a:t>
            </a:r>
            <a:r>
              <a:rPr lang="my-MM" b="0" i="0" dirty="0">
                <a:solidFill>
                  <a:srgbClr val="0D0D0D"/>
                </a:solidFill>
                <a:effectLst/>
                <a:latin typeface="-apple-system-body"/>
              </a:rPr>
              <a:t>ဘယ်နှယောက်ရှိသလဲ</a:t>
            </a:r>
          </a:p>
          <a:p>
            <a:pPr algn="l">
              <a:buFont typeface="+mj-lt"/>
              <a:buAutoNum type="arabicPeriod"/>
            </a:pPr>
            <a:r>
              <a:rPr lang="my-MM" b="0" i="0" dirty="0">
                <a:solidFill>
                  <a:srgbClr val="0D0D0D"/>
                </a:solidFill>
                <a:effectLst/>
                <a:latin typeface="-apple-system-body"/>
              </a:rPr>
              <a:t>စတာတွေကို မြင်နိုင်တဲ့ </a:t>
            </a:r>
            <a:r>
              <a:rPr lang="en-US" b="0" i="0" dirty="0">
                <a:solidFill>
                  <a:srgbClr val="0D0D0D"/>
                </a:solidFill>
                <a:effectLst/>
                <a:latin typeface="-apple-system-body"/>
              </a:rPr>
              <a:t>Main Screen </a:t>
            </a:r>
            <a:r>
              <a:rPr lang="my-MM" b="0" i="0" dirty="0">
                <a:solidFill>
                  <a:srgbClr val="0D0D0D"/>
                </a:solidFill>
                <a:effectLst/>
                <a:latin typeface="-apple-system-body"/>
              </a:rPr>
              <a:t>လို့ နားလည်လို့ရပါတယ်။</a:t>
            </a:r>
          </a:p>
          <a:p>
            <a:pPr algn="l">
              <a:buFont typeface="+mj-lt"/>
              <a:buAutoNum type="arabicPeriod"/>
            </a:pPr>
            <a:r>
              <a:rPr lang="my-MM" b="1" i="0" dirty="0">
                <a:solidFill>
                  <a:srgbClr val="0D0D0D"/>
                </a:solidFill>
                <a:effectLst/>
                <a:latin typeface="-apple-system-body"/>
              </a:rPr>
              <a:t>၄။ </a:t>
            </a:r>
            <a:r>
              <a:rPr lang="en-US" b="1" i="0" dirty="0">
                <a:solidFill>
                  <a:srgbClr val="0D0D0D"/>
                </a:solidFill>
                <a:effectLst/>
                <a:latin typeface="-apple-system-body"/>
              </a:rPr>
              <a:t>Manage Departments</a:t>
            </a:r>
          </a:p>
          <a:p>
            <a:pPr algn="l">
              <a:buFont typeface="+mj-lt"/>
              <a:buAutoNum type="arabicPeriod"/>
            </a:pPr>
            <a:r>
              <a:rPr lang="en-US" b="1" i="0" dirty="0">
                <a:solidFill>
                  <a:srgbClr val="0D0D0D"/>
                </a:solidFill>
                <a:effectLst/>
                <a:latin typeface="-apple-system-body"/>
              </a:rPr>
              <a:t>Manage Departments</a:t>
            </a:r>
            <a:r>
              <a:rPr lang="en-US" b="0" i="0" dirty="0">
                <a:solidFill>
                  <a:srgbClr val="0D0D0D"/>
                </a:solidFill>
                <a:effectLst/>
                <a:latin typeface="-apple-system-body"/>
              </a:rPr>
              <a:t> </a:t>
            </a:r>
            <a:r>
              <a:rPr lang="my-MM" b="0" i="0" dirty="0">
                <a:solidFill>
                  <a:srgbClr val="0D0D0D"/>
                </a:solidFill>
                <a:effectLst/>
                <a:latin typeface="-apple-system-body"/>
              </a:rPr>
              <a:t>ဆိုတာ </a:t>
            </a:r>
            <a:r>
              <a:rPr lang="en-US" b="0" i="0" dirty="0">
                <a:solidFill>
                  <a:srgbClr val="0D0D0D"/>
                </a:solidFill>
                <a:effectLst/>
                <a:latin typeface="-apple-system-body"/>
              </a:rPr>
              <a:t>Admin </a:t>
            </a:r>
            <a:r>
              <a:rPr lang="my-MM" b="0" i="0" dirty="0">
                <a:solidFill>
                  <a:srgbClr val="0D0D0D"/>
                </a:solidFill>
                <a:effectLst/>
                <a:latin typeface="-apple-system-body"/>
              </a:rPr>
              <a:t>က </a:t>
            </a:r>
            <a:r>
              <a:rPr lang="en-US" b="0" i="0" dirty="0">
                <a:solidFill>
                  <a:srgbClr val="0D0D0D"/>
                </a:solidFill>
                <a:effectLst/>
                <a:latin typeface="-apple-system-body"/>
              </a:rPr>
              <a:t>Department </a:t>
            </a:r>
            <a:r>
              <a:rPr lang="my-MM" b="0" i="0" dirty="0">
                <a:solidFill>
                  <a:srgbClr val="0D0D0D"/>
                </a:solidFill>
                <a:effectLst/>
                <a:latin typeface="-apple-system-body"/>
              </a:rPr>
              <a:t>တွေကို စီမံတာပါ။</a:t>
            </a:r>
          </a:p>
          <a:p>
            <a:pPr algn="l">
              <a:buFont typeface="+mj-lt"/>
              <a:buAutoNum type="arabicPeriod"/>
            </a:pPr>
            <a:r>
              <a:rPr lang="my-MM" b="0" i="0" dirty="0">
                <a:solidFill>
                  <a:srgbClr val="0D0D0D"/>
                </a:solidFill>
                <a:effectLst/>
                <a:latin typeface="-apple-system-body"/>
              </a:rPr>
              <a:t>ဥပမာ—</a:t>
            </a:r>
          </a:p>
          <a:p>
            <a:pPr algn="l">
              <a:buFont typeface="+mj-lt"/>
              <a:buAutoNum type="arabicPeriod"/>
            </a:pPr>
            <a:r>
              <a:rPr lang="en-US" b="0" i="0" dirty="0">
                <a:solidFill>
                  <a:srgbClr val="0D0D0D"/>
                </a:solidFill>
                <a:effectLst/>
                <a:latin typeface="-apple-system-body"/>
              </a:rPr>
              <a:t>Company </a:t>
            </a:r>
            <a:r>
              <a:rPr lang="my-MM" b="0" i="0" dirty="0">
                <a:solidFill>
                  <a:srgbClr val="0D0D0D"/>
                </a:solidFill>
                <a:effectLst/>
                <a:latin typeface="-apple-system-body"/>
              </a:rPr>
              <a:t>မှာ </a:t>
            </a:r>
            <a:r>
              <a:rPr lang="en-US" b="0" i="0" dirty="0">
                <a:solidFill>
                  <a:srgbClr val="0D0D0D"/>
                </a:solidFill>
                <a:effectLst/>
                <a:latin typeface="-apple-system-body"/>
              </a:rPr>
              <a:t>HR Department, IT Department, Finance Department </a:t>
            </a:r>
            <a:r>
              <a:rPr lang="my-MM" b="0" i="0" dirty="0">
                <a:solidFill>
                  <a:srgbClr val="0D0D0D"/>
                </a:solidFill>
                <a:effectLst/>
                <a:latin typeface="-apple-system-body"/>
              </a:rPr>
              <a:t>ရှိတယ်ဆိုပါစို့။</a:t>
            </a:r>
          </a:p>
          <a:p>
            <a:pPr algn="l">
              <a:buFont typeface="+mj-lt"/>
              <a:buAutoNum type="arabicPeriod"/>
            </a:pPr>
            <a:r>
              <a:rPr lang="en-US" b="0" i="0" dirty="0">
                <a:solidFill>
                  <a:srgbClr val="0D0D0D"/>
                </a:solidFill>
                <a:effectLst/>
                <a:latin typeface="-apple-system-body"/>
              </a:rPr>
              <a:t>Admin </a:t>
            </a:r>
            <a:r>
              <a:rPr lang="my-MM" b="0" i="0" dirty="0">
                <a:solidFill>
                  <a:srgbClr val="0D0D0D"/>
                </a:solidFill>
                <a:effectLst/>
                <a:latin typeface="-apple-system-body"/>
              </a:rPr>
              <a:t>က </a:t>
            </a:r>
            <a:r>
              <a:rPr lang="en-US" b="0" i="0" dirty="0">
                <a:solidFill>
                  <a:srgbClr val="0D0D0D"/>
                </a:solidFill>
                <a:effectLst/>
                <a:latin typeface="-apple-system-body"/>
              </a:rPr>
              <a:t>Department </a:t>
            </a:r>
            <a:r>
              <a:rPr lang="my-MM" b="0" i="0" dirty="0">
                <a:solidFill>
                  <a:srgbClr val="0D0D0D"/>
                </a:solidFill>
                <a:effectLst/>
                <a:latin typeface="-apple-system-body"/>
              </a:rPr>
              <a:t>အသစ်ထည့်တာ၊ ပြင်တာ၊ ဖျက်တာ စတဲ့ လုပ်ဆောင်ချက်တွေ လုပ်နိုင်ပါတယ်။</a:t>
            </a:r>
          </a:p>
          <a:p>
            <a:pPr algn="l">
              <a:buFont typeface="+mj-lt"/>
              <a:buAutoNum type="arabicPeriod"/>
            </a:pPr>
            <a:r>
              <a:rPr lang="my-MM" b="1" i="0" dirty="0">
                <a:solidFill>
                  <a:srgbClr val="0D0D0D"/>
                </a:solidFill>
                <a:effectLst/>
                <a:latin typeface="-apple-system-body"/>
              </a:rPr>
              <a:t>၅။ </a:t>
            </a:r>
            <a:r>
              <a:rPr lang="en-US" b="1" i="0" dirty="0">
                <a:solidFill>
                  <a:srgbClr val="0D0D0D"/>
                </a:solidFill>
                <a:effectLst/>
                <a:latin typeface="-apple-system-body"/>
              </a:rPr>
              <a:t>Manage Leave Types</a:t>
            </a:r>
          </a:p>
          <a:p>
            <a:pPr algn="l">
              <a:buFont typeface="+mj-lt"/>
              <a:buAutoNum type="arabicPeriod"/>
            </a:pPr>
            <a:r>
              <a:rPr lang="my-MM" b="0" i="0" dirty="0">
                <a:solidFill>
                  <a:srgbClr val="0D0D0D"/>
                </a:solidFill>
                <a:effectLst/>
                <a:latin typeface="-apple-system-body"/>
              </a:rPr>
              <a:t>ဒီ </a:t>
            </a:r>
            <a:r>
              <a:rPr lang="en-US" b="0" i="0" dirty="0">
                <a:solidFill>
                  <a:srgbClr val="0D0D0D"/>
                </a:solidFill>
                <a:effectLst/>
                <a:latin typeface="-apple-system-body"/>
              </a:rPr>
              <a:t>Function </a:t>
            </a:r>
            <a:r>
              <a:rPr lang="my-MM" b="0" i="0" dirty="0">
                <a:solidFill>
                  <a:srgbClr val="0D0D0D"/>
                </a:solidFill>
                <a:effectLst/>
                <a:latin typeface="-apple-system-body"/>
              </a:rPr>
              <a:t>က </a:t>
            </a:r>
            <a:r>
              <a:rPr lang="en-US" b="1" i="0" dirty="0">
                <a:solidFill>
                  <a:srgbClr val="0D0D0D"/>
                </a:solidFill>
                <a:effectLst/>
                <a:latin typeface="-apple-system-body"/>
              </a:rPr>
              <a:t>Leave </a:t>
            </a:r>
            <a:r>
              <a:rPr lang="my-MM" b="1" i="0" dirty="0">
                <a:solidFill>
                  <a:srgbClr val="0D0D0D"/>
                </a:solidFill>
                <a:effectLst/>
                <a:latin typeface="-apple-system-body"/>
              </a:rPr>
              <a:t>အမျိုးအစားတွေကို စီမံဖို့</a:t>
            </a:r>
            <a:r>
              <a:rPr lang="my-MM" b="0" i="0" dirty="0">
                <a:solidFill>
                  <a:srgbClr val="0D0D0D"/>
                </a:solidFill>
                <a:effectLst/>
                <a:latin typeface="-apple-system-body"/>
              </a:rPr>
              <a:t> ဖြစ်ပါတယ်။</a:t>
            </a:r>
          </a:p>
          <a:p>
            <a:pPr algn="l">
              <a:buFont typeface="+mj-lt"/>
              <a:buAutoNum type="arabicPeriod"/>
            </a:pPr>
            <a:r>
              <a:rPr lang="my-MM" b="0" i="0" dirty="0">
                <a:solidFill>
                  <a:srgbClr val="0D0D0D"/>
                </a:solidFill>
                <a:effectLst/>
                <a:latin typeface="-apple-system-body"/>
              </a:rPr>
              <a:t>ဥပမာ—</a:t>
            </a:r>
          </a:p>
          <a:p>
            <a:pPr algn="l">
              <a:buFont typeface="+mj-lt"/>
              <a:buAutoNum type="arabicPeriod"/>
            </a:pPr>
            <a:r>
              <a:rPr lang="en-US" b="0" i="0" dirty="0">
                <a:solidFill>
                  <a:srgbClr val="0D0D0D"/>
                </a:solidFill>
                <a:effectLst/>
                <a:latin typeface="-apple-system-body"/>
              </a:rPr>
              <a:t>Annual Leave</a:t>
            </a:r>
          </a:p>
          <a:p>
            <a:pPr algn="l">
              <a:buFont typeface="+mj-lt"/>
              <a:buAutoNum type="arabicPeriod"/>
            </a:pPr>
            <a:r>
              <a:rPr lang="en-US" b="0" i="0" dirty="0">
                <a:solidFill>
                  <a:srgbClr val="0D0D0D"/>
                </a:solidFill>
                <a:effectLst/>
                <a:latin typeface="-apple-system-body"/>
              </a:rPr>
              <a:t>Medical Leave</a:t>
            </a:r>
          </a:p>
          <a:p>
            <a:pPr algn="l">
              <a:buFont typeface="+mj-lt"/>
              <a:buAutoNum type="arabicPeriod"/>
            </a:pPr>
            <a:r>
              <a:rPr lang="en-US" b="0" i="0" dirty="0">
                <a:solidFill>
                  <a:srgbClr val="0D0D0D"/>
                </a:solidFill>
                <a:effectLst/>
                <a:latin typeface="-apple-system-body"/>
              </a:rPr>
              <a:t>Casual Leave</a:t>
            </a:r>
          </a:p>
          <a:p>
            <a:pPr algn="l">
              <a:buFont typeface="+mj-lt"/>
              <a:buAutoNum type="arabicPeriod"/>
            </a:pPr>
            <a:r>
              <a:rPr lang="en-US" b="0" i="0" dirty="0">
                <a:solidFill>
                  <a:srgbClr val="0D0D0D"/>
                </a:solidFill>
                <a:effectLst/>
                <a:latin typeface="-apple-system-body"/>
              </a:rPr>
              <a:t>Maternity Leave</a:t>
            </a:r>
          </a:p>
          <a:p>
            <a:pPr algn="l">
              <a:buFont typeface="+mj-lt"/>
              <a:buAutoNum type="arabicPeriod"/>
            </a:pPr>
            <a:r>
              <a:rPr lang="my-MM" b="0" i="0" dirty="0">
                <a:solidFill>
                  <a:srgbClr val="0D0D0D"/>
                </a:solidFill>
                <a:effectLst/>
                <a:latin typeface="-apple-system-body"/>
              </a:rPr>
              <a:t>စတဲ့ </a:t>
            </a:r>
            <a:r>
              <a:rPr lang="en-US" b="0" i="0" dirty="0">
                <a:solidFill>
                  <a:srgbClr val="0D0D0D"/>
                </a:solidFill>
                <a:effectLst/>
                <a:latin typeface="-apple-system-body"/>
              </a:rPr>
              <a:t>Leave Type </a:t>
            </a:r>
            <a:r>
              <a:rPr lang="my-MM" b="0" i="0" dirty="0">
                <a:solidFill>
                  <a:srgbClr val="0D0D0D"/>
                </a:solidFill>
                <a:effectLst/>
                <a:latin typeface="-apple-system-body"/>
              </a:rPr>
              <a:t>တွေကို </a:t>
            </a:r>
            <a:r>
              <a:rPr lang="en-US" b="0" i="0" dirty="0">
                <a:solidFill>
                  <a:srgbClr val="0D0D0D"/>
                </a:solidFill>
                <a:effectLst/>
                <a:latin typeface="-apple-system-body"/>
              </a:rPr>
              <a:t>Admin </a:t>
            </a:r>
            <a:r>
              <a:rPr lang="my-MM" b="0" i="0" dirty="0">
                <a:solidFill>
                  <a:srgbClr val="0D0D0D"/>
                </a:solidFill>
                <a:effectLst/>
                <a:latin typeface="-apple-system-body"/>
              </a:rPr>
              <a:t>က သတ်မှတ်/စီမံနိုင်ပါတယ်။</a:t>
            </a:r>
          </a:p>
          <a:p>
            <a:pPr algn="l">
              <a:buFont typeface="+mj-lt"/>
              <a:buAutoNum type="arabicPeriod"/>
            </a:pPr>
            <a:r>
              <a:rPr lang="my-MM" b="1" i="0" dirty="0">
                <a:solidFill>
                  <a:srgbClr val="0D0D0D"/>
                </a:solidFill>
                <a:effectLst/>
                <a:latin typeface="-apple-system-body"/>
              </a:rPr>
              <a:t>၆။ </a:t>
            </a:r>
            <a:r>
              <a:rPr lang="en-US" b="1" i="0" dirty="0">
                <a:solidFill>
                  <a:srgbClr val="0D0D0D"/>
                </a:solidFill>
                <a:effectLst/>
                <a:latin typeface="-apple-system-body"/>
              </a:rPr>
              <a:t>Manage Staffs</a:t>
            </a:r>
          </a:p>
          <a:p>
            <a:pPr algn="l">
              <a:buFont typeface="+mj-lt"/>
              <a:buAutoNum type="arabicPeriod"/>
            </a:pPr>
            <a:r>
              <a:rPr lang="en-US" b="1" i="0" dirty="0">
                <a:solidFill>
                  <a:srgbClr val="0D0D0D"/>
                </a:solidFill>
                <a:effectLst/>
                <a:latin typeface="-apple-system-body"/>
              </a:rPr>
              <a:t>Manage Staffs</a:t>
            </a:r>
            <a:r>
              <a:rPr lang="en-US" b="0" i="0" dirty="0">
                <a:solidFill>
                  <a:srgbClr val="0D0D0D"/>
                </a:solidFill>
                <a:effectLst/>
                <a:latin typeface="-apple-system-body"/>
              </a:rPr>
              <a:t> </a:t>
            </a:r>
            <a:r>
              <a:rPr lang="my-MM" b="0" i="0" dirty="0">
                <a:solidFill>
                  <a:srgbClr val="0D0D0D"/>
                </a:solidFill>
                <a:effectLst/>
                <a:latin typeface="-apple-system-body"/>
              </a:rPr>
              <a:t>ကတော့ </a:t>
            </a:r>
            <a:r>
              <a:rPr lang="en-US" b="0" i="0" dirty="0">
                <a:solidFill>
                  <a:srgbClr val="0D0D0D"/>
                </a:solidFill>
                <a:effectLst/>
                <a:latin typeface="-apple-system-body"/>
              </a:rPr>
              <a:t>System </a:t>
            </a:r>
            <a:r>
              <a:rPr lang="my-MM" b="0" i="0" dirty="0">
                <a:solidFill>
                  <a:srgbClr val="0D0D0D"/>
                </a:solidFill>
                <a:effectLst/>
                <a:latin typeface="-apple-system-body"/>
              </a:rPr>
              <a:t>ထဲက </a:t>
            </a:r>
            <a:r>
              <a:rPr lang="en-US" b="0" i="0" dirty="0">
                <a:solidFill>
                  <a:srgbClr val="0D0D0D"/>
                </a:solidFill>
                <a:effectLst/>
                <a:latin typeface="-apple-system-body"/>
              </a:rPr>
              <a:t>Staff information </a:t>
            </a:r>
            <a:r>
              <a:rPr lang="my-MM" b="0" i="0" dirty="0">
                <a:solidFill>
                  <a:srgbClr val="0D0D0D"/>
                </a:solidFill>
                <a:effectLst/>
                <a:latin typeface="-apple-system-body"/>
              </a:rPr>
              <a:t>တွေကို </a:t>
            </a:r>
            <a:r>
              <a:rPr lang="en-US" b="0" i="0" dirty="0">
                <a:solidFill>
                  <a:srgbClr val="0D0D0D"/>
                </a:solidFill>
                <a:effectLst/>
                <a:latin typeface="-apple-system-body"/>
              </a:rPr>
              <a:t>Admin </a:t>
            </a:r>
            <a:r>
              <a:rPr lang="my-MM" b="0" i="0" dirty="0">
                <a:solidFill>
                  <a:srgbClr val="0D0D0D"/>
                </a:solidFill>
                <a:effectLst/>
                <a:latin typeface="-apple-system-body"/>
              </a:rPr>
              <a:t>က စီမံတဲ့နေရာပါ။</a:t>
            </a:r>
          </a:p>
          <a:p>
            <a:pPr algn="l">
              <a:buFont typeface="+mj-lt"/>
              <a:buAutoNum type="arabicPeriod"/>
            </a:pPr>
            <a:r>
              <a:rPr lang="my-MM" b="0" i="0" dirty="0">
                <a:solidFill>
                  <a:srgbClr val="0D0D0D"/>
                </a:solidFill>
                <a:effectLst/>
                <a:latin typeface="-apple-system-body"/>
              </a:rPr>
              <a:t>ဥပမာ—</a:t>
            </a:r>
          </a:p>
          <a:p>
            <a:pPr algn="l">
              <a:buFont typeface="+mj-lt"/>
              <a:buAutoNum type="arabicPeriod"/>
            </a:pPr>
            <a:r>
              <a:rPr lang="en-US" b="0" i="0" dirty="0">
                <a:solidFill>
                  <a:srgbClr val="0D0D0D"/>
                </a:solidFill>
                <a:effectLst/>
                <a:latin typeface="-apple-system-body"/>
              </a:rPr>
              <a:t>Staff </a:t>
            </a:r>
            <a:r>
              <a:rPr lang="my-MM" b="0" i="0" dirty="0">
                <a:solidFill>
                  <a:srgbClr val="0D0D0D"/>
                </a:solidFill>
                <a:effectLst/>
                <a:latin typeface="-apple-system-body"/>
              </a:rPr>
              <a:t>အသစ်ထည့်တာ</a:t>
            </a:r>
          </a:p>
          <a:p>
            <a:pPr algn="l">
              <a:buFont typeface="+mj-lt"/>
              <a:buAutoNum type="arabicPeriod"/>
            </a:pPr>
            <a:r>
              <a:rPr lang="en-US" b="0" i="0" dirty="0">
                <a:solidFill>
                  <a:srgbClr val="0D0D0D"/>
                </a:solidFill>
                <a:effectLst/>
                <a:latin typeface="-apple-system-body"/>
              </a:rPr>
              <a:t>Staff information </a:t>
            </a:r>
            <a:r>
              <a:rPr lang="my-MM" b="0" i="0" dirty="0">
                <a:solidFill>
                  <a:srgbClr val="0D0D0D"/>
                </a:solidFill>
                <a:effectLst/>
                <a:latin typeface="-apple-system-body"/>
              </a:rPr>
              <a:t>ပြင်တာ</a:t>
            </a:r>
          </a:p>
          <a:p>
            <a:pPr algn="l">
              <a:buFont typeface="+mj-lt"/>
              <a:buAutoNum type="arabicPeriod"/>
            </a:pPr>
            <a:r>
              <a:rPr lang="en-US" b="0" i="0" dirty="0">
                <a:solidFill>
                  <a:srgbClr val="0D0D0D"/>
                </a:solidFill>
                <a:effectLst/>
                <a:latin typeface="-apple-system-body"/>
              </a:rPr>
              <a:t>Staff account </a:t>
            </a:r>
            <a:r>
              <a:rPr lang="my-MM" b="0" i="0" dirty="0">
                <a:solidFill>
                  <a:srgbClr val="0D0D0D"/>
                </a:solidFill>
                <a:effectLst/>
                <a:latin typeface="-apple-system-body"/>
              </a:rPr>
              <a:t>စီမံတာ</a:t>
            </a:r>
          </a:p>
          <a:p>
            <a:pPr algn="l">
              <a:buFont typeface="+mj-lt"/>
              <a:buAutoNum type="arabicPeriod"/>
            </a:pPr>
            <a:r>
              <a:rPr lang="en-US" b="0" i="0" dirty="0">
                <a:solidFill>
                  <a:srgbClr val="0D0D0D"/>
                </a:solidFill>
                <a:effectLst/>
                <a:latin typeface="-apple-system-body"/>
              </a:rPr>
              <a:t>Staff </a:t>
            </a:r>
            <a:r>
              <a:rPr lang="my-MM" b="0" i="0" dirty="0">
                <a:solidFill>
                  <a:srgbClr val="0D0D0D"/>
                </a:solidFill>
                <a:effectLst/>
                <a:latin typeface="-apple-system-body"/>
              </a:rPr>
              <a:t>ကို ဖယ်ရှားတာ</a:t>
            </a:r>
          </a:p>
          <a:p>
            <a:pPr algn="l">
              <a:buFont typeface="+mj-lt"/>
              <a:buAutoNum type="arabicPeriod"/>
            </a:pPr>
            <a:r>
              <a:rPr lang="my-MM" b="0" i="0" dirty="0">
                <a:solidFill>
                  <a:srgbClr val="0D0D0D"/>
                </a:solidFill>
                <a:effectLst/>
                <a:latin typeface="-apple-system-body"/>
              </a:rPr>
              <a:t>စတာတွေ လုပ်နိုင်ပါတယ်။</a:t>
            </a:r>
          </a:p>
          <a:p>
            <a:pPr algn="l">
              <a:buFont typeface="+mj-lt"/>
              <a:buAutoNum type="arabicPeriod"/>
            </a:pPr>
            <a:r>
              <a:rPr lang="my-MM" b="1" i="0" dirty="0">
                <a:solidFill>
                  <a:srgbClr val="0D0D0D"/>
                </a:solidFill>
                <a:effectLst/>
                <a:latin typeface="-apple-system-body"/>
              </a:rPr>
              <a:t>၇။ </a:t>
            </a:r>
            <a:r>
              <a:rPr lang="en-US" b="1" i="0" dirty="0">
                <a:solidFill>
                  <a:srgbClr val="0D0D0D"/>
                </a:solidFill>
                <a:effectLst/>
                <a:latin typeface="-apple-system-body"/>
              </a:rPr>
              <a:t>Manage Leave Requests ⭐</a:t>
            </a:r>
          </a:p>
          <a:p>
            <a:pPr algn="l">
              <a:buFont typeface="+mj-lt"/>
              <a:buAutoNum type="arabicPeriod"/>
            </a:pPr>
            <a:r>
              <a:rPr lang="my-MM" b="0" i="0" dirty="0">
                <a:solidFill>
                  <a:srgbClr val="0D0D0D"/>
                </a:solidFill>
                <a:effectLst/>
                <a:latin typeface="-apple-system-body"/>
              </a:rPr>
              <a:t>ဒီပုံမှာ အရေးကြီးဆုံး </a:t>
            </a:r>
            <a:r>
              <a:rPr lang="en-US" b="0" i="0" dirty="0">
                <a:solidFill>
                  <a:srgbClr val="0D0D0D"/>
                </a:solidFill>
                <a:effectLst/>
                <a:latin typeface="-apple-system-body"/>
              </a:rPr>
              <a:t>Function </a:t>
            </a:r>
            <a:r>
              <a:rPr lang="my-MM" b="0" i="0" dirty="0">
                <a:solidFill>
                  <a:srgbClr val="0D0D0D"/>
                </a:solidFill>
                <a:effectLst/>
                <a:latin typeface="-apple-system-body"/>
              </a:rPr>
              <a:t>က </a:t>
            </a:r>
            <a:r>
              <a:rPr lang="en-US" b="1" i="0" dirty="0">
                <a:solidFill>
                  <a:srgbClr val="0D0D0D"/>
                </a:solidFill>
                <a:effectLst/>
                <a:latin typeface="-apple-system-body"/>
              </a:rPr>
              <a:t>Manage Leave Requests</a:t>
            </a:r>
            <a:r>
              <a:rPr lang="en-US" b="0" i="0" dirty="0">
                <a:solidFill>
                  <a:srgbClr val="0D0D0D"/>
                </a:solidFill>
                <a:effectLst/>
                <a:latin typeface="-apple-system-body"/>
              </a:rPr>
              <a:t> </a:t>
            </a:r>
            <a:r>
              <a:rPr lang="my-MM" b="0" i="0" dirty="0">
                <a:solidFill>
                  <a:srgbClr val="0D0D0D"/>
                </a:solidFill>
                <a:effectLst/>
                <a:latin typeface="-apple-system-body"/>
              </a:rPr>
              <a:t>ပါ။</a:t>
            </a:r>
          </a:p>
          <a:p>
            <a:pPr algn="l">
              <a:buFont typeface="+mj-lt"/>
              <a:buAutoNum type="arabicPeriod"/>
            </a:pPr>
            <a:r>
              <a:rPr lang="en-US" b="0" i="0" dirty="0">
                <a:solidFill>
                  <a:srgbClr val="0D0D0D"/>
                </a:solidFill>
                <a:effectLst/>
                <a:latin typeface="-apple-system-body"/>
              </a:rPr>
              <a:t>Staff </a:t>
            </a:r>
            <a:r>
              <a:rPr lang="my-MM" b="0" i="0" dirty="0">
                <a:solidFill>
                  <a:srgbClr val="0D0D0D"/>
                </a:solidFill>
                <a:effectLst/>
                <a:latin typeface="-apple-system-body"/>
              </a:rPr>
              <a:t>တွေက </a:t>
            </a:r>
            <a:r>
              <a:rPr lang="en-US" b="0" i="0" dirty="0">
                <a:solidFill>
                  <a:srgbClr val="0D0D0D"/>
                </a:solidFill>
                <a:effectLst/>
                <a:latin typeface="-apple-system-body"/>
              </a:rPr>
              <a:t>Leave Request </a:t>
            </a:r>
            <a:r>
              <a:rPr lang="my-MM" b="0" i="0" dirty="0">
                <a:solidFill>
                  <a:srgbClr val="0D0D0D"/>
                </a:solidFill>
                <a:effectLst/>
                <a:latin typeface="-apple-system-body"/>
              </a:rPr>
              <a:t>တင်လာတဲ့အခါ </a:t>
            </a:r>
            <a:r>
              <a:rPr lang="en-US" b="0" i="0" dirty="0">
                <a:solidFill>
                  <a:srgbClr val="0D0D0D"/>
                </a:solidFill>
                <a:effectLst/>
                <a:latin typeface="-apple-system-body"/>
              </a:rPr>
              <a:t>Admin </a:t>
            </a:r>
            <a:r>
              <a:rPr lang="my-MM" b="0" i="0" dirty="0">
                <a:solidFill>
                  <a:srgbClr val="0D0D0D"/>
                </a:solidFill>
                <a:effectLst/>
                <a:latin typeface="-apple-system-body"/>
              </a:rPr>
              <a:t>က အဲဒီ </a:t>
            </a:r>
            <a:r>
              <a:rPr lang="en-US" b="0" i="0" dirty="0">
                <a:solidFill>
                  <a:srgbClr val="0D0D0D"/>
                </a:solidFill>
                <a:effectLst/>
                <a:latin typeface="-apple-system-body"/>
              </a:rPr>
              <a:t>Request </a:t>
            </a:r>
            <a:r>
              <a:rPr lang="my-MM" b="0" i="0" dirty="0">
                <a:solidFill>
                  <a:srgbClr val="0D0D0D"/>
                </a:solidFill>
                <a:effectLst/>
                <a:latin typeface="-apple-system-body"/>
              </a:rPr>
              <a:t>တွေကို စစ်ဆေးပြီး စီမံနိုင်ပါတယ်။</a:t>
            </a:r>
          </a:p>
          <a:p>
            <a:pPr algn="l">
              <a:buFont typeface="+mj-lt"/>
              <a:buAutoNum type="arabicPeriod"/>
            </a:pPr>
            <a:r>
              <a:rPr lang="en-US" b="0" i="0" dirty="0">
                <a:solidFill>
                  <a:srgbClr val="0D0D0D"/>
                </a:solidFill>
                <a:effectLst/>
                <a:latin typeface="-apple-system-body"/>
              </a:rPr>
              <a:t>Manage Leave Requests </a:t>
            </a:r>
            <a:r>
              <a:rPr lang="my-MM" b="0" i="0" dirty="0">
                <a:solidFill>
                  <a:srgbClr val="0D0D0D"/>
                </a:solidFill>
                <a:effectLst/>
                <a:latin typeface="-apple-system-body"/>
              </a:rPr>
              <a:t>ကနေ </a:t>
            </a:r>
            <a:r>
              <a:rPr lang="en-US" b="0" i="0" dirty="0">
                <a:solidFill>
                  <a:srgbClr val="0D0D0D"/>
                </a:solidFill>
                <a:effectLst/>
                <a:latin typeface="-apple-system-body"/>
              </a:rPr>
              <a:t>Function </a:t>
            </a:r>
            <a:r>
              <a:rPr lang="my-MM" b="1" i="0" dirty="0">
                <a:solidFill>
                  <a:srgbClr val="0D0D0D"/>
                </a:solidFill>
                <a:effectLst/>
                <a:latin typeface="-apple-system-body"/>
              </a:rPr>
              <a:t>၄ ခု</a:t>
            </a:r>
            <a:r>
              <a:rPr lang="my-MM" b="0" i="0" dirty="0">
                <a:solidFill>
                  <a:srgbClr val="0D0D0D"/>
                </a:solidFill>
                <a:effectLst/>
                <a:latin typeface="-apple-system-body"/>
              </a:rPr>
              <a:t> ကို &lt;&lt;</a:t>
            </a:r>
            <a:r>
              <a:rPr lang="en-US" b="0" i="0" dirty="0">
                <a:solidFill>
                  <a:srgbClr val="0D0D0D"/>
                </a:solidFill>
                <a:effectLst/>
                <a:latin typeface="-apple-system-body"/>
              </a:rPr>
              <a:t>include&gt;&gt; </a:t>
            </a:r>
            <a:r>
              <a:rPr lang="my-MM" b="0" i="0" dirty="0">
                <a:solidFill>
                  <a:srgbClr val="0D0D0D"/>
                </a:solidFill>
                <a:effectLst/>
                <a:latin typeface="-apple-system-body"/>
              </a:rPr>
              <a:t>လုပ်ထားပါတယ်။</a:t>
            </a:r>
          </a:p>
          <a:p>
            <a:pPr algn="l">
              <a:buFont typeface="+mj-lt"/>
              <a:buAutoNum type="arabicPeriod"/>
            </a:pPr>
            <a:r>
              <a:rPr lang="my-MM" b="1" i="0" dirty="0">
                <a:solidFill>
                  <a:srgbClr val="0D0D0D"/>
                </a:solidFill>
                <a:effectLst/>
                <a:latin typeface="-apple-system-body"/>
              </a:rPr>
              <a:t>(က) </a:t>
            </a:r>
            <a:r>
              <a:rPr lang="en-US" b="1" i="0" dirty="0">
                <a:solidFill>
                  <a:srgbClr val="0D0D0D"/>
                </a:solidFill>
                <a:effectLst/>
                <a:latin typeface="-apple-system-body"/>
              </a:rPr>
              <a:t>View Pending Leaves</a:t>
            </a:r>
          </a:p>
          <a:p>
            <a:pPr algn="l">
              <a:buFont typeface="+mj-lt"/>
              <a:buAutoNum type="arabicPeriod"/>
            </a:pPr>
            <a:r>
              <a:rPr lang="en-US" b="1" i="0" dirty="0">
                <a:solidFill>
                  <a:srgbClr val="0D0D0D"/>
                </a:solidFill>
                <a:effectLst/>
                <a:latin typeface="-apple-system-body"/>
              </a:rPr>
              <a:t>Pending Leave</a:t>
            </a:r>
            <a:r>
              <a:rPr lang="en-US" b="0" i="0" dirty="0">
                <a:solidFill>
                  <a:srgbClr val="0D0D0D"/>
                </a:solidFill>
                <a:effectLst/>
                <a:latin typeface="-apple-system-body"/>
              </a:rPr>
              <a:t> </a:t>
            </a:r>
            <a:r>
              <a:rPr lang="my-MM" b="0" i="0" dirty="0">
                <a:solidFill>
                  <a:srgbClr val="0D0D0D"/>
                </a:solidFill>
                <a:effectLst/>
                <a:latin typeface="-apple-system-body"/>
              </a:rPr>
              <a:t>ဆိုတာ လက်ရှိအချိန်မှာ ဆုံးဖြတ်ချက်မချရသေးတဲ့ </a:t>
            </a:r>
            <a:r>
              <a:rPr lang="en-US" b="0" i="0" dirty="0">
                <a:solidFill>
                  <a:srgbClr val="0D0D0D"/>
                </a:solidFill>
                <a:effectLst/>
                <a:latin typeface="-apple-system-body"/>
              </a:rPr>
              <a:t>Leave Request </a:t>
            </a:r>
            <a:r>
              <a:rPr lang="my-MM" b="0" i="0" dirty="0">
                <a:solidFill>
                  <a:srgbClr val="0D0D0D"/>
                </a:solidFill>
                <a:effectLst/>
                <a:latin typeface="-apple-system-body"/>
              </a:rPr>
              <a:t>တွေပါ။</a:t>
            </a:r>
          </a:p>
          <a:p>
            <a:pPr algn="l">
              <a:buFont typeface="+mj-lt"/>
              <a:buAutoNum type="arabicPeriod"/>
            </a:pPr>
            <a:r>
              <a:rPr lang="my-MM" b="0" i="0" dirty="0">
                <a:solidFill>
                  <a:srgbClr val="0D0D0D"/>
                </a:solidFill>
                <a:effectLst/>
                <a:latin typeface="-apple-system-body"/>
              </a:rPr>
              <a:t>ဥပမာ—</a:t>
            </a:r>
          </a:p>
          <a:p>
            <a:pPr algn="l">
              <a:buFont typeface="+mj-lt"/>
              <a:buAutoNum type="arabicPeriod"/>
            </a:pPr>
            <a:r>
              <a:rPr lang="en-US" b="0" i="0" dirty="0">
                <a:solidFill>
                  <a:srgbClr val="0D0D0D"/>
                </a:solidFill>
                <a:effectLst/>
                <a:latin typeface="-apple-system-body"/>
              </a:rPr>
              <a:t>Staff A </a:t>
            </a:r>
            <a:r>
              <a:rPr lang="my-MM" b="0" i="0" dirty="0">
                <a:solidFill>
                  <a:srgbClr val="0D0D0D"/>
                </a:solidFill>
                <a:effectLst/>
                <a:latin typeface="-apple-system-body"/>
              </a:rPr>
              <a:t>က </a:t>
            </a:r>
            <a:r>
              <a:rPr lang="en-US" b="0" i="0" dirty="0">
                <a:solidFill>
                  <a:srgbClr val="0D0D0D"/>
                </a:solidFill>
                <a:effectLst/>
                <a:latin typeface="-apple-system-body"/>
              </a:rPr>
              <a:t>Annual Leave </a:t>
            </a:r>
            <a:r>
              <a:rPr lang="my-MM" b="0" i="0" dirty="0">
                <a:solidFill>
                  <a:srgbClr val="0D0D0D"/>
                </a:solidFill>
                <a:effectLst/>
                <a:latin typeface="-apple-system-body"/>
              </a:rPr>
              <a:t>တောင်းထားတယ်။</a:t>
            </a:r>
            <a:br>
              <a:rPr lang="my-MM" b="0" i="0" dirty="0">
                <a:solidFill>
                  <a:srgbClr val="0D0D0D"/>
                </a:solidFill>
                <a:effectLst/>
                <a:latin typeface="-apple-system-body"/>
              </a:rPr>
            </a:br>
            <a:r>
              <a:rPr lang="my-MM" b="0" i="0" dirty="0">
                <a:solidFill>
                  <a:srgbClr val="0D0D0D"/>
                </a:solidFill>
                <a:effectLst/>
                <a:latin typeface="-apple-system-body"/>
              </a:rPr>
              <a:t>အခုထိ </a:t>
            </a:r>
            <a:r>
              <a:rPr lang="en-US" b="0" i="0" dirty="0">
                <a:solidFill>
                  <a:srgbClr val="0D0D0D"/>
                </a:solidFill>
                <a:effectLst/>
                <a:latin typeface="-apple-system-body"/>
              </a:rPr>
              <a:t>Approve </a:t>
            </a:r>
            <a:r>
              <a:rPr lang="my-MM" b="0" i="0" dirty="0">
                <a:solidFill>
                  <a:srgbClr val="0D0D0D"/>
                </a:solidFill>
                <a:effectLst/>
                <a:latin typeface="-apple-system-body"/>
              </a:rPr>
              <a:t>မလုပ်ရသေးဘူး။</a:t>
            </a:r>
          </a:p>
          <a:p>
            <a:pPr algn="l">
              <a:buFont typeface="+mj-lt"/>
              <a:buAutoNum type="arabicPeriod"/>
            </a:pPr>
            <a:r>
              <a:rPr lang="my-MM" b="0" i="0" dirty="0">
                <a:solidFill>
                  <a:srgbClr val="0D0D0D"/>
                </a:solidFill>
                <a:effectLst/>
                <a:latin typeface="-apple-system-body"/>
              </a:rPr>
              <a:t>ဒါဆို အဲဒီ </a:t>
            </a:r>
            <a:r>
              <a:rPr lang="en-US" b="0" i="0" dirty="0">
                <a:solidFill>
                  <a:srgbClr val="0D0D0D"/>
                </a:solidFill>
                <a:effectLst/>
                <a:latin typeface="-apple-system-body"/>
              </a:rPr>
              <a:t>Request </a:t>
            </a:r>
            <a:r>
              <a:rPr lang="my-MM" b="0" i="0" dirty="0">
                <a:solidFill>
                  <a:srgbClr val="0D0D0D"/>
                </a:solidFill>
                <a:effectLst/>
                <a:latin typeface="-apple-system-body"/>
              </a:rPr>
              <a:t>က </a:t>
            </a:r>
            <a:r>
              <a:rPr lang="en-US" b="1" i="0" dirty="0">
                <a:solidFill>
                  <a:srgbClr val="0D0D0D"/>
                </a:solidFill>
                <a:effectLst/>
                <a:latin typeface="-apple-system-body"/>
              </a:rPr>
              <a:t>Pending Leave</a:t>
            </a:r>
            <a:r>
              <a:rPr lang="en-US" b="0" i="0" dirty="0">
                <a:solidFill>
                  <a:srgbClr val="0D0D0D"/>
                </a:solidFill>
                <a:effectLst/>
                <a:latin typeface="-apple-system-body"/>
              </a:rPr>
              <a:t> </a:t>
            </a:r>
            <a:r>
              <a:rPr lang="my-MM" b="0" i="0" dirty="0">
                <a:solidFill>
                  <a:srgbClr val="0D0D0D"/>
                </a:solidFill>
                <a:effectLst/>
                <a:latin typeface="-apple-system-body"/>
              </a:rPr>
              <a:t>ဖြစ်နေပါတယ်။</a:t>
            </a:r>
          </a:p>
          <a:p>
            <a:pPr algn="l">
              <a:buFont typeface="+mj-lt"/>
              <a:buAutoNum type="arabicPeriod"/>
            </a:pPr>
            <a:r>
              <a:rPr lang="en-US" b="0" i="0" dirty="0">
                <a:solidFill>
                  <a:srgbClr val="0D0D0D"/>
                </a:solidFill>
                <a:effectLst/>
                <a:latin typeface="-apple-system-body"/>
              </a:rPr>
              <a:t>Admin </a:t>
            </a:r>
            <a:r>
              <a:rPr lang="my-MM" b="0" i="0" dirty="0">
                <a:solidFill>
                  <a:srgbClr val="0D0D0D"/>
                </a:solidFill>
                <a:effectLst/>
                <a:latin typeface="-apple-system-body"/>
              </a:rPr>
              <a:t>က </a:t>
            </a:r>
            <a:r>
              <a:rPr lang="en-US" b="1" i="0" dirty="0">
                <a:solidFill>
                  <a:srgbClr val="0D0D0D"/>
                </a:solidFill>
                <a:effectLst/>
                <a:latin typeface="-apple-system-body"/>
              </a:rPr>
              <a:t>View Pending Leaves</a:t>
            </a:r>
            <a:r>
              <a:rPr lang="en-US" b="0" i="0" dirty="0">
                <a:solidFill>
                  <a:srgbClr val="0D0D0D"/>
                </a:solidFill>
                <a:effectLst/>
                <a:latin typeface="-apple-system-body"/>
              </a:rPr>
              <a:t> </a:t>
            </a:r>
            <a:r>
              <a:rPr lang="my-MM" b="0" i="0" dirty="0">
                <a:solidFill>
                  <a:srgbClr val="0D0D0D"/>
                </a:solidFill>
                <a:effectLst/>
                <a:latin typeface="-apple-system-body"/>
              </a:rPr>
              <a:t>နဲ့ အဲဒီ </a:t>
            </a:r>
            <a:r>
              <a:rPr lang="en-US" b="0" i="0" dirty="0">
                <a:solidFill>
                  <a:srgbClr val="0D0D0D"/>
                </a:solidFill>
                <a:effectLst/>
                <a:latin typeface="-apple-system-body"/>
              </a:rPr>
              <a:t>Request </a:t>
            </a:r>
            <a:r>
              <a:rPr lang="my-MM" b="0" i="0" dirty="0">
                <a:solidFill>
                  <a:srgbClr val="0D0D0D"/>
                </a:solidFill>
                <a:effectLst/>
                <a:latin typeface="-apple-system-body"/>
              </a:rPr>
              <a:t>တွေကို ကြည့်နိုင်ပါတယ်။</a:t>
            </a:r>
          </a:p>
          <a:p>
            <a:pPr algn="l">
              <a:buFont typeface="+mj-lt"/>
              <a:buAutoNum type="arabicPeriod"/>
            </a:pPr>
            <a:r>
              <a:rPr lang="my-MM" b="1" i="0" dirty="0">
                <a:solidFill>
                  <a:srgbClr val="0D0D0D"/>
                </a:solidFill>
                <a:effectLst/>
                <a:latin typeface="-apple-system-body"/>
              </a:rPr>
              <a:t>(ခ) </a:t>
            </a:r>
            <a:r>
              <a:rPr lang="en-US" b="1" i="0" dirty="0">
                <a:solidFill>
                  <a:srgbClr val="0D0D0D"/>
                </a:solidFill>
                <a:effectLst/>
                <a:latin typeface="-apple-system-body"/>
              </a:rPr>
              <a:t>Reject OR Approve Requests</a:t>
            </a:r>
          </a:p>
          <a:p>
            <a:pPr algn="l">
              <a:buFont typeface="+mj-lt"/>
              <a:buAutoNum type="arabicPeriod"/>
            </a:pPr>
            <a:r>
              <a:rPr lang="en-US" b="0" i="0" dirty="0">
                <a:solidFill>
                  <a:srgbClr val="0D0D0D"/>
                </a:solidFill>
                <a:effectLst/>
                <a:latin typeface="-apple-system-body"/>
              </a:rPr>
              <a:t>Pending Request </a:t>
            </a:r>
            <a:r>
              <a:rPr lang="my-MM" b="0" i="0" dirty="0">
                <a:solidFill>
                  <a:srgbClr val="0D0D0D"/>
                </a:solidFill>
                <a:effectLst/>
                <a:latin typeface="-apple-system-body"/>
              </a:rPr>
              <a:t>တွေကို စစ်ပြီးတဲ့အခါ </a:t>
            </a:r>
            <a:r>
              <a:rPr lang="en-US" b="0" i="0" dirty="0">
                <a:solidFill>
                  <a:srgbClr val="0D0D0D"/>
                </a:solidFill>
                <a:effectLst/>
                <a:latin typeface="-apple-system-body"/>
              </a:rPr>
              <a:t>Admin </a:t>
            </a:r>
            <a:r>
              <a:rPr lang="my-MM" b="0" i="0" dirty="0">
                <a:solidFill>
                  <a:srgbClr val="0D0D0D"/>
                </a:solidFill>
                <a:effectLst/>
                <a:latin typeface="-apple-system-body"/>
              </a:rPr>
              <a:t>က—</a:t>
            </a:r>
          </a:p>
          <a:p>
            <a:pPr algn="l">
              <a:buFont typeface="+mj-lt"/>
              <a:buAutoNum type="arabicPeriod"/>
            </a:pPr>
            <a:r>
              <a:rPr lang="en-US" b="1" i="0" dirty="0">
                <a:solidFill>
                  <a:srgbClr val="0D0D0D"/>
                </a:solidFill>
                <a:effectLst/>
                <a:latin typeface="-apple-system-body"/>
              </a:rPr>
              <a:t>Approve</a:t>
            </a:r>
            <a:r>
              <a:rPr lang="en-US" b="0" i="0" dirty="0">
                <a:solidFill>
                  <a:srgbClr val="0D0D0D"/>
                </a:solidFill>
                <a:effectLst/>
                <a:latin typeface="-apple-system-body"/>
              </a:rPr>
              <a:t> </a:t>
            </a:r>
            <a:r>
              <a:rPr lang="my-MM" b="0" i="0" dirty="0">
                <a:solidFill>
                  <a:srgbClr val="0D0D0D"/>
                </a:solidFill>
                <a:effectLst/>
                <a:latin typeface="-apple-system-body"/>
              </a:rPr>
              <a:t>လုပ်မလား၊ </a:t>
            </a:r>
            <a:r>
              <a:rPr lang="en-US" b="1" i="0" dirty="0">
                <a:solidFill>
                  <a:srgbClr val="0D0D0D"/>
                </a:solidFill>
                <a:effectLst/>
                <a:latin typeface="-apple-system-body"/>
              </a:rPr>
              <a:t>Reject</a:t>
            </a:r>
            <a:r>
              <a:rPr lang="en-US" b="0" i="0" dirty="0">
                <a:solidFill>
                  <a:srgbClr val="0D0D0D"/>
                </a:solidFill>
                <a:effectLst/>
                <a:latin typeface="-apple-system-body"/>
              </a:rPr>
              <a:t> </a:t>
            </a:r>
            <a:r>
              <a:rPr lang="my-MM" b="0" i="0" dirty="0">
                <a:solidFill>
                  <a:srgbClr val="0D0D0D"/>
                </a:solidFill>
                <a:effectLst/>
                <a:latin typeface="-apple-system-body"/>
              </a:rPr>
              <a:t>လုပ်မလား</a:t>
            </a:r>
          </a:p>
          <a:p>
            <a:pPr algn="l">
              <a:buFont typeface="+mj-lt"/>
              <a:buAutoNum type="arabicPeriod"/>
            </a:pPr>
            <a:r>
              <a:rPr lang="my-MM" b="0" i="0" dirty="0">
                <a:solidFill>
                  <a:srgbClr val="0D0D0D"/>
                </a:solidFill>
                <a:effectLst/>
                <a:latin typeface="-apple-system-body"/>
              </a:rPr>
              <a:t>ဆုံးဖြတ်နိုင်ပါတယ်။</a:t>
            </a:r>
          </a:p>
          <a:p>
            <a:pPr algn="l">
              <a:buFont typeface="+mj-lt"/>
              <a:buAutoNum type="arabicPeriod"/>
            </a:pPr>
            <a:r>
              <a:rPr lang="my-MM" b="0" i="0" dirty="0">
                <a:solidFill>
                  <a:srgbClr val="0D0D0D"/>
                </a:solidFill>
                <a:effectLst/>
                <a:latin typeface="-apple-system-body"/>
              </a:rPr>
              <a:t>ဥပမာ—</a:t>
            </a:r>
          </a:p>
          <a:p>
            <a:pPr algn="l">
              <a:buFont typeface="+mj-lt"/>
              <a:buAutoNum type="arabicPeriod"/>
            </a:pPr>
            <a:r>
              <a:rPr lang="my-MM" b="0" i="0" dirty="0">
                <a:solidFill>
                  <a:srgbClr val="0D0D0D"/>
                </a:solidFill>
                <a:effectLst/>
                <a:latin typeface="-apple-system-body"/>
              </a:rPr>
              <a:t>“</a:t>
            </a:r>
            <a:r>
              <a:rPr lang="en-US" b="0" i="0" dirty="0">
                <a:solidFill>
                  <a:srgbClr val="0D0D0D"/>
                </a:solidFill>
                <a:effectLst/>
                <a:latin typeface="-apple-system-body"/>
              </a:rPr>
              <a:t>Leave </a:t>
            </a:r>
            <a:r>
              <a:rPr lang="my-MM" b="0" i="0" dirty="0">
                <a:solidFill>
                  <a:srgbClr val="0D0D0D"/>
                </a:solidFill>
                <a:effectLst/>
                <a:latin typeface="-apple-system-body"/>
              </a:rPr>
              <a:t>အခြေအနေအဆင်ပြေတယ်၊ </a:t>
            </a:r>
            <a:r>
              <a:rPr lang="en-US" b="0" i="0" dirty="0">
                <a:solidFill>
                  <a:srgbClr val="0D0D0D"/>
                </a:solidFill>
                <a:effectLst/>
                <a:latin typeface="-apple-system-body"/>
              </a:rPr>
              <a:t>Approve </a:t>
            </a:r>
            <a:r>
              <a:rPr lang="my-MM" b="0" i="0" dirty="0">
                <a:solidFill>
                  <a:srgbClr val="0D0D0D"/>
                </a:solidFill>
                <a:effectLst/>
                <a:latin typeface="-apple-system-body"/>
              </a:rPr>
              <a:t>လုပ်မယ်”</a:t>
            </a:r>
          </a:p>
          <a:p>
            <a:pPr algn="l">
              <a:buFont typeface="+mj-lt"/>
              <a:buAutoNum type="arabicPeriod"/>
            </a:pPr>
            <a:r>
              <a:rPr lang="my-MM" b="0" i="0" dirty="0">
                <a:solidFill>
                  <a:srgbClr val="0D0D0D"/>
                </a:solidFill>
                <a:effectLst/>
                <a:latin typeface="-apple-system-body"/>
              </a:rPr>
              <a:t>ဒါမှမဟုတ်—</a:t>
            </a:r>
          </a:p>
          <a:p>
            <a:pPr algn="l">
              <a:buFont typeface="+mj-lt"/>
              <a:buAutoNum type="arabicPeriod"/>
            </a:pPr>
            <a:r>
              <a:rPr lang="my-MM" b="0" i="0" dirty="0">
                <a:solidFill>
                  <a:srgbClr val="0D0D0D"/>
                </a:solidFill>
                <a:effectLst/>
                <a:latin typeface="-apple-system-body"/>
              </a:rPr>
              <a:t>“အလုပ်အခြေအနေကြောင့် ဒီ </a:t>
            </a:r>
            <a:r>
              <a:rPr lang="en-US" b="0" i="0" dirty="0">
                <a:solidFill>
                  <a:srgbClr val="0D0D0D"/>
                </a:solidFill>
                <a:effectLst/>
                <a:latin typeface="-apple-system-body"/>
              </a:rPr>
              <a:t>Leave </a:t>
            </a:r>
            <a:r>
              <a:rPr lang="my-MM" b="0" i="0" dirty="0">
                <a:solidFill>
                  <a:srgbClr val="0D0D0D"/>
                </a:solidFill>
                <a:effectLst/>
                <a:latin typeface="-apple-system-body"/>
              </a:rPr>
              <a:t>ကို </a:t>
            </a:r>
            <a:r>
              <a:rPr lang="en-US" b="0" i="0" dirty="0">
                <a:solidFill>
                  <a:srgbClr val="0D0D0D"/>
                </a:solidFill>
                <a:effectLst/>
                <a:latin typeface="-apple-system-body"/>
              </a:rPr>
              <a:t>Reject </a:t>
            </a:r>
            <a:r>
              <a:rPr lang="my-MM" b="0" i="0" dirty="0">
                <a:solidFill>
                  <a:srgbClr val="0D0D0D"/>
                </a:solidFill>
                <a:effectLst/>
                <a:latin typeface="-apple-system-body"/>
              </a:rPr>
              <a:t>လုပ်မယ်”</a:t>
            </a:r>
          </a:p>
          <a:p>
            <a:pPr algn="l">
              <a:buFont typeface="+mj-lt"/>
              <a:buAutoNum type="arabicPeriod"/>
            </a:pPr>
            <a:r>
              <a:rPr lang="my-MM" b="0" i="0" dirty="0">
                <a:solidFill>
                  <a:srgbClr val="0D0D0D"/>
                </a:solidFill>
                <a:effectLst/>
                <a:latin typeface="-apple-system-body"/>
              </a:rPr>
              <a:t>ဆိုပြီး ဆုံးဖြတ်နိုင်ပါတယ်။</a:t>
            </a:r>
          </a:p>
          <a:p>
            <a:pPr algn="l">
              <a:buFont typeface="+mj-lt"/>
              <a:buAutoNum type="arabicPeriod"/>
            </a:pPr>
            <a:r>
              <a:rPr lang="my-MM" b="1" i="0" dirty="0">
                <a:solidFill>
                  <a:srgbClr val="0D0D0D"/>
                </a:solidFill>
                <a:effectLst/>
                <a:latin typeface="-apple-system-body"/>
              </a:rPr>
              <a:t>(ဂ) </a:t>
            </a:r>
            <a:r>
              <a:rPr lang="en-US" b="1" i="0" dirty="0">
                <a:solidFill>
                  <a:srgbClr val="0D0D0D"/>
                </a:solidFill>
                <a:effectLst/>
                <a:latin typeface="-apple-system-body"/>
              </a:rPr>
              <a:t>View Approved Leaves</a:t>
            </a:r>
          </a:p>
          <a:p>
            <a:pPr algn="l">
              <a:buFont typeface="+mj-lt"/>
              <a:buAutoNum type="arabicPeriod"/>
            </a:pPr>
            <a:r>
              <a:rPr lang="en-US" b="0" i="0" dirty="0">
                <a:solidFill>
                  <a:srgbClr val="0D0D0D"/>
                </a:solidFill>
                <a:effectLst/>
                <a:latin typeface="-apple-system-body"/>
              </a:rPr>
              <a:t>Admin </a:t>
            </a:r>
            <a:r>
              <a:rPr lang="my-MM" b="0" i="0" dirty="0">
                <a:solidFill>
                  <a:srgbClr val="0D0D0D"/>
                </a:solidFill>
                <a:effectLst/>
                <a:latin typeface="-apple-system-body"/>
              </a:rPr>
              <a:t>က </a:t>
            </a:r>
            <a:r>
              <a:rPr lang="en-US" b="1" i="0" dirty="0">
                <a:solidFill>
                  <a:srgbClr val="0D0D0D"/>
                </a:solidFill>
                <a:effectLst/>
                <a:latin typeface="-apple-system-body"/>
              </a:rPr>
              <a:t>Approved </a:t>
            </a:r>
            <a:r>
              <a:rPr lang="my-MM" b="1" i="0" dirty="0">
                <a:solidFill>
                  <a:srgbClr val="0D0D0D"/>
                </a:solidFill>
                <a:effectLst/>
                <a:latin typeface="-apple-system-body"/>
              </a:rPr>
              <a:t>ဖြစ်ပြီးသား </a:t>
            </a:r>
            <a:r>
              <a:rPr lang="en-US" b="1" i="0" dirty="0">
                <a:solidFill>
                  <a:srgbClr val="0D0D0D"/>
                </a:solidFill>
                <a:effectLst/>
                <a:latin typeface="-apple-system-body"/>
              </a:rPr>
              <a:t>Leave </a:t>
            </a:r>
            <a:r>
              <a:rPr lang="my-MM" b="1" i="0" dirty="0">
                <a:solidFill>
                  <a:srgbClr val="0D0D0D"/>
                </a:solidFill>
                <a:effectLst/>
                <a:latin typeface="-apple-system-body"/>
              </a:rPr>
              <a:t>တွေကို ပြန်ကြည့်နိုင်ပါတယ်</a:t>
            </a:r>
            <a:r>
              <a:rPr lang="my-MM" b="0" i="0" dirty="0">
                <a:solidFill>
                  <a:srgbClr val="0D0D0D"/>
                </a:solidFill>
                <a:effectLst/>
                <a:latin typeface="-apple-system-body"/>
              </a:rPr>
              <a:t>။</a:t>
            </a:r>
          </a:p>
          <a:p>
            <a:pPr algn="l">
              <a:buFont typeface="+mj-lt"/>
              <a:buAutoNum type="arabicPeriod"/>
            </a:pPr>
            <a:r>
              <a:rPr lang="my-MM" b="0" i="0" dirty="0">
                <a:solidFill>
                  <a:srgbClr val="0D0D0D"/>
                </a:solidFill>
                <a:effectLst/>
                <a:latin typeface="-apple-system-body"/>
              </a:rPr>
              <a:t>ဥပမာ—</a:t>
            </a:r>
          </a:p>
          <a:p>
            <a:pPr algn="l">
              <a:buFont typeface="+mj-lt"/>
              <a:buAutoNum type="arabicPeriod"/>
            </a:pPr>
            <a:r>
              <a:rPr lang="en-US" b="0" i="0" dirty="0">
                <a:solidFill>
                  <a:srgbClr val="0D0D0D"/>
                </a:solidFill>
                <a:effectLst/>
                <a:latin typeface="-apple-system-body"/>
              </a:rPr>
              <a:t>Staff A → Annual Leave → Approved</a:t>
            </a:r>
            <a:br>
              <a:rPr lang="en-US" b="0" i="0" dirty="0">
                <a:solidFill>
                  <a:srgbClr val="0D0D0D"/>
                </a:solidFill>
                <a:effectLst/>
                <a:latin typeface="-apple-system-body"/>
              </a:rPr>
            </a:br>
            <a:r>
              <a:rPr lang="en-US" b="0" i="0" dirty="0">
                <a:solidFill>
                  <a:srgbClr val="0D0D0D"/>
                </a:solidFill>
                <a:effectLst/>
                <a:latin typeface="-apple-system-body"/>
              </a:rPr>
              <a:t>Staff B → Medical Leave → Approved</a:t>
            </a:r>
          </a:p>
          <a:p>
            <a:pPr algn="l">
              <a:buFont typeface="+mj-lt"/>
              <a:buAutoNum type="arabicPeriod"/>
            </a:pPr>
            <a:r>
              <a:rPr lang="my-MM" b="0" i="0" dirty="0">
                <a:solidFill>
                  <a:srgbClr val="0D0D0D"/>
                </a:solidFill>
                <a:effectLst/>
                <a:latin typeface="-apple-system-body"/>
              </a:rPr>
              <a:t>ဆိုတာတွေကို ပြန်စစ်ကြည့်နိုင်တာပါ။</a:t>
            </a:r>
          </a:p>
          <a:p>
            <a:pPr algn="l">
              <a:buFont typeface="+mj-lt"/>
              <a:buAutoNum type="arabicPeriod"/>
            </a:pPr>
            <a:r>
              <a:rPr lang="my-MM" b="1" i="0" dirty="0">
                <a:solidFill>
                  <a:srgbClr val="0D0D0D"/>
                </a:solidFill>
                <a:effectLst/>
                <a:latin typeface="-apple-system-body"/>
              </a:rPr>
              <a:t>(ဃ) </a:t>
            </a:r>
            <a:r>
              <a:rPr lang="en-US" b="1" i="0" dirty="0">
                <a:solidFill>
                  <a:srgbClr val="0D0D0D"/>
                </a:solidFill>
                <a:effectLst/>
                <a:latin typeface="-apple-system-body"/>
              </a:rPr>
              <a:t>View Not Approved Leaves</a:t>
            </a:r>
          </a:p>
          <a:p>
            <a:pPr algn="l">
              <a:buFont typeface="+mj-lt"/>
              <a:buAutoNum type="arabicPeriod"/>
            </a:pPr>
            <a:r>
              <a:rPr lang="my-MM" b="0" i="0" dirty="0">
                <a:solidFill>
                  <a:srgbClr val="0D0D0D"/>
                </a:solidFill>
                <a:effectLst/>
                <a:latin typeface="-apple-system-body"/>
              </a:rPr>
              <a:t>ဒီဟာကတော့ </a:t>
            </a:r>
            <a:r>
              <a:rPr lang="en-US" b="1" i="0" dirty="0">
                <a:solidFill>
                  <a:srgbClr val="0D0D0D"/>
                </a:solidFill>
                <a:effectLst/>
                <a:latin typeface="-apple-system-body"/>
              </a:rPr>
              <a:t>Approve </a:t>
            </a:r>
            <a:r>
              <a:rPr lang="my-MM" b="1" i="0" dirty="0">
                <a:solidFill>
                  <a:srgbClr val="0D0D0D"/>
                </a:solidFill>
                <a:effectLst/>
                <a:latin typeface="-apple-system-body"/>
              </a:rPr>
              <a:t>မဖြစ်ထားတဲ့ </a:t>
            </a:r>
            <a:r>
              <a:rPr lang="en-US" b="1" i="0" dirty="0">
                <a:solidFill>
                  <a:srgbClr val="0D0D0D"/>
                </a:solidFill>
                <a:effectLst/>
                <a:latin typeface="-apple-system-body"/>
              </a:rPr>
              <a:t>Leave </a:t>
            </a:r>
            <a:r>
              <a:rPr lang="my-MM" b="1" i="0" dirty="0">
                <a:solidFill>
                  <a:srgbClr val="0D0D0D"/>
                </a:solidFill>
                <a:effectLst/>
                <a:latin typeface="-apple-system-body"/>
              </a:rPr>
              <a:t>တွေ</a:t>
            </a:r>
            <a:r>
              <a:rPr lang="my-MM" b="0" i="0" dirty="0">
                <a:solidFill>
                  <a:srgbClr val="0D0D0D"/>
                </a:solidFill>
                <a:effectLst/>
                <a:latin typeface="-apple-system-body"/>
              </a:rPr>
              <a:t> ကို ကြည့်ဖို့ပါ။</a:t>
            </a:r>
          </a:p>
          <a:p>
            <a:pPr algn="l">
              <a:buFont typeface="+mj-lt"/>
              <a:buAutoNum type="arabicPeriod"/>
            </a:pPr>
            <a:r>
              <a:rPr lang="my-MM" b="0" i="0" dirty="0">
                <a:solidFill>
                  <a:srgbClr val="0D0D0D"/>
                </a:solidFill>
                <a:effectLst/>
                <a:latin typeface="-apple-system-body"/>
              </a:rPr>
              <a:t>ဥပမာ—</a:t>
            </a:r>
          </a:p>
          <a:p>
            <a:pPr algn="l">
              <a:buFont typeface="+mj-lt"/>
              <a:buAutoNum type="arabicPeriod"/>
            </a:pPr>
            <a:r>
              <a:rPr lang="en-US" b="0" i="0" dirty="0">
                <a:solidFill>
                  <a:srgbClr val="0D0D0D"/>
                </a:solidFill>
                <a:effectLst/>
                <a:latin typeface="-apple-system-body"/>
              </a:rPr>
              <a:t>Staff C </a:t>
            </a:r>
            <a:r>
              <a:rPr lang="my-MM" b="0" i="0" dirty="0">
                <a:solidFill>
                  <a:srgbClr val="0D0D0D"/>
                </a:solidFill>
                <a:effectLst/>
                <a:latin typeface="-apple-system-body"/>
              </a:rPr>
              <a:t>က </a:t>
            </a:r>
            <a:r>
              <a:rPr lang="en-US" b="0" i="0" dirty="0">
                <a:solidFill>
                  <a:srgbClr val="0D0D0D"/>
                </a:solidFill>
                <a:effectLst/>
                <a:latin typeface="-apple-system-body"/>
              </a:rPr>
              <a:t>Leave Request </a:t>
            </a:r>
            <a:r>
              <a:rPr lang="my-MM" b="0" i="0" dirty="0">
                <a:solidFill>
                  <a:srgbClr val="0D0D0D"/>
                </a:solidFill>
                <a:effectLst/>
                <a:latin typeface="-apple-system-body"/>
              </a:rPr>
              <a:t>တင်တယ် → </a:t>
            </a:r>
            <a:r>
              <a:rPr lang="en-US" b="0" i="0" dirty="0">
                <a:solidFill>
                  <a:srgbClr val="0D0D0D"/>
                </a:solidFill>
                <a:effectLst/>
                <a:latin typeface="-apple-system-body"/>
              </a:rPr>
              <a:t>Admin </a:t>
            </a:r>
            <a:r>
              <a:rPr lang="my-MM" b="0" i="0" dirty="0">
                <a:solidFill>
                  <a:srgbClr val="0D0D0D"/>
                </a:solidFill>
                <a:effectLst/>
                <a:latin typeface="-apple-system-body"/>
              </a:rPr>
              <a:t>က </a:t>
            </a:r>
            <a:r>
              <a:rPr lang="en-US" b="0" i="0" dirty="0">
                <a:solidFill>
                  <a:srgbClr val="0D0D0D"/>
                </a:solidFill>
                <a:effectLst/>
                <a:latin typeface="-apple-system-body"/>
              </a:rPr>
              <a:t>Reject </a:t>
            </a:r>
            <a:r>
              <a:rPr lang="my-MM" b="0" i="0" dirty="0">
                <a:solidFill>
                  <a:srgbClr val="0D0D0D"/>
                </a:solidFill>
                <a:effectLst/>
                <a:latin typeface="-apple-system-body"/>
              </a:rPr>
              <a:t>လုပ်တယ်</a:t>
            </a:r>
          </a:p>
          <a:p>
            <a:pPr algn="l">
              <a:buFont typeface="+mj-lt"/>
              <a:buAutoNum type="arabicPeriod"/>
            </a:pPr>
            <a:r>
              <a:rPr lang="my-MM" b="0" i="0" dirty="0">
                <a:solidFill>
                  <a:srgbClr val="0D0D0D"/>
                </a:solidFill>
                <a:effectLst/>
                <a:latin typeface="-apple-system-body"/>
              </a:rPr>
              <a:t>ဆိုရင် အဲဒီ </a:t>
            </a:r>
            <a:r>
              <a:rPr lang="en-US" b="0" i="0" dirty="0">
                <a:solidFill>
                  <a:srgbClr val="0D0D0D"/>
                </a:solidFill>
                <a:effectLst/>
                <a:latin typeface="-apple-system-body"/>
              </a:rPr>
              <a:t>Leave </a:t>
            </a:r>
            <a:r>
              <a:rPr lang="my-MM" b="0" i="0" dirty="0">
                <a:solidFill>
                  <a:srgbClr val="0D0D0D"/>
                </a:solidFill>
                <a:effectLst/>
                <a:latin typeface="-apple-system-body"/>
              </a:rPr>
              <a:t>ကို </a:t>
            </a:r>
            <a:r>
              <a:rPr lang="en-US" b="1" i="0" dirty="0">
                <a:solidFill>
                  <a:srgbClr val="0D0D0D"/>
                </a:solidFill>
                <a:effectLst/>
                <a:latin typeface="-apple-system-body"/>
              </a:rPr>
              <a:t>Not Approved Leaves</a:t>
            </a:r>
            <a:r>
              <a:rPr lang="en-US" b="0" i="0" dirty="0">
                <a:solidFill>
                  <a:srgbClr val="0D0D0D"/>
                </a:solidFill>
                <a:effectLst/>
                <a:latin typeface="-apple-system-body"/>
              </a:rPr>
              <a:t> </a:t>
            </a:r>
            <a:r>
              <a:rPr lang="my-MM" b="0" i="0" dirty="0">
                <a:solidFill>
                  <a:srgbClr val="0D0D0D"/>
                </a:solidFill>
                <a:effectLst/>
                <a:latin typeface="-apple-system-body"/>
              </a:rPr>
              <a:t>ထဲမှာ ပြန်ကြည့်နိုင်ပါတယ်။</a:t>
            </a:r>
          </a:p>
          <a:p>
            <a:pPr algn="l">
              <a:buFont typeface="+mj-lt"/>
              <a:buAutoNum type="arabicPeriod"/>
            </a:pPr>
            <a:r>
              <a:rPr lang="my-MM" b="1" i="0" dirty="0">
                <a:solidFill>
                  <a:srgbClr val="0D0D0D"/>
                </a:solidFill>
                <a:effectLst/>
                <a:latin typeface="-apple-system-body"/>
              </a:rPr>
              <a:t>၈။ </a:t>
            </a:r>
            <a:r>
              <a:rPr lang="en-US" b="1" i="0" dirty="0">
                <a:solidFill>
                  <a:srgbClr val="0D0D0D"/>
                </a:solidFill>
                <a:effectLst/>
                <a:latin typeface="-apple-system-body"/>
              </a:rPr>
              <a:t>Generate Reports</a:t>
            </a:r>
          </a:p>
          <a:p>
            <a:pPr algn="l">
              <a:buFont typeface="+mj-lt"/>
              <a:buAutoNum type="arabicPeriod"/>
            </a:pPr>
            <a:r>
              <a:rPr lang="en-US" b="0" i="0" dirty="0">
                <a:solidFill>
                  <a:srgbClr val="0D0D0D"/>
                </a:solidFill>
                <a:effectLst/>
                <a:latin typeface="-apple-system-body"/>
              </a:rPr>
              <a:t>Admin </a:t>
            </a:r>
            <a:r>
              <a:rPr lang="my-MM" b="0" i="0" dirty="0">
                <a:solidFill>
                  <a:srgbClr val="0D0D0D"/>
                </a:solidFill>
                <a:effectLst/>
                <a:latin typeface="-apple-system-body"/>
              </a:rPr>
              <a:t>မှာ </a:t>
            </a:r>
            <a:r>
              <a:rPr lang="en-US" b="1" i="0" dirty="0">
                <a:solidFill>
                  <a:srgbClr val="0D0D0D"/>
                </a:solidFill>
                <a:effectLst/>
                <a:latin typeface="-apple-system-body"/>
              </a:rPr>
              <a:t>Generate Reports</a:t>
            </a:r>
            <a:r>
              <a:rPr lang="en-US" b="0" i="0" dirty="0">
                <a:solidFill>
                  <a:srgbClr val="0D0D0D"/>
                </a:solidFill>
                <a:effectLst/>
                <a:latin typeface="-apple-system-body"/>
              </a:rPr>
              <a:t> </a:t>
            </a:r>
            <a:r>
              <a:rPr lang="my-MM" b="0" i="0" dirty="0">
                <a:solidFill>
                  <a:srgbClr val="0D0D0D"/>
                </a:solidFill>
                <a:effectLst/>
                <a:latin typeface="-apple-system-body"/>
              </a:rPr>
              <a:t>ဆိုတဲ့ </a:t>
            </a:r>
            <a:r>
              <a:rPr lang="en-US" b="0" i="0" dirty="0">
                <a:solidFill>
                  <a:srgbClr val="0D0D0D"/>
                </a:solidFill>
                <a:effectLst/>
                <a:latin typeface="-apple-system-body"/>
              </a:rPr>
              <a:t>Function </a:t>
            </a:r>
            <a:r>
              <a:rPr lang="my-MM" b="0" i="0" dirty="0">
                <a:solidFill>
                  <a:srgbClr val="0D0D0D"/>
                </a:solidFill>
                <a:effectLst/>
                <a:latin typeface="-apple-system-body"/>
              </a:rPr>
              <a:t>လည်း ရှိပါတယ်။</a:t>
            </a:r>
          </a:p>
          <a:p>
            <a:pPr algn="l">
              <a:buFont typeface="+mj-lt"/>
              <a:buAutoNum type="arabicPeriod"/>
            </a:pPr>
            <a:r>
              <a:rPr lang="my-MM" b="0" i="0" dirty="0">
                <a:solidFill>
                  <a:srgbClr val="0D0D0D"/>
                </a:solidFill>
                <a:effectLst/>
                <a:latin typeface="-apple-system-body"/>
              </a:rPr>
              <a:t>ဆိုလိုတာက </a:t>
            </a:r>
            <a:r>
              <a:rPr lang="en-US" b="0" i="0" dirty="0">
                <a:solidFill>
                  <a:srgbClr val="0D0D0D"/>
                </a:solidFill>
                <a:effectLst/>
                <a:latin typeface="-apple-system-body"/>
              </a:rPr>
              <a:t>Leave </a:t>
            </a:r>
            <a:r>
              <a:rPr lang="my-MM" b="0" i="0" dirty="0">
                <a:solidFill>
                  <a:srgbClr val="0D0D0D"/>
                </a:solidFill>
                <a:effectLst/>
                <a:latin typeface="-apple-system-body"/>
              </a:rPr>
              <a:t>နဲ့ပတ်သက်တဲ့ အချက်အလက်တွေကို </a:t>
            </a:r>
            <a:r>
              <a:rPr lang="en-US" b="0" i="0" dirty="0">
                <a:solidFill>
                  <a:srgbClr val="0D0D0D"/>
                </a:solidFill>
                <a:effectLst/>
                <a:latin typeface="-apple-system-body"/>
              </a:rPr>
              <a:t>Report </a:t>
            </a:r>
            <a:r>
              <a:rPr lang="my-MM" b="0" i="0" dirty="0">
                <a:solidFill>
                  <a:srgbClr val="0D0D0D"/>
                </a:solidFill>
                <a:effectLst/>
                <a:latin typeface="-apple-system-body"/>
              </a:rPr>
              <a:t>အဖြစ် ထုတ်ယူတာပါ။</a:t>
            </a:r>
          </a:p>
          <a:p>
            <a:pPr algn="l">
              <a:buFont typeface="+mj-lt"/>
              <a:buAutoNum type="arabicPeriod"/>
            </a:pPr>
            <a:r>
              <a:rPr lang="my-MM" b="0" i="0" dirty="0">
                <a:solidFill>
                  <a:srgbClr val="0D0D0D"/>
                </a:solidFill>
                <a:effectLst/>
                <a:latin typeface="-apple-system-body"/>
              </a:rPr>
              <a:t>ဥပမာ—</a:t>
            </a:r>
          </a:p>
          <a:p>
            <a:pPr algn="l">
              <a:buFont typeface="+mj-lt"/>
              <a:buAutoNum type="arabicPeriod"/>
            </a:pPr>
            <a:r>
              <a:rPr lang="en-US" b="0" i="0" dirty="0">
                <a:solidFill>
                  <a:srgbClr val="0D0D0D"/>
                </a:solidFill>
                <a:effectLst/>
                <a:latin typeface="-apple-system-body"/>
              </a:rPr>
              <a:t>Staff </a:t>
            </a:r>
            <a:r>
              <a:rPr lang="my-MM" b="0" i="0" dirty="0">
                <a:solidFill>
                  <a:srgbClr val="0D0D0D"/>
                </a:solidFill>
                <a:effectLst/>
                <a:latin typeface="-apple-system-body"/>
              </a:rPr>
              <a:t>တစ်ယောက်ရဲ့ </a:t>
            </a:r>
            <a:r>
              <a:rPr lang="en-US" b="0" i="0" dirty="0">
                <a:solidFill>
                  <a:srgbClr val="0D0D0D"/>
                </a:solidFill>
                <a:effectLst/>
                <a:latin typeface="-apple-system-body"/>
              </a:rPr>
              <a:t>Leave Report</a:t>
            </a:r>
          </a:p>
          <a:p>
            <a:pPr algn="l">
              <a:buFont typeface="+mj-lt"/>
              <a:buAutoNum type="arabicPeriod"/>
            </a:pPr>
            <a:r>
              <a:rPr lang="en-US" b="0" i="0" dirty="0">
                <a:solidFill>
                  <a:srgbClr val="0D0D0D"/>
                </a:solidFill>
                <a:effectLst/>
                <a:latin typeface="-apple-system-body"/>
              </a:rPr>
              <a:t>Department </a:t>
            </a:r>
            <a:r>
              <a:rPr lang="my-MM" b="0" i="0" dirty="0">
                <a:solidFill>
                  <a:srgbClr val="0D0D0D"/>
                </a:solidFill>
                <a:effectLst/>
                <a:latin typeface="-apple-system-body"/>
              </a:rPr>
              <a:t>အလိုက် </a:t>
            </a:r>
            <a:r>
              <a:rPr lang="en-US" b="0" i="0" dirty="0">
                <a:solidFill>
                  <a:srgbClr val="0D0D0D"/>
                </a:solidFill>
                <a:effectLst/>
                <a:latin typeface="-apple-system-body"/>
              </a:rPr>
              <a:t>Leave Report</a:t>
            </a:r>
          </a:p>
          <a:p>
            <a:pPr algn="l">
              <a:buFont typeface="+mj-lt"/>
              <a:buAutoNum type="arabicPeriod"/>
            </a:pPr>
            <a:r>
              <a:rPr lang="en-US" b="0" i="0" dirty="0">
                <a:solidFill>
                  <a:srgbClr val="0D0D0D"/>
                </a:solidFill>
                <a:effectLst/>
                <a:latin typeface="-apple-system-body"/>
              </a:rPr>
              <a:t>Approved Leave Report</a:t>
            </a:r>
          </a:p>
          <a:p>
            <a:pPr algn="l">
              <a:buFont typeface="+mj-lt"/>
              <a:buAutoNum type="arabicPeriod"/>
            </a:pPr>
            <a:r>
              <a:rPr lang="en-US" b="0" i="0" dirty="0">
                <a:solidFill>
                  <a:srgbClr val="0D0D0D"/>
                </a:solidFill>
                <a:effectLst/>
                <a:latin typeface="-apple-system-body"/>
              </a:rPr>
              <a:t>Rejected Leave Report</a:t>
            </a:r>
          </a:p>
          <a:p>
            <a:pPr algn="l">
              <a:buFont typeface="+mj-lt"/>
              <a:buAutoNum type="arabicPeriod"/>
            </a:pPr>
            <a:r>
              <a:rPr lang="en-US" b="0" i="0" dirty="0">
                <a:solidFill>
                  <a:srgbClr val="0D0D0D"/>
                </a:solidFill>
                <a:effectLst/>
                <a:latin typeface="-apple-system-body"/>
              </a:rPr>
              <a:t>Leave </a:t>
            </a:r>
            <a:r>
              <a:rPr lang="my-MM" b="0" i="0" dirty="0">
                <a:solidFill>
                  <a:srgbClr val="0D0D0D"/>
                </a:solidFill>
                <a:effectLst/>
                <a:latin typeface="-apple-system-body"/>
              </a:rPr>
              <a:t>အရေအတွက် </a:t>
            </a:r>
            <a:r>
              <a:rPr lang="en-US" b="0" i="0" dirty="0">
                <a:solidFill>
                  <a:srgbClr val="0D0D0D"/>
                </a:solidFill>
                <a:effectLst/>
                <a:latin typeface="-apple-system-body"/>
              </a:rPr>
              <a:t>Report</a:t>
            </a:r>
          </a:p>
          <a:p>
            <a:pPr algn="l">
              <a:buFont typeface="+mj-lt"/>
              <a:buAutoNum type="arabicPeriod"/>
            </a:pPr>
            <a:r>
              <a:rPr lang="my-MM" b="0" i="0" dirty="0">
                <a:solidFill>
                  <a:srgbClr val="0D0D0D"/>
                </a:solidFill>
                <a:effectLst/>
                <a:latin typeface="-apple-system-body"/>
              </a:rPr>
              <a:t>စတာတွေ ထုတ်နိုင်ပါတယ်။</a:t>
            </a:r>
          </a:p>
          <a:p>
            <a:pPr algn="l">
              <a:buFont typeface="+mj-lt"/>
              <a:buAutoNum type="arabicPeriod"/>
            </a:pPr>
            <a:r>
              <a:rPr lang="my-MM" b="1" i="0" dirty="0">
                <a:solidFill>
                  <a:srgbClr val="0D0D0D"/>
                </a:solidFill>
                <a:effectLst/>
                <a:latin typeface="-apple-system-body"/>
              </a:rPr>
              <a:t>၉။ </a:t>
            </a:r>
            <a:r>
              <a:rPr lang="en-US" b="1" i="0" dirty="0">
                <a:solidFill>
                  <a:srgbClr val="0D0D0D"/>
                </a:solidFill>
                <a:effectLst/>
                <a:latin typeface="-apple-system-body"/>
              </a:rPr>
              <a:t>Download PDF</a:t>
            </a:r>
          </a:p>
          <a:p>
            <a:pPr algn="l">
              <a:buFont typeface="+mj-lt"/>
              <a:buAutoNum type="arabicPeriod"/>
            </a:pPr>
            <a:r>
              <a:rPr lang="my-MM" b="0" i="0" dirty="0">
                <a:solidFill>
                  <a:srgbClr val="0D0D0D"/>
                </a:solidFill>
                <a:effectLst/>
                <a:latin typeface="-apple-system-body"/>
              </a:rPr>
              <a:t>ပုံမှာ—</a:t>
            </a:r>
          </a:p>
          <a:p>
            <a:pPr algn="l">
              <a:buFont typeface="+mj-lt"/>
              <a:buAutoNum type="arabicPeriod"/>
            </a:pPr>
            <a:r>
              <a:rPr lang="en-US" b="1" i="0" dirty="0">
                <a:solidFill>
                  <a:srgbClr val="0D0D0D"/>
                </a:solidFill>
                <a:effectLst/>
                <a:latin typeface="-apple-system-body"/>
              </a:rPr>
              <a:t>Generate Reports → &lt;&lt;include&gt;&gt; → Download PDF</a:t>
            </a:r>
            <a:endParaRPr lang="en-US" b="0" i="0" dirty="0">
              <a:solidFill>
                <a:srgbClr val="0D0D0D"/>
              </a:solidFill>
              <a:effectLst/>
              <a:latin typeface="-apple-system-body"/>
            </a:endParaRPr>
          </a:p>
          <a:p>
            <a:pPr algn="l">
              <a:buFont typeface="+mj-lt"/>
              <a:buAutoNum type="arabicPeriod"/>
            </a:pPr>
            <a:r>
              <a:rPr lang="my-MM" b="0" i="0" dirty="0">
                <a:solidFill>
                  <a:srgbClr val="0D0D0D"/>
                </a:solidFill>
                <a:effectLst/>
                <a:latin typeface="-apple-system-body"/>
              </a:rPr>
              <a:t>လို့ ဆက်ထားပါတယ်။</a:t>
            </a:r>
          </a:p>
          <a:p>
            <a:pPr algn="l">
              <a:buFont typeface="+mj-lt"/>
              <a:buAutoNum type="arabicPeriod"/>
            </a:pPr>
            <a:r>
              <a:rPr lang="my-MM" b="0" i="0" dirty="0">
                <a:solidFill>
                  <a:srgbClr val="0D0D0D"/>
                </a:solidFill>
                <a:effectLst/>
                <a:latin typeface="-apple-system-body"/>
              </a:rPr>
              <a:t>အဓိပ္ပာယ်က </a:t>
            </a:r>
            <a:r>
              <a:rPr lang="en-US" b="0" i="0" dirty="0">
                <a:solidFill>
                  <a:srgbClr val="0D0D0D"/>
                </a:solidFill>
                <a:effectLst/>
                <a:latin typeface="-apple-system-body"/>
              </a:rPr>
              <a:t>Generate </a:t>
            </a:r>
            <a:r>
              <a:rPr lang="my-MM" b="0" i="0" dirty="0">
                <a:solidFill>
                  <a:srgbClr val="0D0D0D"/>
                </a:solidFill>
                <a:effectLst/>
                <a:latin typeface="-apple-system-body"/>
              </a:rPr>
              <a:t>လုပ်ထားတဲ့ </a:t>
            </a:r>
            <a:r>
              <a:rPr lang="en-US" b="0" i="0" dirty="0">
                <a:solidFill>
                  <a:srgbClr val="0D0D0D"/>
                </a:solidFill>
                <a:effectLst/>
                <a:latin typeface="-apple-system-body"/>
              </a:rPr>
              <a:t>Report </a:t>
            </a:r>
            <a:r>
              <a:rPr lang="my-MM" b="0" i="0" dirty="0">
                <a:solidFill>
                  <a:srgbClr val="0D0D0D"/>
                </a:solidFill>
                <a:effectLst/>
                <a:latin typeface="-apple-system-body"/>
              </a:rPr>
              <a:t>ကို </a:t>
            </a:r>
            <a:r>
              <a:rPr lang="en-US" b="1" i="0" dirty="0">
                <a:solidFill>
                  <a:srgbClr val="0D0D0D"/>
                </a:solidFill>
                <a:effectLst/>
                <a:latin typeface="-apple-system-body"/>
              </a:rPr>
              <a:t>PDF File </a:t>
            </a:r>
            <a:r>
              <a:rPr lang="my-MM" b="1" i="0" dirty="0">
                <a:solidFill>
                  <a:srgbClr val="0D0D0D"/>
                </a:solidFill>
                <a:effectLst/>
                <a:latin typeface="-apple-system-body"/>
              </a:rPr>
              <a:t>အဖြစ် </a:t>
            </a:r>
            <a:r>
              <a:rPr lang="en-US" b="1" i="0" dirty="0">
                <a:solidFill>
                  <a:srgbClr val="0D0D0D"/>
                </a:solidFill>
                <a:effectLst/>
                <a:latin typeface="-apple-system-body"/>
              </a:rPr>
              <a:t>Download </a:t>
            </a:r>
            <a:r>
              <a:rPr lang="my-MM" b="1" i="0" dirty="0">
                <a:solidFill>
                  <a:srgbClr val="0D0D0D"/>
                </a:solidFill>
                <a:effectLst/>
                <a:latin typeface="-apple-system-body"/>
              </a:rPr>
              <a:t>လုပ်နိုင်တယ်</a:t>
            </a:r>
            <a:r>
              <a:rPr lang="my-MM" b="0" i="0" dirty="0">
                <a:solidFill>
                  <a:srgbClr val="0D0D0D"/>
                </a:solidFill>
                <a:effectLst/>
                <a:latin typeface="-apple-system-body"/>
              </a:rPr>
              <a:t> ဆိုတာပါ။</a:t>
            </a:r>
          </a:p>
          <a:p>
            <a:pPr algn="l">
              <a:buFont typeface="+mj-lt"/>
              <a:buAutoNum type="arabicPeriod"/>
            </a:pPr>
            <a:r>
              <a:rPr lang="my-MM" b="0" i="0" dirty="0">
                <a:solidFill>
                  <a:srgbClr val="0D0D0D"/>
                </a:solidFill>
                <a:effectLst/>
                <a:latin typeface="-apple-system-body"/>
              </a:rPr>
              <a:t>ဥပမာ—</a:t>
            </a:r>
          </a:p>
          <a:p>
            <a:pPr algn="l">
              <a:buFont typeface="+mj-lt"/>
              <a:buAutoNum type="arabicPeriod"/>
            </a:pPr>
            <a:r>
              <a:rPr lang="en-US" b="0" i="0" dirty="0">
                <a:solidFill>
                  <a:srgbClr val="0D0D0D"/>
                </a:solidFill>
                <a:effectLst/>
                <a:latin typeface="-apple-system-body"/>
              </a:rPr>
              <a:t>Admin </a:t>
            </a:r>
            <a:r>
              <a:rPr lang="my-MM" b="0" i="0" dirty="0">
                <a:solidFill>
                  <a:srgbClr val="0D0D0D"/>
                </a:solidFill>
                <a:effectLst/>
                <a:latin typeface="-apple-system-body"/>
              </a:rPr>
              <a:t>က </a:t>
            </a:r>
            <a:r>
              <a:rPr lang="en-US" b="0" i="0" dirty="0">
                <a:solidFill>
                  <a:srgbClr val="0D0D0D"/>
                </a:solidFill>
                <a:effectLst/>
                <a:latin typeface="-apple-system-body"/>
              </a:rPr>
              <a:t>Leave Report Generate </a:t>
            </a:r>
            <a:r>
              <a:rPr lang="my-MM" b="0" i="0" dirty="0">
                <a:solidFill>
                  <a:srgbClr val="0D0D0D"/>
                </a:solidFill>
                <a:effectLst/>
                <a:latin typeface="-apple-system-body"/>
              </a:rPr>
              <a:t>လုပ်တယ် → </a:t>
            </a:r>
            <a:r>
              <a:rPr lang="en-US" b="0" i="0" dirty="0">
                <a:solidFill>
                  <a:srgbClr val="0D0D0D"/>
                </a:solidFill>
                <a:effectLst/>
                <a:latin typeface="-apple-system-body"/>
              </a:rPr>
              <a:t>PDF </a:t>
            </a:r>
            <a:r>
              <a:rPr lang="my-MM" b="0" i="0" dirty="0">
                <a:solidFill>
                  <a:srgbClr val="0D0D0D"/>
                </a:solidFill>
                <a:effectLst/>
                <a:latin typeface="-apple-system-body"/>
              </a:rPr>
              <a:t>အဖြစ် </a:t>
            </a:r>
            <a:r>
              <a:rPr lang="en-US" b="0" i="0" dirty="0">
                <a:solidFill>
                  <a:srgbClr val="0D0D0D"/>
                </a:solidFill>
                <a:effectLst/>
                <a:latin typeface="-apple-system-body"/>
              </a:rPr>
              <a:t>Download </a:t>
            </a:r>
            <a:r>
              <a:rPr lang="my-MM" b="0" i="0" dirty="0">
                <a:solidFill>
                  <a:srgbClr val="0D0D0D"/>
                </a:solidFill>
                <a:effectLst/>
                <a:latin typeface="-apple-system-body"/>
              </a:rPr>
              <a:t>လုပ်ပြီး သိမ်းထားတယ်။</a:t>
            </a:r>
          </a:p>
          <a:p>
            <a:pPr algn="l">
              <a:buFont typeface="+mj-lt"/>
              <a:buAutoNum type="arabicPeriod"/>
            </a:pPr>
            <a:r>
              <a:rPr lang="my-MM" b="1" i="0" dirty="0">
                <a:solidFill>
                  <a:srgbClr val="0D0D0D"/>
                </a:solidFill>
                <a:effectLst/>
                <a:latin typeface="-apple-system-body"/>
              </a:rPr>
              <a:t>၁၀။ </a:t>
            </a:r>
            <a:r>
              <a:rPr lang="en-US" b="1" i="0" dirty="0">
                <a:solidFill>
                  <a:srgbClr val="0D0D0D"/>
                </a:solidFill>
                <a:effectLst/>
                <a:latin typeface="-apple-system-body"/>
              </a:rPr>
              <a:t>Logout</a:t>
            </a:r>
          </a:p>
          <a:p>
            <a:pPr algn="l">
              <a:buFont typeface="+mj-lt"/>
              <a:buAutoNum type="arabicPeriod"/>
            </a:pPr>
            <a:r>
              <a:rPr lang="my-MM" b="0" i="0" dirty="0">
                <a:solidFill>
                  <a:srgbClr val="0D0D0D"/>
                </a:solidFill>
                <a:effectLst/>
                <a:latin typeface="-apple-system-body"/>
              </a:rPr>
              <a:t>အလုပ်တွေအားလုံးပြီးသွားရင် </a:t>
            </a:r>
            <a:r>
              <a:rPr lang="en-US" b="1" i="0" dirty="0">
                <a:solidFill>
                  <a:srgbClr val="0D0D0D"/>
                </a:solidFill>
                <a:effectLst/>
                <a:latin typeface="-apple-system-body"/>
              </a:rPr>
              <a:t>Logout</a:t>
            </a:r>
            <a:r>
              <a:rPr lang="en-US" b="0" i="0" dirty="0">
                <a:solidFill>
                  <a:srgbClr val="0D0D0D"/>
                </a:solidFill>
                <a:effectLst/>
                <a:latin typeface="-apple-system-body"/>
              </a:rPr>
              <a:t> </a:t>
            </a:r>
            <a:r>
              <a:rPr lang="my-MM" b="0" i="0" dirty="0">
                <a:solidFill>
                  <a:srgbClr val="0D0D0D"/>
                </a:solidFill>
                <a:effectLst/>
                <a:latin typeface="-apple-system-body"/>
              </a:rPr>
              <a:t>လုပ်ပြီး </a:t>
            </a:r>
            <a:r>
              <a:rPr lang="en-US" b="0" i="0" dirty="0">
                <a:solidFill>
                  <a:srgbClr val="0D0D0D"/>
                </a:solidFill>
                <a:effectLst/>
                <a:latin typeface="-apple-system-body"/>
              </a:rPr>
              <a:t>System </a:t>
            </a:r>
            <a:r>
              <a:rPr lang="my-MM" b="0" i="0" dirty="0">
                <a:solidFill>
                  <a:srgbClr val="0D0D0D"/>
                </a:solidFill>
                <a:effectLst/>
                <a:latin typeface="-apple-system-body"/>
              </a:rPr>
              <a:t>ကနေ ထွက်နိုင်ပါတယ်။</a:t>
            </a:r>
          </a:p>
          <a:p>
            <a:pPr algn="l">
              <a:buFont typeface="+mj-lt"/>
              <a:buAutoNum type="arabicPeriod"/>
            </a:pPr>
            <a:r>
              <a:rPr lang="my-MM" b="1" i="0" dirty="0">
                <a:solidFill>
                  <a:srgbClr val="0D0D0D"/>
                </a:solidFill>
                <a:effectLst/>
                <a:latin typeface="-apple-system-body"/>
              </a:rPr>
              <a:t>&lt;&lt;</a:t>
            </a:r>
            <a:r>
              <a:rPr lang="en-US" b="1" i="0" dirty="0">
                <a:solidFill>
                  <a:srgbClr val="0D0D0D"/>
                </a:solidFill>
                <a:effectLst/>
                <a:latin typeface="-apple-system-body"/>
              </a:rPr>
              <a:t>include&gt;&gt; </a:t>
            </a:r>
            <a:r>
              <a:rPr lang="my-MM" b="1" i="0" dirty="0">
                <a:solidFill>
                  <a:srgbClr val="0D0D0D"/>
                </a:solidFill>
                <a:effectLst/>
                <a:latin typeface="-apple-system-body"/>
              </a:rPr>
              <a:t>တွေကို အလွယ်မှတ်မယ်ဆိုရင်</a:t>
            </a:r>
          </a:p>
          <a:p>
            <a:pPr algn="l">
              <a:buFont typeface="+mj-lt"/>
              <a:buAutoNum type="arabicPeriod"/>
            </a:pPr>
            <a:r>
              <a:rPr lang="my-MM" b="0" i="0" dirty="0">
                <a:solidFill>
                  <a:srgbClr val="0D0D0D"/>
                </a:solidFill>
                <a:effectLst/>
                <a:latin typeface="-apple-system-body"/>
              </a:rPr>
              <a:t>ဒီ </a:t>
            </a:r>
            <a:r>
              <a:rPr lang="en-US" b="0" i="0" dirty="0">
                <a:solidFill>
                  <a:srgbClr val="0D0D0D"/>
                </a:solidFill>
                <a:effectLst/>
                <a:latin typeface="-apple-system-body"/>
              </a:rPr>
              <a:t>Diagram </a:t>
            </a:r>
            <a:r>
              <a:rPr lang="my-MM" b="0" i="0" dirty="0">
                <a:solidFill>
                  <a:srgbClr val="0D0D0D"/>
                </a:solidFill>
                <a:effectLst/>
                <a:latin typeface="-apple-system-body"/>
              </a:rPr>
              <a:t>မှာ အဓိက </a:t>
            </a:r>
            <a:r>
              <a:rPr lang="en-US" b="0" i="0" dirty="0">
                <a:solidFill>
                  <a:srgbClr val="0D0D0D"/>
                </a:solidFill>
                <a:effectLst/>
                <a:latin typeface="-apple-system-body"/>
              </a:rPr>
              <a:t>include </a:t>
            </a:r>
            <a:r>
              <a:rPr lang="my-MM" b="0" i="0" dirty="0">
                <a:solidFill>
                  <a:srgbClr val="0D0D0D"/>
                </a:solidFill>
                <a:effectLst/>
                <a:latin typeface="-apple-system-body"/>
              </a:rPr>
              <a:t>ဆက်နွယ်မှုက—</a:t>
            </a:r>
          </a:p>
          <a:p>
            <a:pPr algn="l">
              <a:buFont typeface="+mj-lt"/>
              <a:buAutoNum type="arabicPeriod"/>
            </a:pPr>
            <a:r>
              <a:rPr lang="en-US" b="1" i="0" dirty="0">
                <a:solidFill>
                  <a:srgbClr val="0D0D0D"/>
                </a:solidFill>
                <a:effectLst/>
                <a:latin typeface="-apple-system-body"/>
              </a:rPr>
              <a:t>Manage Leave Requests</a:t>
            </a:r>
            <a:endParaRPr lang="en-US" b="0" i="0" dirty="0">
              <a:solidFill>
                <a:srgbClr val="0D0D0D"/>
              </a:solidFill>
              <a:effectLst/>
              <a:latin typeface="-apple-system-body"/>
            </a:endParaRPr>
          </a:p>
          <a:p>
            <a:pPr algn="l">
              <a:buFont typeface="+mj-lt"/>
              <a:buAutoNum type="arabicPeriod"/>
            </a:pPr>
            <a:r>
              <a:rPr lang="en-US" b="0" i="0" dirty="0">
                <a:solidFill>
                  <a:srgbClr val="0D0D0D"/>
                </a:solidFill>
                <a:effectLst/>
                <a:latin typeface="-apple-system-body"/>
              </a:rPr>
              <a:t>→ View Pending Leaves</a:t>
            </a:r>
            <a:br>
              <a:rPr lang="en-US" b="0" i="0" dirty="0">
                <a:solidFill>
                  <a:srgbClr val="0D0D0D"/>
                </a:solidFill>
                <a:effectLst/>
                <a:latin typeface="-apple-system-body"/>
              </a:rPr>
            </a:br>
            <a:r>
              <a:rPr lang="en-US" b="0" i="0" dirty="0">
                <a:solidFill>
                  <a:srgbClr val="0D0D0D"/>
                </a:solidFill>
                <a:effectLst/>
                <a:latin typeface="-apple-system-body"/>
              </a:rPr>
              <a:t>→ Reject OR Approve Requests</a:t>
            </a:r>
            <a:br>
              <a:rPr lang="en-US" b="0" i="0" dirty="0">
                <a:solidFill>
                  <a:srgbClr val="0D0D0D"/>
                </a:solidFill>
                <a:effectLst/>
                <a:latin typeface="-apple-system-body"/>
              </a:rPr>
            </a:br>
            <a:r>
              <a:rPr lang="en-US" b="0" i="0" dirty="0">
                <a:solidFill>
                  <a:srgbClr val="0D0D0D"/>
                </a:solidFill>
                <a:effectLst/>
                <a:latin typeface="-apple-system-body"/>
              </a:rPr>
              <a:t>→ View Approved Leaves</a:t>
            </a:r>
            <a:br>
              <a:rPr lang="en-US" b="0" i="0" dirty="0">
                <a:solidFill>
                  <a:srgbClr val="0D0D0D"/>
                </a:solidFill>
                <a:effectLst/>
                <a:latin typeface="-apple-system-body"/>
              </a:rPr>
            </a:br>
            <a:r>
              <a:rPr lang="en-US" b="0" i="0" dirty="0">
                <a:solidFill>
                  <a:srgbClr val="0D0D0D"/>
                </a:solidFill>
                <a:effectLst/>
                <a:latin typeface="-apple-system-body"/>
              </a:rPr>
              <a:t>→ View Not Approved Leaves</a:t>
            </a:r>
          </a:p>
          <a:p>
            <a:pPr algn="l">
              <a:buFont typeface="+mj-lt"/>
              <a:buAutoNum type="arabicPeriod"/>
            </a:pPr>
            <a:r>
              <a:rPr lang="my-MM" b="0" i="0" dirty="0">
                <a:solidFill>
                  <a:srgbClr val="0D0D0D"/>
                </a:solidFill>
                <a:effectLst/>
                <a:latin typeface="-apple-system-body"/>
              </a:rPr>
              <a:t>ဖြစ်ပါတယ်။</a:t>
            </a:r>
          </a:p>
          <a:p>
            <a:pPr algn="l">
              <a:buFont typeface="+mj-lt"/>
              <a:buAutoNum type="arabicPeriod"/>
            </a:pPr>
            <a:r>
              <a:rPr lang="my-MM" b="0" i="0" dirty="0">
                <a:solidFill>
                  <a:srgbClr val="0D0D0D"/>
                </a:solidFill>
                <a:effectLst/>
                <a:latin typeface="-apple-system-body"/>
              </a:rPr>
              <a:t>ပြီးတော့—</a:t>
            </a:r>
          </a:p>
          <a:p>
            <a:pPr algn="l">
              <a:buFont typeface="+mj-lt"/>
              <a:buAutoNum type="arabicPeriod"/>
            </a:pPr>
            <a:r>
              <a:rPr lang="en-US" b="1" i="0" dirty="0">
                <a:solidFill>
                  <a:srgbClr val="0D0D0D"/>
                </a:solidFill>
                <a:effectLst/>
                <a:latin typeface="-apple-system-body"/>
              </a:rPr>
              <a:t>Generate Reports</a:t>
            </a:r>
            <a:endParaRPr lang="en-US" b="0" i="0" dirty="0">
              <a:solidFill>
                <a:srgbClr val="0D0D0D"/>
              </a:solidFill>
              <a:effectLst/>
              <a:latin typeface="-apple-system-body"/>
            </a:endParaRPr>
          </a:p>
          <a:p>
            <a:pPr algn="l">
              <a:buFont typeface="+mj-lt"/>
              <a:buAutoNum type="arabicPeriod"/>
            </a:pPr>
            <a:r>
              <a:rPr lang="en-US" b="0" i="0" dirty="0">
                <a:solidFill>
                  <a:srgbClr val="0D0D0D"/>
                </a:solidFill>
                <a:effectLst/>
                <a:latin typeface="-apple-system-body"/>
              </a:rPr>
              <a:t>→ Download PDF</a:t>
            </a:r>
          </a:p>
          <a:p>
            <a:pPr algn="l">
              <a:buFont typeface="+mj-lt"/>
              <a:buAutoNum type="arabicPeriod"/>
            </a:pPr>
            <a:r>
              <a:rPr lang="my-MM" b="0" i="0" dirty="0">
                <a:solidFill>
                  <a:srgbClr val="0D0D0D"/>
                </a:solidFill>
                <a:effectLst/>
                <a:latin typeface="-apple-system-body"/>
              </a:rPr>
              <a:t>ဖြစ်ပါတယ်။</a:t>
            </a:r>
          </a:p>
          <a:p>
            <a:pPr algn="l">
              <a:buFont typeface="+mj-lt"/>
              <a:buAutoNum type="arabicPeriod"/>
            </a:pPr>
            <a:r>
              <a:rPr lang="my-MM" b="0" i="0" dirty="0">
                <a:solidFill>
                  <a:srgbClr val="0D0D0D"/>
                </a:solidFill>
                <a:effectLst/>
                <a:latin typeface="-apple-system-body"/>
              </a:rPr>
              <a:t>အလွယ်ပြောရရင် </a:t>
            </a:r>
            <a:r>
              <a:rPr lang="en-US" b="1" i="0" dirty="0">
                <a:solidFill>
                  <a:srgbClr val="0D0D0D"/>
                </a:solidFill>
                <a:effectLst/>
                <a:latin typeface="-apple-system-body"/>
              </a:rPr>
              <a:t>Manage Leave Requests </a:t>
            </a:r>
            <a:r>
              <a:rPr lang="my-MM" b="1" i="0" dirty="0">
                <a:solidFill>
                  <a:srgbClr val="0D0D0D"/>
                </a:solidFill>
                <a:effectLst/>
                <a:latin typeface="-apple-system-body"/>
              </a:rPr>
              <a:t>လုပ်တဲ့အခါ </a:t>
            </a:r>
            <a:r>
              <a:rPr lang="en-US" b="1" i="0" dirty="0">
                <a:solidFill>
                  <a:srgbClr val="0D0D0D"/>
                </a:solidFill>
                <a:effectLst/>
                <a:latin typeface="-apple-system-body"/>
              </a:rPr>
              <a:t>Leave Request </a:t>
            </a:r>
            <a:r>
              <a:rPr lang="my-MM" b="1" i="0" dirty="0">
                <a:solidFill>
                  <a:srgbClr val="0D0D0D"/>
                </a:solidFill>
                <a:effectLst/>
                <a:latin typeface="-apple-system-body"/>
              </a:rPr>
              <a:t>တွေကို ကြည့်တာ၊ </a:t>
            </a:r>
            <a:r>
              <a:rPr lang="en-US" b="1" i="0" dirty="0">
                <a:solidFill>
                  <a:srgbClr val="0D0D0D"/>
                </a:solidFill>
                <a:effectLst/>
                <a:latin typeface="-apple-system-body"/>
              </a:rPr>
              <a:t>Approve/Reject </a:t>
            </a:r>
            <a:r>
              <a:rPr lang="my-MM" b="1" i="0" dirty="0">
                <a:solidFill>
                  <a:srgbClr val="0D0D0D"/>
                </a:solidFill>
                <a:effectLst/>
                <a:latin typeface="-apple-system-body"/>
              </a:rPr>
              <a:t>လုပ်တာ၊ </a:t>
            </a:r>
            <a:r>
              <a:rPr lang="en-US" b="1" i="0" dirty="0">
                <a:solidFill>
                  <a:srgbClr val="0D0D0D"/>
                </a:solidFill>
                <a:effectLst/>
                <a:latin typeface="-apple-system-body"/>
              </a:rPr>
              <a:t>Approved/Not Approved </a:t>
            </a:r>
            <a:r>
              <a:rPr lang="my-MM" b="1" i="0" dirty="0">
                <a:solidFill>
                  <a:srgbClr val="0D0D0D"/>
                </a:solidFill>
                <a:effectLst/>
                <a:latin typeface="-apple-system-body"/>
              </a:rPr>
              <a:t>ဖြစ်တာတွေကို စီမံနိုင်တယ်</a:t>
            </a:r>
            <a:r>
              <a:rPr lang="my-MM" b="0" i="0" dirty="0">
                <a:solidFill>
                  <a:srgbClr val="0D0D0D"/>
                </a:solidFill>
                <a:effectLst/>
                <a:latin typeface="-apple-system-body"/>
              </a:rPr>
              <a:t> လို့ ဆိုလိုပါတယ်။</a:t>
            </a:r>
          </a:p>
          <a:p>
            <a:pPr algn="l">
              <a:buFont typeface="+mj-lt"/>
              <a:buAutoNum type="arabicPeriod"/>
            </a:pPr>
            <a:r>
              <a:rPr lang="en-US" b="1" i="0" dirty="0">
                <a:solidFill>
                  <a:srgbClr val="0D0D0D"/>
                </a:solidFill>
                <a:effectLst/>
                <a:latin typeface="-apple-system-body"/>
              </a:rPr>
              <a:t>🧠 </a:t>
            </a:r>
            <a:r>
              <a:rPr lang="my-MM" b="1" i="0" dirty="0">
                <a:solidFill>
                  <a:srgbClr val="0D0D0D"/>
                </a:solidFill>
                <a:effectLst/>
                <a:latin typeface="-apple-system-body"/>
              </a:rPr>
              <a:t>ဒီပုံတစ်ခုလုံးကို စကားတစ်ကြောင်းနဲ့ ပြောရရင်</a:t>
            </a:r>
          </a:p>
          <a:p>
            <a:pPr algn="l">
              <a:buFont typeface="+mj-lt"/>
              <a:buAutoNum type="arabicPeriod"/>
            </a:pPr>
            <a:r>
              <a:rPr lang="my-MM" b="1" i="0" dirty="0">
                <a:solidFill>
                  <a:srgbClr val="0D0D0D"/>
                </a:solidFill>
                <a:effectLst/>
                <a:latin typeface="-apple-system-body"/>
              </a:rPr>
              <a:t>“</a:t>
            </a:r>
            <a:r>
              <a:rPr lang="en-US" b="1" i="0" dirty="0">
                <a:solidFill>
                  <a:srgbClr val="0D0D0D"/>
                </a:solidFill>
                <a:effectLst/>
                <a:latin typeface="-apple-system-body"/>
              </a:rPr>
              <a:t>Admin </a:t>
            </a:r>
            <a:r>
              <a:rPr lang="my-MM" b="1" i="0" dirty="0">
                <a:solidFill>
                  <a:srgbClr val="0D0D0D"/>
                </a:solidFill>
                <a:effectLst/>
                <a:latin typeface="-apple-system-body"/>
              </a:rPr>
              <a:t>က </a:t>
            </a:r>
            <a:r>
              <a:rPr lang="en-US" b="1" i="0" dirty="0">
                <a:solidFill>
                  <a:srgbClr val="0D0D0D"/>
                </a:solidFill>
                <a:effectLst/>
                <a:latin typeface="-apple-system-body"/>
              </a:rPr>
              <a:t>System </a:t>
            </a:r>
            <a:r>
              <a:rPr lang="my-MM" b="1" i="0" dirty="0">
                <a:solidFill>
                  <a:srgbClr val="0D0D0D"/>
                </a:solidFill>
                <a:effectLst/>
                <a:latin typeface="-apple-system-body"/>
              </a:rPr>
              <a:t>ထဲ </a:t>
            </a:r>
            <a:r>
              <a:rPr lang="en-US" b="1" i="0" dirty="0">
                <a:solidFill>
                  <a:srgbClr val="0D0D0D"/>
                </a:solidFill>
                <a:effectLst/>
                <a:latin typeface="-apple-system-body"/>
              </a:rPr>
              <a:t>Login </a:t>
            </a:r>
            <a:r>
              <a:rPr lang="my-MM" b="1" i="0" dirty="0">
                <a:solidFill>
                  <a:srgbClr val="0D0D0D"/>
                </a:solidFill>
                <a:effectLst/>
                <a:latin typeface="-apple-system-body"/>
              </a:rPr>
              <a:t>ဝင်ပြီး </a:t>
            </a:r>
            <a:r>
              <a:rPr lang="en-US" b="1" i="0" dirty="0">
                <a:solidFill>
                  <a:srgbClr val="0D0D0D"/>
                </a:solidFill>
                <a:effectLst/>
                <a:latin typeface="-apple-system-body"/>
              </a:rPr>
              <a:t>Department, Leave Type, Staff </a:t>
            </a:r>
            <a:r>
              <a:rPr lang="my-MM" b="1" i="0" dirty="0">
                <a:solidFill>
                  <a:srgbClr val="0D0D0D"/>
                </a:solidFill>
                <a:effectLst/>
                <a:latin typeface="-apple-system-body"/>
              </a:rPr>
              <a:t>တွေကို စီမံတယ်။ </a:t>
            </a:r>
            <a:r>
              <a:rPr lang="en-US" b="1" i="0" dirty="0">
                <a:solidFill>
                  <a:srgbClr val="0D0D0D"/>
                </a:solidFill>
                <a:effectLst/>
                <a:latin typeface="-apple-system-body"/>
              </a:rPr>
              <a:t>Staff </a:t>
            </a:r>
            <a:r>
              <a:rPr lang="my-MM" b="1" i="0" dirty="0">
                <a:solidFill>
                  <a:srgbClr val="0D0D0D"/>
                </a:solidFill>
                <a:effectLst/>
                <a:latin typeface="-apple-system-body"/>
              </a:rPr>
              <a:t>တွေရဲ့ </a:t>
            </a:r>
            <a:r>
              <a:rPr lang="en-US" b="1" i="0" dirty="0">
                <a:solidFill>
                  <a:srgbClr val="0D0D0D"/>
                </a:solidFill>
                <a:effectLst/>
                <a:latin typeface="-apple-system-body"/>
              </a:rPr>
              <a:t>Leave Request </a:t>
            </a:r>
            <a:r>
              <a:rPr lang="my-MM" b="1" i="0" dirty="0">
                <a:solidFill>
                  <a:srgbClr val="0D0D0D"/>
                </a:solidFill>
                <a:effectLst/>
                <a:latin typeface="-apple-system-body"/>
              </a:rPr>
              <a:t>တွေကို ကြည့်ပြီး </a:t>
            </a:r>
            <a:r>
              <a:rPr lang="en-US" b="1" i="0" dirty="0">
                <a:solidFill>
                  <a:srgbClr val="0D0D0D"/>
                </a:solidFill>
                <a:effectLst/>
                <a:latin typeface="-apple-system-body"/>
              </a:rPr>
              <a:t>Approve/Reject </a:t>
            </a:r>
            <a:r>
              <a:rPr lang="my-MM" b="1" i="0" dirty="0">
                <a:solidFill>
                  <a:srgbClr val="0D0D0D"/>
                </a:solidFill>
                <a:effectLst/>
                <a:latin typeface="-apple-system-body"/>
              </a:rPr>
              <a:t>လုပ်တယ်။ </a:t>
            </a:r>
            <a:r>
              <a:rPr lang="en-US" b="1" i="0" dirty="0">
                <a:solidFill>
                  <a:srgbClr val="0D0D0D"/>
                </a:solidFill>
                <a:effectLst/>
                <a:latin typeface="-apple-system-body"/>
              </a:rPr>
              <a:t>Approved/Not Approved Leave </a:t>
            </a:r>
            <a:r>
              <a:rPr lang="my-MM" b="1" i="0" dirty="0">
                <a:solidFill>
                  <a:srgbClr val="0D0D0D"/>
                </a:solidFill>
                <a:effectLst/>
                <a:latin typeface="-apple-system-body"/>
              </a:rPr>
              <a:t>တွေကို ပြန်ကြည့်နိုင်တယ်။ နောက်ဆုံး </a:t>
            </a:r>
            <a:r>
              <a:rPr lang="en-US" b="1" i="0" dirty="0">
                <a:solidFill>
                  <a:srgbClr val="0D0D0D"/>
                </a:solidFill>
                <a:effectLst/>
                <a:latin typeface="-apple-system-body"/>
              </a:rPr>
              <a:t>Leave Report </a:t>
            </a:r>
            <a:r>
              <a:rPr lang="my-MM" b="1" i="0" dirty="0">
                <a:solidFill>
                  <a:srgbClr val="0D0D0D"/>
                </a:solidFill>
                <a:effectLst/>
                <a:latin typeface="-apple-system-body"/>
              </a:rPr>
              <a:t>တွေ </a:t>
            </a:r>
            <a:r>
              <a:rPr lang="en-US" b="1" i="0" dirty="0">
                <a:solidFill>
                  <a:srgbClr val="0D0D0D"/>
                </a:solidFill>
                <a:effectLst/>
                <a:latin typeface="-apple-system-body"/>
              </a:rPr>
              <a:t>Generate </a:t>
            </a:r>
            <a:r>
              <a:rPr lang="my-MM" b="1" i="0" dirty="0">
                <a:solidFill>
                  <a:srgbClr val="0D0D0D"/>
                </a:solidFill>
                <a:effectLst/>
                <a:latin typeface="-apple-system-body"/>
              </a:rPr>
              <a:t>လုပ်ပြီး </a:t>
            </a:r>
            <a:r>
              <a:rPr lang="en-US" b="1" i="0" dirty="0">
                <a:solidFill>
                  <a:srgbClr val="0D0D0D"/>
                </a:solidFill>
                <a:effectLst/>
                <a:latin typeface="-apple-system-body"/>
              </a:rPr>
              <a:t>PDF Download </a:t>
            </a:r>
            <a:r>
              <a:rPr lang="my-MM" b="1" i="0" dirty="0">
                <a:solidFill>
                  <a:srgbClr val="0D0D0D"/>
                </a:solidFill>
                <a:effectLst/>
                <a:latin typeface="-apple-system-body"/>
              </a:rPr>
              <a:t>လုပ်နိုင်တယ်။ အလုပ်ပြီးရင် </a:t>
            </a:r>
            <a:r>
              <a:rPr lang="en-US" b="1" i="0" dirty="0">
                <a:solidFill>
                  <a:srgbClr val="0D0D0D"/>
                </a:solidFill>
                <a:effectLst/>
                <a:latin typeface="-apple-system-body"/>
              </a:rPr>
              <a:t>Logout </a:t>
            </a:r>
            <a:r>
              <a:rPr lang="my-MM" b="1" i="0" dirty="0">
                <a:solidFill>
                  <a:srgbClr val="0D0D0D"/>
                </a:solidFill>
                <a:effectLst/>
                <a:latin typeface="-apple-system-body"/>
              </a:rPr>
              <a:t>လုပ်တယ်”</a:t>
            </a:r>
            <a:r>
              <a:rPr lang="my-MM" b="0" i="0" dirty="0">
                <a:solidFill>
                  <a:srgbClr val="0D0D0D"/>
                </a:solidFill>
                <a:effectLst/>
                <a:latin typeface="-apple-system-body"/>
              </a:rPr>
              <a:t> လို့ နားလည်ရပါတယ်။</a:t>
            </a:r>
          </a:p>
          <a:p>
            <a:pPr algn="l">
              <a:buFont typeface="+mj-lt"/>
              <a:buAutoNum type="arabicPeriod"/>
            </a:pPr>
            <a:r>
              <a:rPr lang="en-US" b="1" i="0" dirty="0">
                <a:solidFill>
                  <a:srgbClr val="0D0D0D"/>
                </a:solidFill>
                <a:effectLst/>
                <a:latin typeface="-apple-system-body"/>
              </a:rPr>
              <a:t>Department Head </a:t>
            </a:r>
            <a:r>
              <a:rPr lang="my-MM" b="1" i="0" dirty="0">
                <a:solidFill>
                  <a:srgbClr val="0D0D0D"/>
                </a:solidFill>
                <a:effectLst/>
                <a:latin typeface="-apple-system-body"/>
              </a:rPr>
              <a:t>ပုံနဲ့ ဒီ </a:t>
            </a:r>
            <a:r>
              <a:rPr lang="en-US" b="1" i="0" dirty="0">
                <a:solidFill>
                  <a:srgbClr val="0D0D0D"/>
                </a:solidFill>
                <a:effectLst/>
                <a:latin typeface="-apple-system-body"/>
              </a:rPr>
              <a:t>Admin </a:t>
            </a:r>
            <a:r>
              <a:rPr lang="my-MM" b="1" i="0" dirty="0">
                <a:solidFill>
                  <a:srgbClr val="0D0D0D"/>
                </a:solidFill>
                <a:effectLst/>
                <a:latin typeface="-apple-system-body"/>
              </a:rPr>
              <a:t>ပုံရဲ့ အဓိကကွာခြားချက်</a:t>
            </a:r>
          </a:p>
          <a:p>
            <a:pPr algn="l">
              <a:buFont typeface="+mj-lt"/>
              <a:buAutoNum type="arabicPeriod"/>
            </a:pPr>
            <a:r>
              <a:rPr lang="en-US" b="1" i="0" dirty="0">
                <a:solidFill>
                  <a:srgbClr val="0D0D0D"/>
                </a:solidFill>
                <a:effectLst/>
                <a:latin typeface="-apple-system-body"/>
              </a:rPr>
              <a:t>Department Head</a:t>
            </a:r>
            <a:r>
              <a:rPr lang="en-US" b="0" i="0" dirty="0">
                <a:solidFill>
                  <a:srgbClr val="0D0D0D"/>
                </a:solidFill>
                <a:effectLst/>
                <a:latin typeface="-apple-system-body"/>
              </a:rPr>
              <a:t> </a:t>
            </a:r>
            <a:r>
              <a:rPr lang="my-MM" b="0" i="0" dirty="0">
                <a:solidFill>
                  <a:srgbClr val="0D0D0D"/>
                </a:solidFill>
                <a:effectLst/>
                <a:latin typeface="-apple-system-body"/>
              </a:rPr>
              <a:t>က </a:t>
            </a:r>
            <a:r>
              <a:rPr lang="en-US" b="0" i="0" dirty="0">
                <a:solidFill>
                  <a:srgbClr val="0D0D0D"/>
                </a:solidFill>
                <a:effectLst/>
                <a:latin typeface="-apple-system-body"/>
              </a:rPr>
              <a:t>👉 </a:t>
            </a:r>
            <a:r>
              <a:rPr lang="my-MM" b="0" i="0" dirty="0">
                <a:solidFill>
                  <a:srgbClr val="0D0D0D"/>
                </a:solidFill>
                <a:effectLst/>
                <a:latin typeface="-apple-system-body"/>
              </a:rPr>
              <a:t>ကိုယ့် </a:t>
            </a:r>
            <a:r>
              <a:rPr lang="en-US" b="0" i="0" dirty="0">
                <a:solidFill>
                  <a:srgbClr val="0D0D0D"/>
                </a:solidFill>
                <a:effectLst/>
                <a:latin typeface="-apple-system-body"/>
              </a:rPr>
              <a:t>Department </a:t>
            </a:r>
            <a:r>
              <a:rPr lang="my-MM" b="0" i="0" dirty="0">
                <a:solidFill>
                  <a:srgbClr val="0D0D0D"/>
                </a:solidFill>
                <a:effectLst/>
                <a:latin typeface="-apple-system-body"/>
              </a:rPr>
              <a:t>နဲ့ </a:t>
            </a:r>
            <a:r>
              <a:rPr lang="en-US" b="0" i="0" dirty="0">
                <a:solidFill>
                  <a:srgbClr val="0D0D0D"/>
                </a:solidFill>
                <a:effectLst/>
                <a:latin typeface="-apple-system-body"/>
              </a:rPr>
              <a:t>Staff Leave Request </a:t>
            </a:r>
            <a:r>
              <a:rPr lang="my-MM" b="0" i="0" dirty="0">
                <a:solidFill>
                  <a:srgbClr val="0D0D0D"/>
                </a:solidFill>
                <a:effectLst/>
                <a:latin typeface="-apple-system-body"/>
              </a:rPr>
              <a:t>တွေကို အဓိက စီမံတာ။</a:t>
            </a:r>
          </a:p>
          <a:p>
            <a:pPr algn="l">
              <a:buFont typeface="+mj-lt"/>
              <a:buAutoNum type="arabicPeriod"/>
            </a:pPr>
            <a:r>
              <a:rPr lang="en-US" b="1" i="0" dirty="0">
                <a:solidFill>
                  <a:srgbClr val="0D0D0D"/>
                </a:solidFill>
                <a:effectLst/>
                <a:latin typeface="-apple-system-body"/>
              </a:rPr>
              <a:t>Admin</a:t>
            </a:r>
            <a:r>
              <a:rPr lang="en-US" b="0" i="0" dirty="0">
                <a:solidFill>
                  <a:srgbClr val="0D0D0D"/>
                </a:solidFill>
                <a:effectLst/>
                <a:latin typeface="-apple-system-body"/>
              </a:rPr>
              <a:t> </a:t>
            </a:r>
            <a:r>
              <a:rPr lang="my-MM" b="0" i="0" dirty="0">
                <a:solidFill>
                  <a:srgbClr val="0D0D0D"/>
                </a:solidFill>
                <a:effectLst/>
                <a:latin typeface="-apple-system-body"/>
              </a:rPr>
              <a:t>က </a:t>
            </a:r>
            <a:r>
              <a:rPr lang="en-US" b="0" i="0" dirty="0">
                <a:solidFill>
                  <a:srgbClr val="0D0D0D"/>
                </a:solidFill>
                <a:effectLst/>
                <a:latin typeface="-apple-system-body"/>
              </a:rPr>
              <a:t>👉 </a:t>
            </a:r>
            <a:r>
              <a:rPr lang="en-US" b="1" i="0" dirty="0">
                <a:solidFill>
                  <a:srgbClr val="0D0D0D"/>
                </a:solidFill>
                <a:effectLst/>
                <a:latin typeface="-apple-system-body"/>
              </a:rPr>
              <a:t>System </a:t>
            </a:r>
            <a:r>
              <a:rPr lang="my-MM" b="1" i="0" dirty="0">
                <a:solidFill>
                  <a:srgbClr val="0D0D0D"/>
                </a:solidFill>
                <a:effectLst/>
                <a:latin typeface="-apple-system-body"/>
              </a:rPr>
              <a:t>တစ်ခုလုံး</a:t>
            </a:r>
            <a:r>
              <a:rPr lang="my-MM" b="0" i="0" dirty="0">
                <a:solidFill>
                  <a:srgbClr val="0D0D0D"/>
                </a:solidFill>
                <a:effectLst/>
                <a:latin typeface="-apple-system-body"/>
              </a:rPr>
              <a:t> ကို စီမံတာ — </a:t>
            </a:r>
            <a:r>
              <a:rPr lang="en-US" b="0" i="0" dirty="0">
                <a:solidFill>
                  <a:srgbClr val="0D0D0D"/>
                </a:solidFill>
                <a:effectLst/>
                <a:latin typeface="-apple-system-body"/>
              </a:rPr>
              <a:t>Department, Leave Type, Staff, Leave Request, Report </a:t>
            </a:r>
            <a:r>
              <a:rPr lang="my-MM" b="0" i="0" dirty="0">
                <a:solidFill>
                  <a:srgbClr val="0D0D0D"/>
                </a:solidFill>
                <a:effectLst/>
                <a:latin typeface="-apple-system-body"/>
              </a:rPr>
              <a:t>အားလုံးကို </a:t>
            </a:r>
            <a:r>
              <a:rPr lang="en-US" b="0" i="0" dirty="0">
                <a:solidFill>
                  <a:srgbClr val="0D0D0D"/>
                </a:solidFill>
                <a:effectLst/>
                <a:latin typeface="-apple-system-body"/>
              </a:rPr>
              <a:t>Manage </a:t>
            </a:r>
            <a:r>
              <a:rPr lang="my-MM" b="0" i="0" dirty="0">
                <a:solidFill>
                  <a:srgbClr val="0D0D0D"/>
                </a:solidFill>
                <a:effectLst/>
                <a:latin typeface="-apple-system-body"/>
              </a:rPr>
              <a:t>လုပ်နိုင်တာပါ။</a:t>
            </a:r>
          </a:p>
          <a:p>
            <a:pPr algn="ctr"/>
            <a:endParaRPr lang="en-US" b="0" i="0" dirty="0">
              <a:solidFill>
                <a:srgbClr val="8F8F8F"/>
              </a:solidFill>
              <a:effectLst/>
              <a:latin typeface="-apple-system-body"/>
            </a:endParaRPr>
          </a:p>
        </p:txBody>
      </p:sp>
      <p:sp>
        <p:nvSpPr>
          <p:cNvPr id="4" name="Slide Number Placeholder 3"/>
          <p:cNvSpPr>
            <a:spLocks noGrp="1"/>
          </p:cNvSpPr>
          <p:nvPr>
            <p:ph type="sldNum" sz="quarter" idx="5"/>
          </p:nvPr>
        </p:nvSpPr>
        <p:spPr/>
        <p:txBody>
          <a:bodyPr/>
          <a:lstStyle/>
          <a:p>
            <a:fld id="{AEA0FD98-7654-445C-8E24-0AB7F0410E36}" type="slidenum">
              <a:rPr lang="en-US" smtClean="0"/>
              <a:t>15</a:t>
            </a:fld>
            <a:endParaRPr lang="en-US"/>
          </a:p>
        </p:txBody>
      </p:sp>
    </p:spTree>
    <p:extLst>
      <p:ext uri="{BB962C8B-B14F-4D97-AF65-F5344CB8AC3E}">
        <p14:creationId xmlns:p14="http://schemas.microsoft.com/office/powerpoint/2010/main" val="27359572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A0FD98-7654-445C-8E24-0AB7F0410E36}" type="slidenum">
              <a:rPr lang="en-US" smtClean="0"/>
              <a:t>17</a:t>
            </a:fld>
            <a:endParaRPr lang="en-US"/>
          </a:p>
        </p:txBody>
      </p:sp>
    </p:spTree>
    <p:extLst>
      <p:ext uri="{BB962C8B-B14F-4D97-AF65-F5344CB8AC3E}">
        <p14:creationId xmlns:p14="http://schemas.microsoft.com/office/powerpoint/2010/main" val="35324484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my-MM" dirty="0"/>
              <a:t>ပထမအချက်အနေနဲ့ </a:t>
            </a:r>
            <a:r>
              <a:rPr lang="en-US" dirty="0"/>
              <a:t>Faster and More Efficient Process </a:t>
            </a:r>
            <a:r>
              <a:rPr lang="my-MM" dirty="0"/>
              <a:t>ဖြစ်ပါတယ်။</a:t>
            </a:r>
            <a:br>
              <a:rPr lang="my-MM" dirty="0"/>
            </a:br>
            <a:r>
              <a:rPr lang="my-MM" dirty="0"/>
              <a:t>ဒီ </a:t>
            </a:r>
            <a:r>
              <a:rPr lang="en-US" dirty="0"/>
              <a:t>system </a:t>
            </a:r>
            <a:r>
              <a:rPr lang="my-MM" dirty="0"/>
              <a:t>က </a:t>
            </a:r>
            <a:r>
              <a:rPr lang="en-US" dirty="0"/>
              <a:t>leave application </a:t>
            </a:r>
            <a:r>
              <a:rPr lang="my-MM" dirty="0"/>
              <a:t>တင်ခြင်းနဲ့ </a:t>
            </a:r>
            <a:r>
              <a:rPr lang="en-US" dirty="0"/>
              <a:t>approval process </a:t>
            </a:r>
            <a:r>
              <a:rPr lang="my-MM" dirty="0"/>
              <a:t>တွေကို ပိုမိုမြန်ဆန်ပြီး စနစ်တကျ ဖြစ်အောင် ကူညီပေးပါတယ်။</a:t>
            </a:r>
            <a:br>
              <a:rPr lang="my-MM" dirty="0"/>
            </a:br>
            <a:r>
              <a:rPr lang="my-MM" dirty="0"/>
              <a:t>ဒုတိယအချက်က </a:t>
            </a:r>
            <a:r>
              <a:rPr lang="en-US" dirty="0"/>
              <a:t>Real-Time Monitoring </a:t>
            </a:r>
            <a:r>
              <a:rPr lang="my-MM" dirty="0"/>
              <a:t>ဖြစ်ပါတယ်။</a:t>
            </a:r>
            <a:br>
              <a:rPr lang="my-MM" dirty="0"/>
            </a:br>
            <a:r>
              <a:rPr lang="en-US" dirty="0"/>
              <a:t>User </a:t>
            </a:r>
            <a:r>
              <a:rPr lang="my-MM" dirty="0"/>
              <a:t>တွေက မိမိတိုရဲ့ </a:t>
            </a:r>
            <a:r>
              <a:rPr lang="en-US" dirty="0"/>
              <a:t>leave application status</a:t>
            </a:r>
            <a:r>
              <a:rPr lang="my-MM" dirty="0"/>
              <a:t>၊ </a:t>
            </a:r>
            <a:r>
              <a:rPr lang="en-US" dirty="0"/>
              <a:t>approval status </a:t>
            </a:r>
            <a:r>
              <a:rPr lang="my-MM" dirty="0"/>
              <a:t>နဲ့ </a:t>
            </a:r>
            <a:r>
              <a:rPr lang="en-US" dirty="0"/>
              <a:t>leave balances </a:t>
            </a:r>
            <a:r>
              <a:rPr lang="my-MM" dirty="0"/>
              <a:t>တွေကို အချိန်နဲ့တပြေးညီ စောင့်ကြည့်နိုင်ပါတယ်။</a:t>
            </a:r>
            <a:br>
              <a:rPr lang="my-MM" dirty="0"/>
            </a:br>
            <a:r>
              <a:rPr lang="my-MM" dirty="0"/>
              <a:t>တတိယအချက်က </a:t>
            </a:r>
            <a:r>
              <a:rPr lang="en-US" dirty="0"/>
              <a:t>Reduced Human Errors </a:t>
            </a:r>
            <a:r>
              <a:rPr lang="my-MM" dirty="0"/>
              <a:t>ဖြစ်ပါတယ်။</a:t>
            </a:r>
            <a:br>
              <a:rPr lang="my-MM" dirty="0"/>
            </a:br>
            <a:r>
              <a:rPr lang="en-US" dirty="0"/>
              <a:t>Manual calculation </a:t>
            </a:r>
            <a:r>
              <a:rPr lang="my-MM" dirty="0"/>
              <a:t>နဲ့ </a:t>
            </a:r>
            <a:r>
              <a:rPr lang="en-US" dirty="0"/>
              <a:t>record keeping </a:t>
            </a:r>
            <a:r>
              <a:rPr lang="my-MM" dirty="0"/>
              <a:t>တွေကို လျှော့ချပေးတဲ့အတွက် </a:t>
            </a:r>
            <a:r>
              <a:rPr lang="en-US" dirty="0"/>
              <a:t>leave balance </a:t>
            </a:r>
            <a:r>
              <a:rPr lang="my-MM" dirty="0"/>
              <a:t>တွေနဲ့ </a:t>
            </a:r>
            <a:r>
              <a:rPr lang="en-US" dirty="0"/>
              <a:t>records </a:t>
            </a:r>
            <a:r>
              <a:rPr lang="my-MM" dirty="0"/>
              <a:t>တွေမှာ ဖြစ်နိုင်တဲ့ </a:t>
            </a:r>
            <a:r>
              <a:rPr lang="en-US" dirty="0"/>
              <a:t>human errors </a:t>
            </a:r>
            <a:r>
              <a:rPr lang="my-MM" dirty="0"/>
              <a:t>တွေကို လျှော့ချပေးနိုင်ပါတယ်။</a:t>
            </a:r>
            <a:br>
              <a:rPr lang="my-MM" dirty="0"/>
            </a:br>
            <a:r>
              <a:rPr lang="my-MM" dirty="0"/>
              <a:t>စတုတ္ထအချက်က </a:t>
            </a:r>
            <a:r>
              <a:rPr lang="en-US" dirty="0"/>
              <a:t>Enhanced Transparency and Security </a:t>
            </a:r>
            <a:r>
              <a:rPr lang="my-MM" dirty="0"/>
              <a:t>ဖြစ်ပါတယ်။</a:t>
            </a:r>
            <a:br>
              <a:rPr lang="my-MM" dirty="0"/>
            </a:br>
            <a:r>
              <a:rPr lang="en-US" dirty="0"/>
              <a:t>Approval workflow </a:t>
            </a:r>
            <a:r>
              <a:rPr lang="my-MM" dirty="0"/>
              <a:t>ကို ရှင်းလင်းစွာ သတ်မှတ်ထားပြီး </a:t>
            </a:r>
            <a:r>
              <a:rPr lang="en-US" dirty="0"/>
              <a:t>role-based access control </a:t>
            </a:r>
            <a:r>
              <a:rPr lang="my-MM" dirty="0"/>
              <a:t>အသုံးပြုထားတဲ့အတွက် </a:t>
            </a:r>
            <a:r>
              <a:rPr lang="en-US" dirty="0"/>
              <a:t>transparency </a:t>
            </a:r>
            <a:r>
              <a:rPr lang="my-MM" dirty="0"/>
              <a:t>နဲ့ </a:t>
            </a:r>
            <a:r>
              <a:rPr lang="en-US" dirty="0"/>
              <a:t>system security </a:t>
            </a:r>
            <a:r>
              <a:rPr lang="my-MM" dirty="0"/>
              <a:t>ကို ပိုမိုကောင်းမွန်စေပါတယ်။</a:t>
            </a:r>
            <a:br>
              <a:rPr lang="my-MM" dirty="0"/>
            </a:br>
            <a:r>
              <a:rPr lang="my-MM" dirty="0"/>
              <a:t>နောက်ဆုံးအချက်ကတော့ </a:t>
            </a:r>
            <a:r>
              <a:rPr lang="en-US" dirty="0"/>
              <a:t>Easy Report Generation </a:t>
            </a:r>
            <a:r>
              <a:rPr lang="my-MM" dirty="0"/>
              <a:t>ဖြစ်ပါတယ်။</a:t>
            </a:r>
            <a:br>
              <a:rPr lang="my-MM" dirty="0"/>
            </a:br>
            <a:r>
              <a:rPr lang="en-US" dirty="0"/>
              <a:t>Leave applications </a:t>
            </a:r>
            <a:r>
              <a:rPr lang="my-MM" dirty="0"/>
              <a:t>နဲ့ </a:t>
            </a:r>
            <a:r>
              <a:rPr lang="en-US" dirty="0"/>
              <a:t>leave records </a:t>
            </a:r>
            <a:r>
              <a:rPr lang="my-MM" dirty="0"/>
              <a:t>တွေနဲ့ သက်ဆိုင်တဲ့ </a:t>
            </a:r>
            <a:r>
              <a:rPr lang="en-US" dirty="0"/>
              <a:t>reports </a:t>
            </a:r>
            <a:r>
              <a:rPr lang="my-MM" dirty="0"/>
              <a:t>တွေကို လွယ်ကူစွာ ကြည့်ရှု၊ စီမံခန့်ခွဲပြီး ထုတ်ယူနိုင်ပါတယ်။</a:t>
            </a:r>
            <a:br>
              <a:rPr lang="my-MM" dirty="0"/>
            </a:br>
            <a:r>
              <a:rPr lang="my-MM" dirty="0"/>
              <a:t>ဒါကြောင့် ဒီ </a:t>
            </a:r>
            <a:r>
              <a:rPr lang="en-US" dirty="0"/>
              <a:t>system </a:t>
            </a:r>
            <a:r>
              <a:rPr lang="my-MM" dirty="0"/>
              <a:t>က </a:t>
            </a:r>
            <a:r>
              <a:rPr lang="en-US" dirty="0"/>
              <a:t>leave management process </a:t>
            </a:r>
            <a:r>
              <a:rPr lang="my-MM" dirty="0"/>
              <a:t>ကို ပိုမိုမြန်ဆန်၊ တိကျပြီး စနစ်တကျ ဖြစ်စေပါတယ်။”</a:t>
            </a:r>
            <a:endParaRPr lang="en-US" dirty="0"/>
          </a:p>
        </p:txBody>
      </p:sp>
      <p:sp>
        <p:nvSpPr>
          <p:cNvPr id="4" name="Slide Number Placeholder 3"/>
          <p:cNvSpPr>
            <a:spLocks noGrp="1"/>
          </p:cNvSpPr>
          <p:nvPr>
            <p:ph type="sldNum" sz="quarter" idx="5"/>
          </p:nvPr>
        </p:nvSpPr>
        <p:spPr/>
        <p:txBody>
          <a:bodyPr/>
          <a:lstStyle/>
          <a:p>
            <a:fld id="{AEA0FD98-7654-445C-8E24-0AB7F0410E36}" type="slidenum">
              <a:rPr lang="en-US" smtClean="0"/>
              <a:t>19</a:t>
            </a:fld>
            <a:endParaRPr lang="en-US"/>
          </a:p>
        </p:txBody>
      </p:sp>
    </p:spTree>
    <p:extLst>
      <p:ext uri="{BB962C8B-B14F-4D97-AF65-F5344CB8AC3E}">
        <p14:creationId xmlns:p14="http://schemas.microsoft.com/office/powerpoint/2010/main" val="16094393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my-MM" dirty="0"/>
              <a:t>ကျွန်မတိုရဲ့ </a:t>
            </a:r>
            <a:r>
              <a:rPr lang="en-US" dirty="0"/>
              <a:t>Staff Leave Management System </a:t>
            </a:r>
            <a:r>
              <a:rPr lang="my-MM" dirty="0"/>
              <a:t>က </a:t>
            </a:r>
            <a:r>
              <a:rPr lang="en-US" dirty="0"/>
              <a:t>UCSH </a:t>
            </a:r>
            <a:r>
              <a:rPr lang="my-MM" dirty="0"/>
              <a:t>မှာ ဝန်ထမ်းတွေရဲ့ </a:t>
            </a:r>
            <a:r>
              <a:rPr lang="en-US" dirty="0"/>
              <a:t>leave request </a:t>
            </a:r>
            <a:r>
              <a:rPr lang="my-MM" dirty="0"/>
              <a:t>တင်ခြင်း၊ </a:t>
            </a:r>
            <a:r>
              <a:rPr lang="en-US" dirty="0"/>
              <a:t>recommendation </a:t>
            </a:r>
            <a:r>
              <a:rPr lang="my-MM" dirty="0"/>
              <a:t>ပြုလုပ်ခြင်း၊ </a:t>
            </a:r>
            <a:r>
              <a:rPr lang="en-US" dirty="0"/>
              <a:t>approval </a:t>
            </a:r>
            <a:r>
              <a:rPr lang="my-MM" dirty="0"/>
              <a:t>ပေးခြင်းနဲ့ </a:t>
            </a:r>
            <a:r>
              <a:rPr lang="en-US" dirty="0"/>
              <a:t>leave records </a:t>
            </a:r>
            <a:r>
              <a:rPr lang="my-MM" dirty="0"/>
              <a:t>တွေကို </a:t>
            </a:r>
            <a:r>
              <a:rPr lang="en-US" dirty="0"/>
              <a:t>track </a:t>
            </a:r>
            <a:r>
              <a:rPr lang="my-MM" dirty="0"/>
              <a:t>လုပ်ခြင်းတိုကို ပိုမိုလွယ်ကူပြီး စနစ်တကျ ဖြစ်အောင် ကူညီပေးနိုင်ပါတယ်။</a:t>
            </a:r>
            <a:br>
              <a:rPr lang="my-MM" dirty="0"/>
            </a:br>
            <a:r>
              <a:rPr lang="my-MM" dirty="0"/>
              <a:t>ဒီ </a:t>
            </a:r>
            <a:r>
              <a:rPr lang="en-US" dirty="0"/>
              <a:t>system </a:t>
            </a:r>
            <a:r>
              <a:rPr lang="my-MM" dirty="0"/>
              <a:t>ဟာ </a:t>
            </a:r>
            <a:r>
              <a:rPr lang="en-US" dirty="0"/>
              <a:t>secure, accurate and centralized web-based solution </a:t>
            </a:r>
            <a:r>
              <a:rPr lang="my-MM" dirty="0"/>
              <a:t>ဖြစ်တဲ့အတွက် </a:t>
            </a:r>
            <a:r>
              <a:rPr lang="en-US" dirty="0"/>
              <a:t>manual paperwork </a:t>
            </a:r>
            <a:r>
              <a:rPr lang="my-MM" dirty="0"/>
              <a:t>တွေကို လျှော့ချနိုင်ပြီး </a:t>
            </a:r>
            <a:r>
              <a:rPr lang="en-US" dirty="0"/>
              <a:t>administrative errors </a:t>
            </a:r>
            <a:r>
              <a:rPr lang="my-MM" dirty="0"/>
              <a:t>တွေကိုလည်း လျှော့ချပေးနိုင်ပါတယ်။</a:t>
            </a:r>
            <a:br>
              <a:rPr lang="my-MM" dirty="0"/>
            </a:br>
            <a:r>
              <a:rPr lang="my-MM" dirty="0"/>
              <a:t>ဒါ့အပြင် </a:t>
            </a:r>
            <a:r>
              <a:rPr lang="en-US" dirty="0"/>
              <a:t>automated workflow </a:t>
            </a:r>
            <a:r>
              <a:rPr lang="my-MM" dirty="0"/>
              <a:t>နဲ့ </a:t>
            </a:r>
            <a:r>
              <a:rPr lang="en-US" dirty="0"/>
              <a:t>structured reporting </a:t>
            </a:r>
            <a:r>
              <a:rPr lang="my-MM" dirty="0"/>
              <a:t>တွေကို အသုံးပြုထားတဲ့အတွက် ဆုံးဖြတ်ချက်တွေကို အချိန်မီချနိုင်ပြီး </a:t>
            </a:r>
            <a:r>
              <a:rPr lang="en-US" dirty="0"/>
              <a:t>leave records </a:t>
            </a:r>
            <a:r>
              <a:rPr lang="my-MM" dirty="0"/>
              <a:t>တွေကိုလည်း ယုံကြည်စိတ်ချစွာ စီမံခန့်ခွဲနိုင်ပါတယ်။</a:t>
            </a:r>
            <a:br>
              <a:rPr lang="my-MM" dirty="0"/>
            </a:br>
            <a:r>
              <a:rPr lang="en-US" dirty="0"/>
              <a:t>Overall </a:t>
            </a:r>
            <a:r>
              <a:rPr lang="my-MM" dirty="0"/>
              <a:t>အနေနဲ့ ဒီ </a:t>
            </a:r>
            <a:r>
              <a:rPr lang="en-US" dirty="0"/>
              <a:t>project </a:t>
            </a:r>
            <a:r>
              <a:rPr lang="my-MM" dirty="0"/>
              <a:t>က ကျွန်မတိုရဲ့ </a:t>
            </a:r>
            <a:r>
              <a:rPr lang="en-US" dirty="0"/>
              <a:t>practical development skills, problem-solving skills </a:t>
            </a:r>
            <a:r>
              <a:rPr lang="my-MM" dirty="0"/>
              <a:t>နဲ့ </a:t>
            </a:r>
            <a:r>
              <a:rPr lang="en-US" dirty="0"/>
              <a:t>collaboration skills </a:t>
            </a:r>
            <a:r>
              <a:rPr lang="my-MM" dirty="0"/>
              <a:t>တွေကို တိုးတက်စေခဲ့သလို </a:t>
            </a:r>
            <a:r>
              <a:rPr lang="en-US" dirty="0"/>
              <a:t>UCSH </a:t>
            </a:r>
            <a:r>
              <a:rPr lang="my-MM" dirty="0"/>
              <a:t>ရဲ့ </a:t>
            </a:r>
            <a:r>
              <a:rPr lang="en-US" dirty="0"/>
              <a:t>digital transformation </a:t>
            </a:r>
            <a:r>
              <a:rPr lang="my-MM" dirty="0"/>
              <a:t>အတွက်လည်း အထောက်အကူပြုနိုင်ခဲ့ပါတယ်။”</a:t>
            </a:r>
            <a:endParaRPr lang="en-US" dirty="0"/>
          </a:p>
        </p:txBody>
      </p:sp>
      <p:sp>
        <p:nvSpPr>
          <p:cNvPr id="4" name="Slide Number Placeholder 3"/>
          <p:cNvSpPr>
            <a:spLocks noGrp="1"/>
          </p:cNvSpPr>
          <p:nvPr>
            <p:ph type="sldNum" sz="quarter" idx="5"/>
          </p:nvPr>
        </p:nvSpPr>
        <p:spPr/>
        <p:txBody>
          <a:bodyPr/>
          <a:lstStyle/>
          <a:p>
            <a:fld id="{AEA0FD98-7654-445C-8E24-0AB7F0410E36}" type="slidenum">
              <a:rPr lang="en-US" smtClean="0"/>
              <a:t>20</a:t>
            </a:fld>
            <a:endParaRPr lang="en-US"/>
          </a:p>
        </p:txBody>
      </p:sp>
    </p:spTree>
    <p:extLst>
      <p:ext uri="{BB962C8B-B14F-4D97-AF65-F5344CB8AC3E}">
        <p14:creationId xmlns:p14="http://schemas.microsoft.com/office/powerpoint/2010/main" val="29073474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31/08/2026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31/08/2026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31/08/2026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31/08/2026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31/08/2026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31/08/2026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31/08/2026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31/08/2026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823"/>
            <a:ext cx="12192000" cy="6854354"/>
          </a:xfrm>
          <a:prstGeom prst="rect">
            <a:avLst/>
          </a:prstGeom>
          <a:effectLst>
            <a:outerShdw blurRad="50800" dist="50800" dir="5400000" sx="1000" sy="1000" algn="ctr" rotWithShape="0">
              <a:srgbClr val="000000"/>
            </a:outerShdw>
            <a:reflection endPos="0" dist="50800" dir="5400000" sy="-100000" algn="bl" rotWithShape="0"/>
          </a:effectLst>
        </p:spPr>
      </p:pic>
      <p:sp>
        <p:nvSpPr>
          <p:cNvPr id="2" name="TextBox 1"/>
          <p:cNvSpPr txBox="1"/>
          <p:nvPr/>
        </p:nvSpPr>
        <p:spPr>
          <a:xfrm>
            <a:off x="2497779" y="365760"/>
            <a:ext cx="7196136" cy="430887"/>
          </a:xfrm>
          <a:prstGeom prst="rect">
            <a:avLst/>
          </a:prstGeom>
          <a:noFill/>
        </p:spPr>
        <p:txBody>
          <a:bodyPr wrap="none">
            <a:spAutoFit/>
          </a:bodyPr>
          <a:lstStyle/>
          <a:p>
            <a:pPr algn="ctr">
              <a:defRPr sz="2200" b="1">
                <a:solidFill>
                  <a:srgbClr val="0B2046"/>
                </a:solidFill>
              </a:defRPr>
            </a:pPr>
            <a:r>
              <a:rPr dirty="0">
                <a:latin typeface="Times New Roman" panose="02020603050405020304" pitchFamily="18" charset="0"/>
                <a:cs typeface="Times New Roman" panose="02020603050405020304" pitchFamily="18" charset="0"/>
              </a:rPr>
              <a:t>UNIVERSITY OF COMPUTER STUDIES (HINTHADA)</a:t>
            </a:r>
          </a:p>
        </p:txBody>
      </p:sp>
      <p:sp>
        <p:nvSpPr>
          <p:cNvPr id="3" name="Rectangle 2"/>
          <p:cNvSpPr/>
          <p:nvPr/>
        </p:nvSpPr>
        <p:spPr>
          <a:xfrm>
            <a:off x="2286000" y="1051560"/>
            <a:ext cx="7619695" cy="27432"/>
          </a:xfrm>
          <a:prstGeom prst="rect">
            <a:avLst/>
          </a:prstGeom>
          <a:solidFill>
            <a:srgbClr val="D99B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148567" y="1654220"/>
            <a:ext cx="5894563" cy="677108"/>
          </a:xfrm>
          <a:prstGeom prst="rect">
            <a:avLst/>
          </a:prstGeom>
          <a:noFill/>
        </p:spPr>
        <p:txBody>
          <a:bodyPr wrap="none">
            <a:spAutoFit/>
          </a:bodyPr>
          <a:lstStyle/>
          <a:p>
            <a:pPr algn="ctr">
              <a:defRPr sz="3800" b="1">
                <a:solidFill>
                  <a:srgbClr val="0B2046"/>
                </a:solidFill>
              </a:defRPr>
            </a:pPr>
            <a:r>
              <a:rPr lang="en-US" dirty="0">
                <a:latin typeface="Times New Roman" panose="02020603050405020304" pitchFamily="18" charset="0"/>
                <a:cs typeface="Times New Roman" panose="02020603050405020304" pitchFamily="18" charset="0"/>
              </a:rPr>
              <a:t>Leave Management</a:t>
            </a:r>
            <a:r>
              <a:rPr dirty="0">
                <a:latin typeface="Times New Roman" panose="02020603050405020304" pitchFamily="18" charset="0"/>
                <a:cs typeface="Times New Roman" panose="02020603050405020304" pitchFamily="18" charset="0"/>
              </a:rPr>
              <a:t> System</a:t>
            </a:r>
          </a:p>
        </p:txBody>
      </p:sp>
      <p:sp>
        <p:nvSpPr>
          <p:cNvPr id="5" name="TextBox 4"/>
          <p:cNvSpPr txBox="1"/>
          <p:nvPr/>
        </p:nvSpPr>
        <p:spPr>
          <a:xfrm>
            <a:off x="3973326" y="2754650"/>
            <a:ext cx="4220451" cy="461665"/>
          </a:xfrm>
          <a:prstGeom prst="rect">
            <a:avLst/>
          </a:prstGeom>
          <a:noFill/>
        </p:spPr>
        <p:txBody>
          <a:bodyPr wrap="none">
            <a:spAutoFit/>
          </a:bodyPr>
          <a:lstStyle/>
          <a:p>
            <a:pPr algn="ctr">
              <a:defRPr sz="2200" b="1">
                <a:solidFill>
                  <a:srgbClr val="D99B26"/>
                </a:solidFill>
              </a:defRPr>
            </a:pPr>
            <a:r>
              <a:rPr sz="2400" dirty="0">
                <a:ln w="0"/>
                <a:solidFill>
                  <a:schemeClr val="accent5">
                    <a:lumMod val="50000"/>
                  </a:schemeClr>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F</a:t>
            </a:r>
            <a:r>
              <a:rPr lang="en-US" sz="2400" dirty="0">
                <a:ln w="0"/>
                <a:solidFill>
                  <a:schemeClr val="accent5">
                    <a:lumMod val="50000"/>
                  </a:schemeClr>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inal</a:t>
            </a:r>
            <a:r>
              <a:rPr sz="2400" dirty="0">
                <a:solidFill>
                  <a:schemeClr val="accent5">
                    <a:lumMod val="50000"/>
                  </a:schemeClr>
                </a:solidFill>
                <a:latin typeface="Times New Roman" panose="02020603050405020304" pitchFamily="18" charset="0"/>
                <a:cs typeface="Times New Roman" panose="02020603050405020304" pitchFamily="18" charset="0"/>
              </a:rPr>
              <a:t> Year (C</a:t>
            </a:r>
            <a:r>
              <a:rPr lang="en-US" sz="2400" dirty="0">
                <a:solidFill>
                  <a:schemeClr val="accent5">
                    <a:lumMod val="50000"/>
                  </a:schemeClr>
                </a:solidFill>
                <a:latin typeface="Times New Roman" panose="02020603050405020304" pitchFamily="18" charset="0"/>
                <a:cs typeface="Times New Roman" panose="02020603050405020304" pitchFamily="18" charset="0"/>
              </a:rPr>
              <a:t>omputer Science</a:t>
            </a:r>
            <a:r>
              <a:rPr sz="2400" dirty="0">
                <a:solidFill>
                  <a:schemeClr val="accent5">
                    <a:lumMod val="50000"/>
                  </a:schemeClr>
                </a:solidFill>
                <a:latin typeface="Times New Roman" panose="02020603050405020304" pitchFamily="18" charset="0"/>
                <a:cs typeface="Times New Roman" panose="02020603050405020304" pitchFamily="18" charset="0"/>
              </a:rPr>
              <a:t>)</a:t>
            </a:r>
          </a:p>
        </p:txBody>
      </p:sp>
      <p:sp>
        <p:nvSpPr>
          <p:cNvPr id="6" name="Rounded Rectangle 5"/>
          <p:cNvSpPr/>
          <p:nvPr/>
        </p:nvSpPr>
        <p:spPr>
          <a:xfrm>
            <a:off x="4987523" y="3329289"/>
            <a:ext cx="2299310" cy="502920"/>
          </a:xfrm>
          <a:prstGeom prst="roundRect">
            <a:avLst>
              <a:gd name="adj" fmla="val 16667"/>
            </a:avLst>
          </a:prstGeom>
          <a:solidFill>
            <a:srgbClr val="2BDA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rPr sz="2000" dirty="0">
                <a:solidFill>
                  <a:schemeClr val="accent5">
                    <a:lumMod val="50000"/>
                  </a:schemeClr>
                </a:solidFill>
              </a:rPr>
              <a:t>(</a:t>
            </a:r>
            <a:r>
              <a:rPr lang="en-US" sz="2000" dirty="0">
                <a:solidFill>
                  <a:schemeClr val="accent5">
                    <a:lumMod val="50000"/>
                  </a:schemeClr>
                </a:solidFill>
              </a:rPr>
              <a:t>20</a:t>
            </a:r>
            <a:r>
              <a:rPr sz="2000" dirty="0">
                <a:solidFill>
                  <a:schemeClr val="accent5">
                    <a:lumMod val="50000"/>
                  </a:schemeClr>
                </a:solidFill>
              </a:rPr>
              <a:t>.8.2026)</a:t>
            </a:r>
          </a:p>
        </p:txBody>
      </p:sp>
      <p:pic>
        <p:nvPicPr>
          <p:cNvPr id="19" name="Picture 2"/>
          <p:cNvPicPr/>
          <p:nvPr/>
        </p:nvPicPr>
        <p:blipFill>
          <a:blip r:embed="rId3">
            <a:extLst>
              <a:ext uri="{28A0092B-C50C-407E-A947-70E740481C1C}">
                <a14:useLocalDpi xmlns:a14="http://schemas.microsoft.com/office/drawing/2010/main" val="0"/>
              </a:ext>
            </a:extLst>
          </a:blip>
          <a:stretch>
            <a:fillRect/>
          </a:stretch>
        </p:blipFill>
        <p:spPr>
          <a:xfrm>
            <a:off x="914400" y="321026"/>
            <a:ext cx="1036320" cy="1193840"/>
          </a:xfrm>
          <a:prstGeom prst="rect">
            <a:avLst/>
          </a:prstGeom>
          <a:ln w="0">
            <a:noFill/>
          </a:ln>
        </p:spPr>
      </p:pic>
      <p:sp>
        <p:nvSpPr>
          <p:cNvPr id="20" name="Oval 19"/>
          <p:cNvSpPr/>
          <p:nvPr/>
        </p:nvSpPr>
        <p:spPr>
          <a:xfrm>
            <a:off x="9905695" y="1000959"/>
            <a:ext cx="132157" cy="132157"/>
          </a:xfrm>
          <a:prstGeom prst="ellipse">
            <a:avLst/>
          </a:prstGeom>
          <a:solidFill>
            <a:srgbClr val="D99B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4" name="Rectangle 63"/>
          <p:cNvSpPr/>
          <p:nvPr/>
        </p:nvSpPr>
        <p:spPr>
          <a:xfrm flipV="1">
            <a:off x="4035072" y="2345603"/>
            <a:ext cx="1634208" cy="45719"/>
          </a:xfrm>
          <a:prstGeom prst="rect">
            <a:avLst/>
          </a:prstGeom>
          <a:solidFill>
            <a:srgbClr val="3A65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Oval 64"/>
          <p:cNvSpPr/>
          <p:nvPr/>
        </p:nvSpPr>
        <p:spPr>
          <a:xfrm>
            <a:off x="8065947" y="2305734"/>
            <a:ext cx="132157" cy="132157"/>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6" name="Oval 65"/>
          <p:cNvSpPr/>
          <p:nvPr/>
        </p:nvSpPr>
        <p:spPr>
          <a:xfrm>
            <a:off x="3976028" y="2298922"/>
            <a:ext cx="132157" cy="132157"/>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8" name="Rectangle 67"/>
          <p:cNvSpPr/>
          <p:nvPr/>
        </p:nvSpPr>
        <p:spPr>
          <a:xfrm>
            <a:off x="5687568" y="2263063"/>
            <a:ext cx="785373" cy="222464"/>
          </a:xfrm>
          <a:prstGeom prst="rect">
            <a:avLst/>
          </a:prstGeom>
          <a:no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7" name="Diamond 66"/>
          <p:cNvSpPr/>
          <p:nvPr/>
        </p:nvSpPr>
        <p:spPr>
          <a:xfrm>
            <a:off x="5963339" y="2243797"/>
            <a:ext cx="263261" cy="253218"/>
          </a:xfrm>
          <a:prstGeom prst="diamond">
            <a:avLst/>
          </a:prstGeom>
          <a:solidFill>
            <a:srgbClr val="D99B26"/>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76" name="Straight Connector 75"/>
          <p:cNvCxnSpPr/>
          <p:nvPr/>
        </p:nvCxnSpPr>
        <p:spPr>
          <a:xfrm>
            <a:off x="1343890" y="5786562"/>
            <a:ext cx="1482436" cy="0"/>
          </a:xfrm>
          <a:prstGeom prst="line">
            <a:avLst/>
          </a:prstGeom>
          <a:ln>
            <a:solidFill>
              <a:srgbClr val="D99B26"/>
            </a:solidFill>
          </a:ln>
        </p:spPr>
        <p:style>
          <a:lnRef idx="2">
            <a:schemeClr val="accent1"/>
          </a:lnRef>
          <a:fillRef idx="0">
            <a:schemeClr val="accent1"/>
          </a:fillRef>
          <a:effectRef idx="1">
            <a:schemeClr val="accent1"/>
          </a:effectRef>
          <a:fontRef idx="minor">
            <a:schemeClr val="tx1"/>
          </a:fontRef>
        </p:style>
      </p:cxnSp>
      <p:cxnSp>
        <p:nvCxnSpPr>
          <p:cNvPr id="77" name="Straight Connector 76"/>
          <p:cNvCxnSpPr/>
          <p:nvPr/>
        </p:nvCxnSpPr>
        <p:spPr>
          <a:xfrm>
            <a:off x="7813963" y="5891064"/>
            <a:ext cx="1482436" cy="0"/>
          </a:xfrm>
          <a:prstGeom prst="line">
            <a:avLst/>
          </a:prstGeom>
          <a:ln>
            <a:solidFill>
              <a:srgbClr val="D99B26"/>
            </a:solidFill>
          </a:ln>
        </p:spPr>
        <p:style>
          <a:lnRef idx="2">
            <a:schemeClr val="accent1"/>
          </a:lnRef>
          <a:fillRef idx="0">
            <a:schemeClr val="accent1"/>
          </a:fillRef>
          <a:effectRef idx="1">
            <a:schemeClr val="accent1"/>
          </a:effectRef>
          <a:fontRef idx="minor">
            <a:schemeClr val="tx1"/>
          </a:fontRef>
        </p:style>
      </p:cxnSp>
      <p:sp>
        <p:nvSpPr>
          <p:cNvPr id="78" name="Oval 77"/>
          <p:cNvSpPr/>
          <p:nvPr/>
        </p:nvSpPr>
        <p:spPr>
          <a:xfrm flipH="1">
            <a:off x="2768069" y="5764660"/>
            <a:ext cx="79806" cy="76159"/>
          </a:xfrm>
          <a:prstGeom prst="ellipse">
            <a:avLst/>
          </a:prstGeom>
          <a:solidFill>
            <a:srgbClr val="D99B26"/>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79" name="Oval 78"/>
          <p:cNvSpPr/>
          <p:nvPr/>
        </p:nvSpPr>
        <p:spPr>
          <a:xfrm flipH="1">
            <a:off x="9278060" y="5855140"/>
            <a:ext cx="79806" cy="76159"/>
          </a:xfrm>
          <a:prstGeom prst="ellipse">
            <a:avLst/>
          </a:prstGeom>
          <a:solidFill>
            <a:srgbClr val="D99B26"/>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2" name="Rounded Rectangle 11"/>
          <p:cNvSpPr/>
          <p:nvPr/>
        </p:nvSpPr>
        <p:spPr>
          <a:xfrm>
            <a:off x="612535" y="5217985"/>
            <a:ext cx="4312920" cy="1613794"/>
          </a:xfrm>
          <a:prstGeom prst="roundRect">
            <a:avLst>
              <a:gd name="adj" fmla="val 9356"/>
            </a:avLst>
          </a:prstGeom>
          <a:solidFill>
            <a:schemeClr val="bg1">
              <a:alpha val="57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0" name="Rectangle 79"/>
          <p:cNvSpPr/>
          <p:nvPr/>
        </p:nvSpPr>
        <p:spPr>
          <a:xfrm flipV="1">
            <a:off x="6491229" y="2335484"/>
            <a:ext cx="1634208" cy="45719"/>
          </a:xfrm>
          <a:prstGeom prst="rect">
            <a:avLst/>
          </a:prstGeom>
          <a:solidFill>
            <a:srgbClr val="3A65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223843" y="5440731"/>
            <a:ext cx="3840480" cy="1400383"/>
          </a:xfrm>
          <a:prstGeom prst="rect">
            <a:avLst/>
          </a:prstGeom>
          <a:noFill/>
        </p:spPr>
        <p:txBody>
          <a:bodyPr wrap="square">
            <a:spAutoFit/>
          </a:bodyPr>
          <a:lstStyle/>
          <a:p>
            <a:pPr>
              <a:defRPr sz="1600" b="1">
                <a:solidFill>
                  <a:srgbClr val="D99B26"/>
                </a:solidFill>
              </a:defRPr>
            </a:pPr>
            <a:r>
              <a:rPr sz="2000" dirty="0">
                <a:solidFill>
                  <a:srgbClr val="000000"/>
                </a:solidFill>
              </a:rPr>
              <a:t>Supervised by</a:t>
            </a:r>
          </a:p>
          <a:p>
            <a:pPr>
              <a:spcBef>
                <a:spcPts val="600"/>
              </a:spcBef>
              <a:defRPr sz="1500" b="1">
                <a:solidFill>
                  <a:srgbClr val="FFFFFF"/>
                </a:solidFill>
              </a:defRPr>
            </a:pPr>
            <a:r>
              <a:rPr sz="2000" dirty="0">
                <a:solidFill>
                  <a:schemeClr val="tx1">
                    <a:lumMod val="95000"/>
                    <a:lumOff val="5000"/>
                  </a:schemeClr>
                </a:solidFill>
              </a:rPr>
              <a:t>Dr. </a:t>
            </a:r>
            <a:r>
              <a:rPr sz="2000" dirty="0" err="1">
                <a:solidFill>
                  <a:schemeClr val="tx1">
                    <a:lumMod val="95000"/>
                    <a:lumOff val="5000"/>
                  </a:schemeClr>
                </a:solidFill>
              </a:rPr>
              <a:t>Hnin</a:t>
            </a:r>
            <a:r>
              <a:rPr sz="2000" dirty="0">
                <a:solidFill>
                  <a:schemeClr val="tx1">
                    <a:lumMod val="95000"/>
                    <a:lumOff val="5000"/>
                  </a:schemeClr>
                </a:solidFill>
              </a:rPr>
              <a:t> Cherry</a:t>
            </a:r>
          </a:p>
          <a:p>
            <a:pPr>
              <a:defRPr sz="1300">
                <a:solidFill>
                  <a:srgbClr val="FFFFFF"/>
                </a:solidFill>
              </a:defRPr>
            </a:pPr>
            <a:r>
              <a:rPr sz="2000" dirty="0">
                <a:solidFill>
                  <a:schemeClr val="tx1">
                    <a:lumMod val="95000"/>
                    <a:lumOff val="5000"/>
                  </a:schemeClr>
                </a:solidFill>
              </a:rPr>
              <a:t>Associate Professor</a:t>
            </a:r>
            <a:br>
              <a:rPr sz="2000" dirty="0">
                <a:solidFill>
                  <a:schemeClr val="tx1">
                    <a:lumMod val="95000"/>
                    <a:lumOff val="5000"/>
                  </a:schemeClr>
                </a:solidFill>
              </a:rPr>
            </a:br>
            <a:r>
              <a:rPr sz="2000" dirty="0">
                <a:solidFill>
                  <a:schemeClr val="tx1">
                    <a:lumMod val="95000"/>
                    <a:lumOff val="5000"/>
                  </a:schemeClr>
                </a:solidFill>
              </a:rPr>
              <a:t>Faculty of Computer Science</a:t>
            </a:r>
          </a:p>
        </p:txBody>
      </p:sp>
      <p:sp>
        <p:nvSpPr>
          <p:cNvPr id="31" name="Rounded Rectangle 30"/>
          <p:cNvSpPr/>
          <p:nvPr/>
        </p:nvSpPr>
        <p:spPr>
          <a:xfrm>
            <a:off x="7308333" y="5182595"/>
            <a:ext cx="4312920" cy="1613794"/>
          </a:xfrm>
          <a:prstGeom prst="roundRect">
            <a:avLst>
              <a:gd name="adj" fmla="val 9356"/>
            </a:avLst>
          </a:prstGeom>
          <a:solidFill>
            <a:schemeClr val="bg1">
              <a:alpha val="57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TextBox 10"/>
          <p:cNvSpPr txBox="1"/>
          <p:nvPr/>
        </p:nvSpPr>
        <p:spPr>
          <a:xfrm>
            <a:off x="7692184" y="5529004"/>
            <a:ext cx="4572000" cy="1091565"/>
          </a:xfrm>
          <a:prstGeom prst="rect">
            <a:avLst/>
          </a:prstGeom>
          <a:noFill/>
        </p:spPr>
        <p:txBody>
          <a:bodyPr wrap="square" lIns="91440" tIns="45720" rIns="91440" bIns="45720" anchor="t">
            <a:spAutoFit/>
          </a:bodyPr>
          <a:lstStyle/>
          <a:p>
            <a:pPr>
              <a:defRPr sz="1600" b="1">
                <a:solidFill>
                  <a:srgbClr val="D99B26"/>
                </a:solidFill>
              </a:defRPr>
            </a:pPr>
            <a:r>
              <a:rPr sz="2000" dirty="0">
                <a:solidFill>
                  <a:schemeClr val="tx1">
                    <a:lumMod val="95000"/>
                    <a:lumOff val="5000"/>
                  </a:schemeClr>
                </a:solidFill>
              </a:rPr>
              <a:t>Presented by</a:t>
            </a:r>
          </a:p>
          <a:p>
            <a:pPr>
              <a:spcBef>
                <a:spcPts val="600"/>
              </a:spcBef>
              <a:defRPr sz="1400" b="1">
                <a:solidFill>
                  <a:srgbClr val="FFFFFF"/>
                </a:solidFill>
              </a:defRPr>
            </a:pPr>
            <a:r>
              <a:rPr sz="2000" dirty="0">
                <a:solidFill>
                  <a:schemeClr val="tx1">
                    <a:lumMod val="95000"/>
                    <a:lumOff val="5000"/>
                  </a:schemeClr>
                </a:solidFill>
              </a:rPr>
              <a:t>Ma </a:t>
            </a:r>
            <a:r>
              <a:rPr lang="en-US" sz="2000" dirty="0">
                <a:solidFill>
                  <a:schemeClr val="tx1">
                    <a:lumMod val="95000"/>
                    <a:lumOff val="5000"/>
                  </a:schemeClr>
                </a:solidFill>
              </a:rPr>
              <a:t>Su </a:t>
            </a:r>
            <a:r>
              <a:rPr sz="2000" dirty="0">
                <a:solidFill>
                  <a:schemeClr val="tx1">
                    <a:lumMod val="95000"/>
                    <a:lumOff val="5000"/>
                  </a:schemeClr>
                </a:solidFill>
              </a:rPr>
              <a:t>Wai</a:t>
            </a:r>
            <a:r>
              <a:rPr lang="en-US" sz="2000" dirty="0">
                <a:solidFill>
                  <a:schemeClr val="tx1">
                    <a:lumMod val="95000"/>
                    <a:lumOff val="5000"/>
                  </a:schemeClr>
                </a:solidFill>
              </a:rPr>
              <a:t> Hnin</a:t>
            </a:r>
            <a:r>
              <a:rPr sz="2000" dirty="0">
                <a:solidFill>
                  <a:schemeClr val="tx1">
                    <a:lumMod val="95000"/>
                    <a:lumOff val="5000"/>
                  </a:schemeClr>
                </a:solidFill>
              </a:rPr>
              <a:t> </a:t>
            </a:r>
            <a:r>
              <a:rPr lang="en-US" sz="2000" dirty="0">
                <a:solidFill>
                  <a:schemeClr val="tx1">
                    <a:lumMod val="95000"/>
                    <a:lumOff val="5000"/>
                  </a:schemeClr>
                </a:solidFill>
              </a:rPr>
              <a:t>		</a:t>
            </a:r>
            <a:r>
              <a:rPr sz="2000" dirty="0">
                <a:solidFill>
                  <a:schemeClr val="tx1">
                    <a:lumMod val="95000"/>
                    <a:lumOff val="5000"/>
                  </a:schemeClr>
                </a:solidFill>
              </a:rPr>
              <a:t>(5CS</a:t>
            </a:r>
            <a:r>
              <a:rPr lang="en-US" sz="2000" dirty="0">
                <a:solidFill>
                  <a:schemeClr val="tx1">
                    <a:lumMod val="95000"/>
                    <a:lumOff val="5000"/>
                  </a:schemeClr>
                </a:solidFill>
              </a:rPr>
              <a:t> </a:t>
            </a:r>
            <a:r>
              <a:rPr sz="2000" dirty="0">
                <a:solidFill>
                  <a:schemeClr val="tx1">
                    <a:lumMod val="95000"/>
                    <a:lumOff val="5000"/>
                  </a:schemeClr>
                </a:solidFill>
              </a:rPr>
              <a:t>-</a:t>
            </a:r>
            <a:r>
              <a:rPr lang="en-US" sz="2000" dirty="0">
                <a:solidFill>
                  <a:schemeClr val="tx1">
                    <a:lumMod val="95000"/>
                    <a:lumOff val="5000"/>
                  </a:schemeClr>
                </a:solidFill>
              </a:rPr>
              <a:t> 3</a:t>
            </a:r>
            <a:r>
              <a:rPr sz="2000" dirty="0">
                <a:solidFill>
                  <a:schemeClr val="tx1">
                    <a:lumMod val="95000"/>
                    <a:lumOff val="5000"/>
                  </a:schemeClr>
                </a:solidFill>
              </a:rPr>
              <a:t>)</a:t>
            </a:r>
            <a:br>
              <a:rPr sz="2000" dirty="0">
                <a:solidFill>
                  <a:schemeClr val="tx1">
                    <a:lumMod val="95000"/>
                    <a:lumOff val="5000"/>
                  </a:schemeClr>
                </a:solidFill>
              </a:rPr>
            </a:br>
            <a:r>
              <a:rPr sz="2000" dirty="0">
                <a:solidFill>
                  <a:schemeClr val="tx1">
                    <a:lumMod val="95000"/>
                    <a:lumOff val="5000"/>
                  </a:schemeClr>
                </a:solidFill>
              </a:rPr>
              <a:t>M</a:t>
            </a:r>
            <a:r>
              <a:rPr lang="en-US" sz="2000" dirty="0">
                <a:solidFill>
                  <a:schemeClr val="tx1">
                    <a:lumMod val="95000"/>
                    <a:lumOff val="5000"/>
                  </a:schemeClr>
                </a:solidFill>
              </a:rPr>
              <a:t>a Ei Wai </a:t>
            </a:r>
            <a:r>
              <a:rPr lang="en-US" sz="2000" dirty="0" err="1">
                <a:solidFill>
                  <a:schemeClr val="tx1">
                    <a:lumMod val="95000"/>
                    <a:lumOff val="5000"/>
                  </a:schemeClr>
                </a:solidFill>
              </a:rPr>
              <a:t>Lwn</a:t>
            </a:r>
            <a:r>
              <a:rPr lang="en-US" sz="2000" dirty="0">
                <a:solidFill>
                  <a:schemeClr val="tx1">
                    <a:lumMod val="95000"/>
                    <a:lumOff val="5000"/>
                  </a:schemeClr>
                </a:solidFill>
              </a:rPr>
              <a:t> </a:t>
            </a:r>
            <a:r>
              <a:rPr lang="en-US" sz="2000" dirty="0" err="1">
                <a:solidFill>
                  <a:schemeClr val="tx1">
                    <a:lumMod val="95000"/>
                    <a:lumOff val="5000"/>
                  </a:schemeClr>
                </a:solidFill>
              </a:rPr>
              <a:t>Htet</a:t>
            </a:r>
            <a:r>
              <a:rPr sz="2000" dirty="0">
                <a:solidFill>
                  <a:schemeClr val="tx1">
                    <a:lumMod val="95000"/>
                    <a:lumOff val="5000"/>
                  </a:schemeClr>
                </a:solidFill>
              </a:rPr>
              <a:t> </a:t>
            </a:r>
            <a:r>
              <a:rPr lang="en-US" sz="2000" dirty="0">
                <a:solidFill>
                  <a:schemeClr val="tx1">
                    <a:lumMod val="95000"/>
                    <a:lumOff val="5000"/>
                  </a:schemeClr>
                </a:solidFill>
              </a:rPr>
              <a:t>	</a:t>
            </a:r>
            <a:r>
              <a:rPr sz="2000" dirty="0">
                <a:solidFill>
                  <a:schemeClr val="tx1">
                    <a:lumMod val="95000"/>
                    <a:lumOff val="5000"/>
                  </a:schemeClr>
                </a:solidFill>
              </a:rPr>
              <a:t>(5CS</a:t>
            </a:r>
            <a:r>
              <a:rPr lang="en-US" sz="2000" dirty="0">
                <a:solidFill>
                  <a:schemeClr val="tx1">
                    <a:lumMod val="95000"/>
                    <a:lumOff val="5000"/>
                  </a:schemeClr>
                </a:solidFill>
              </a:rPr>
              <a:t> </a:t>
            </a:r>
            <a:r>
              <a:rPr sz="2000" dirty="0">
                <a:solidFill>
                  <a:schemeClr val="tx1">
                    <a:lumMod val="95000"/>
                    <a:lumOff val="5000"/>
                  </a:schemeClr>
                </a:solidFill>
              </a:rPr>
              <a:t>-</a:t>
            </a:r>
            <a:r>
              <a:rPr lang="en-US" sz="2000" dirty="0">
                <a:solidFill>
                  <a:schemeClr val="tx1">
                    <a:lumMod val="95000"/>
                    <a:lumOff val="5000"/>
                  </a:schemeClr>
                </a:solidFill>
              </a:rPr>
              <a:t> </a:t>
            </a:r>
            <a:r>
              <a:rPr sz="2000" dirty="0">
                <a:solidFill>
                  <a:schemeClr val="tx1">
                    <a:lumMod val="95000"/>
                    <a:lumOff val="5000"/>
                  </a:schemeClr>
                </a:solidFill>
              </a:rPr>
              <a:t>2</a:t>
            </a:r>
            <a:r>
              <a:rPr lang="en-US" sz="2000" dirty="0">
                <a:solidFill>
                  <a:schemeClr val="tx1">
                    <a:lumMod val="95000"/>
                    <a:lumOff val="5000"/>
                  </a:schemeClr>
                </a:solidFill>
              </a:rPr>
              <a:t>2</a:t>
            </a:r>
            <a:r>
              <a:rPr sz="2000" dirty="0">
                <a:solidFill>
                  <a:schemeClr val="tx1">
                    <a:lumMod val="95000"/>
                    <a:lumOff val="5000"/>
                  </a:schemeClr>
                </a:solidFill>
              </a:rPr>
              <a:t>)</a:t>
            </a:r>
            <a:endParaRPr sz="2000" dirty="0">
              <a:solidFill>
                <a:schemeClr val="tx1">
                  <a:lumMod val="95000"/>
                  <a:lumOff val="5000"/>
                </a:schemeClr>
              </a:solidFill>
              <a:ea typeface="Calibri" panose="020F0502020204030204"/>
              <a:cs typeface="Calibri" panose="020F050202020403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2BDA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54864"/>
          </a:xfrm>
          <a:prstGeom prst="rect">
            <a:avLst/>
          </a:prstGeom>
          <a:solidFill>
            <a:schemeClr val="accent1">
              <a:lumMod val="5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565392"/>
            <a:ext cx="12191695" cy="292608"/>
          </a:xfrm>
          <a:prstGeom prst="rect">
            <a:avLst/>
          </a:prstGeom>
          <a:solidFill>
            <a:srgbClr val="2BDA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519672"/>
            <a:ext cx="12191695" cy="45720"/>
          </a:xfrm>
          <a:prstGeom prst="rect">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284131"/>
            <a:ext cx="4083169" cy="492443"/>
          </a:xfrm>
          <a:prstGeom prst="rect">
            <a:avLst/>
          </a:prstGeom>
          <a:noFill/>
        </p:spPr>
        <p:txBody>
          <a:bodyPr wrap="none" anchor="ctr">
            <a:spAutoFit/>
          </a:bodyPr>
          <a:lstStyle/>
          <a:p>
            <a:pPr>
              <a:defRPr sz="2600" b="1">
                <a:solidFill>
                  <a:srgbClr val="FFFFFF"/>
                </a:solidFill>
                <a:latin typeface="Arial" panose="020B0604020202020204"/>
              </a:defRPr>
            </a:pPr>
            <a:r>
              <a:rPr dirty="0"/>
              <a:t>📋  </a:t>
            </a:r>
            <a:r>
              <a:rPr dirty="0">
                <a:solidFill>
                  <a:srgbClr val="000000"/>
                </a:solidFill>
              </a:rPr>
              <a:t>Presentation Outline</a:t>
            </a:r>
          </a:p>
        </p:txBody>
      </p:sp>
      <p:sp>
        <p:nvSpPr>
          <p:cNvPr id="9" name="Oval 8"/>
          <p:cNvSpPr/>
          <p:nvPr/>
        </p:nvSpPr>
        <p:spPr>
          <a:xfrm>
            <a:off x="11408228" y="6164220"/>
            <a:ext cx="594781" cy="594781"/>
          </a:xfrm>
          <a:prstGeom prst="ellipse">
            <a:avLst/>
          </a:prstGeom>
          <a:solidFill>
            <a:srgbClr val="D3F0FD"/>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2400" b="1" dirty="0">
                <a:solidFill>
                  <a:srgbClr val="0B2046"/>
                </a:solidFill>
              </a:rPr>
              <a:t>2</a:t>
            </a:r>
          </a:p>
        </p:txBody>
      </p:sp>
      <p:sp>
        <p:nvSpPr>
          <p:cNvPr id="11" name="TextBox 10"/>
          <p:cNvSpPr txBox="1"/>
          <p:nvPr/>
        </p:nvSpPr>
        <p:spPr>
          <a:xfrm>
            <a:off x="597877" y="1241585"/>
            <a:ext cx="10810351" cy="4985980"/>
          </a:xfrm>
          <a:prstGeom prst="rect">
            <a:avLst/>
          </a:prstGeom>
          <a:noFill/>
        </p:spPr>
        <p:txBody>
          <a:bodyPr wrap="square" rtlCol="0">
            <a:spAutoFit/>
          </a:bodyPr>
          <a:lstStyle/>
          <a:p>
            <a:pPr marL="342900" indent="-342900">
              <a:lnSpc>
                <a:spcPct val="150000"/>
              </a:lnSpc>
              <a:buClr>
                <a:srgbClr val="000000"/>
              </a:buClr>
              <a:buFont typeface="Arial" panose="020B0604020202020204"/>
              <a:buChar char="•"/>
            </a:pPr>
            <a:r>
              <a:rPr lang="en-US" sz="2000" spc="-1" dirty="0">
                <a:solidFill>
                  <a:srgbClr val="000000"/>
                </a:solidFill>
                <a:latin typeface="Apotos"/>
                <a:cs typeface="Times New Roman" panose="02020603050405020304" pitchFamily="18" charset="0"/>
              </a:rPr>
              <a:t>Abstract</a:t>
            </a:r>
            <a:endParaRPr lang="en-US" sz="2000" spc="-1" dirty="0">
              <a:latin typeface="Apotos"/>
              <a:cs typeface="Times New Roman" panose="02020603050405020304" pitchFamily="18" charset="0"/>
            </a:endParaRPr>
          </a:p>
          <a:p>
            <a:pPr marL="342900" indent="-342900">
              <a:lnSpc>
                <a:spcPct val="150000"/>
              </a:lnSpc>
              <a:buClr>
                <a:srgbClr val="000000"/>
              </a:buClr>
              <a:buFont typeface="Arial" panose="020B0604020202020204"/>
              <a:buChar char="•"/>
            </a:pPr>
            <a:r>
              <a:rPr lang="en-US" sz="2000" spc="-1" dirty="0">
                <a:solidFill>
                  <a:srgbClr val="000000"/>
                </a:solidFill>
                <a:latin typeface="Apotos"/>
                <a:cs typeface="Times New Roman" panose="02020603050405020304" pitchFamily="18" charset="0"/>
              </a:rPr>
              <a:t>Introduction</a:t>
            </a:r>
          </a:p>
          <a:p>
            <a:pPr marL="342900" indent="-342900">
              <a:lnSpc>
                <a:spcPct val="150000"/>
              </a:lnSpc>
              <a:buClr>
                <a:srgbClr val="000000"/>
              </a:buClr>
              <a:buFont typeface="Arial" panose="020B0604020202020204"/>
              <a:buChar char="•"/>
            </a:pPr>
            <a:r>
              <a:rPr lang="en-US" sz="2000" spc="-1" dirty="0">
                <a:solidFill>
                  <a:srgbClr val="000000"/>
                </a:solidFill>
                <a:latin typeface="Apotos"/>
                <a:cs typeface="Times New Roman" panose="02020603050405020304" pitchFamily="18" charset="0"/>
              </a:rPr>
              <a:t>Objectives</a:t>
            </a:r>
            <a:endParaRPr lang="en-US" sz="2000" spc="-1" dirty="0">
              <a:latin typeface="Apotos"/>
              <a:cs typeface="Times New Roman" panose="02020603050405020304" pitchFamily="18" charset="0"/>
            </a:endParaRPr>
          </a:p>
          <a:p>
            <a:pPr marL="342900" indent="-342900">
              <a:lnSpc>
                <a:spcPct val="150000"/>
              </a:lnSpc>
              <a:buClr>
                <a:srgbClr val="000000"/>
              </a:buClr>
              <a:buFont typeface="Arial" panose="020B0604020202020204"/>
              <a:buChar char="•"/>
            </a:pPr>
            <a:r>
              <a:rPr lang="en-US" sz="2000" spc="-1" dirty="0">
                <a:solidFill>
                  <a:srgbClr val="000000"/>
                </a:solidFill>
                <a:latin typeface="Apotos"/>
                <a:cs typeface="Times New Roman" panose="02020603050405020304" pitchFamily="18" charset="0"/>
              </a:rPr>
              <a:t>Internship Experience</a:t>
            </a:r>
            <a:endParaRPr lang="en-US" sz="2000" spc="-1" dirty="0">
              <a:latin typeface="Apotos"/>
              <a:cs typeface="Times New Roman" panose="02020603050405020304" pitchFamily="18" charset="0"/>
            </a:endParaRPr>
          </a:p>
          <a:p>
            <a:pPr marL="342900" indent="-342900">
              <a:lnSpc>
                <a:spcPct val="150000"/>
              </a:lnSpc>
              <a:buClr>
                <a:srgbClr val="000000"/>
              </a:buClr>
              <a:buFont typeface="Arial" panose="020B0604020202020204"/>
              <a:buChar char="•"/>
            </a:pPr>
            <a:r>
              <a:rPr lang="en-US" sz="2000" spc="-1" dirty="0">
                <a:solidFill>
                  <a:srgbClr val="000000"/>
                </a:solidFill>
                <a:latin typeface="Apotos"/>
                <a:cs typeface="Times New Roman" panose="02020603050405020304" pitchFamily="18" charset="0"/>
              </a:rPr>
              <a:t>Programming Technologies &amp; Tools</a:t>
            </a:r>
          </a:p>
          <a:p>
            <a:pPr marL="342900" indent="-342900">
              <a:lnSpc>
                <a:spcPct val="150000"/>
              </a:lnSpc>
              <a:buClr>
                <a:srgbClr val="000000"/>
              </a:buClr>
              <a:buFont typeface="Arial" panose="020B0604020202020204"/>
              <a:buChar char="•"/>
            </a:pPr>
            <a:r>
              <a:rPr lang="en-US" sz="2000" spc="-1" dirty="0">
                <a:solidFill>
                  <a:srgbClr val="000000"/>
                </a:solidFill>
                <a:latin typeface="Apotos"/>
                <a:cs typeface="Times New Roman" panose="02020603050405020304" pitchFamily="18" charset="0"/>
              </a:rPr>
              <a:t>System Users</a:t>
            </a:r>
          </a:p>
          <a:p>
            <a:pPr marL="342900" indent="-342900">
              <a:lnSpc>
                <a:spcPct val="150000"/>
              </a:lnSpc>
              <a:buClr>
                <a:srgbClr val="000000"/>
              </a:buClr>
              <a:buFont typeface="Arial" panose="020B0604020202020204"/>
              <a:buChar char="•"/>
            </a:pPr>
            <a:r>
              <a:rPr lang="en-US" sz="2000" spc="-1" dirty="0">
                <a:solidFill>
                  <a:srgbClr val="000000"/>
                </a:solidFill>
                <a:latin typeface="Apotos"/>
                <a:cs typeface="Times New Roman" panose="02020603050405020304" pitchFamily="18" charset="0"/>
              </a:rPr>
              <a:t>System Design</a:t>
            </a:r>
          </a:p>
          <a:p>
            <a:pPr marL="342900" indent="-342900">
              <a:lnSpc>
                <a:spcPct val="150000"/>
              </a:lnSpc>
              <a:buClr>
                <a:srgbClr val="000000"/>
              </a:buClr>
              <a:buFont typeface="Arial" panose="020B0604020202020204"/>
              <a:buChar char="•"/>
            </a:pPr>
            <a:r>
              <a:rPr lang="en-US" sz="2000" spc="-1" dirty="0">
                <a:solidFill>
                  <a:srgbClr val="000000"/>
                </a:solidFill>
                <a:latin typeface="Apotos"/>
                <a:cs typeface="Times New Roman" panose="02020603050405020304" pitchFamily="18" charset="0"/>
              </a:rPr>
              <a:t>Database Design (Entity Relationship Diagram)</a:t>
            </a:r>
          </a:p>
          <a:p>
            <a:pPr marL="342900" indent="-342900">
              <a:lnSpc>
                <a:spcPct val="150000"/>
              </a:lnSpc>
              <a:buClr>
                <a:srgbClr val="000000"/>
              </a:buClr>
              <a:buFont typeface="Arial" panose="020B0604020202020204"/>
              <a:buChar char="•"/>
            </a:pPr>
            <a:r>
              <a:rPr lang="en-US" sz="2000" spc="-1" dirty="0">
                <a:solidFill>
                  <a:srgbClr val="000000"/>
                </a:solidFill>
                <a:latin typeface="Apotos"/>
                <a:cs typeface="Times New Roman" panose="02020603050405020304" pitchFamily="18" charset="0"/>
              </a:rPr>
              <a:t>Implementation</a:t>
            </a:r>
            <a:endParaRPr lang="en-US" sz="2000" spc="-1" dirty="0">
              <a:latin typeface="Apotos"/>
              <a:cs typeface="Times New Roman" panose="02020603050405020304" pitchFamily="18" charset="0"/>
            </a:endParaRPr>
          </a:p>
          <a:p>
            <a:pPr marL="342900" indent="-342900">
              <a:lnSpc>
                <a:spcPct val="150000"/>
              </a:lnSpc>
              <a:buClr>
                <a:srgbClr val="000000"/>
              </a:buClr>
              <a:buFont typeface="Arial" panose="020B0604020202020204"/>
              <a:buChar char="•"/>
            </a:pPr>
            <a:r>
              <a:rPr lang="en-US" sz="2000" spc="-1" dirty="0">
                <a:solidFill>
                  <a:srgbClr val="000000"/>
                </a:solidFill>
                <a:latin typeface="Apotos"/>
                <a:cs typeface="Times New Roman" panose="02020603050405020304" pitchFamily="18" charset="0"/>
              </a:rPr>
              <a:t>Conclusion</a:t>
            </a:r>
            <a:endParaRPr lang="en-US" sz="2000" spc="-1" dirty="0">
              <a:latin typeface="Apotos"/>
              <a:cs typeface="Times New Roman" panose="02020603050405020304" pitchFamily="18" charset="0"/>
            </a:endParaRPr>
          </a:p>
          <a:p>
            <a:endParaRPr lang="en-US" dirty="0">
              <a:latin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2BDA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54864"/>
          </a:xfrm>
          <a:prstGeom prst="rect">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565392"/>
            <a:ext cx="12191695" cy="292608"/>
          </a:xfrm>
          <a:prstGeom prst="rect">
            <a:avLst/>
          </a:prstGeom>
          <a:solidFill>
            <a:srgbClr val="2BDA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519672"/>
            <a:ext cx="12191695" cy="45720"/>
          </a:xfrm>
          <a:prstGeom prst="rect">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284131"/>
            <a:ext cx="2172390" cy="492443"/>
          </a:xfrm>
          <a:prstGeom prst="rect">
            <a:avLst/>
          </a:prstGeom>
          <a:noFill/>
        </p:spPr>
        <p:txBody>
          <a:bodyPr wrap="none" anchor="ctr">
            <a:spAutoFit/>
          </a:bodyPr>
          <a:lstStyle/>
          <a:p>
            <a:pPr>
              <a:defRPr sz="2600" b="1">
                <a:solidFill>
                  <a:srgbClr val="FFFFFF"/>
                </a:solidFill>
                <a:latin typeface="Arial" panose="020B0604020202020204"/>
              </a:defRPr>
            </a:pPr>
            <a:r>
              <a:rPr lang="en-US" dirty="0"/>
              <a:t>📄  </a:t>
            </a:r>
            <a:r>
              <a:rPr lang="en-US" dirty="0">
                <a:solidFill>
                  <a:srgbClr val="000000"/>
                </a:solidFill>
              </a:rPr>
              <a:t>Abstract</a:t>
            </a:r>
          </a:p>
        </p:txBody>
      </p:sp>
      <p:sp>
        <p:nvSpPr>
          <p:cNvPr id="9" name="Oval 8"/>
          <p:cNvSpPr/>
          <p:nvPr/>
        </p:nvSpPr>
        <p:spPr>
          <a:xfrm>
            <a:off x="11408228" y="6164220"/>
            <a:ext cx="594781" cy="594781"/>
          </a:xfrm>
          <a:prstGeom prst="ellipse">
            <a:avLst/>
          </a:prstGeom>
          <a:solidFill>
            <a:srgbClr val="D3F0FD"/>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2400" b="1" dirty="0">
                <a:solidFill>
                  <a:srgbClr val="0B2046"/>
                </a:solidFill>
              </a:rPr>
              <a:t>3</a:t>
            </a:r>
          </a:p>
        </p:txBody>
      </p:sp>
      <p:sp>
        <p:nvSpPr>
          <p:cNvPr id="7" name="TextBox 6"/>
          <p:cNvSpPr txBox="1"/>
          <p:nvPr/>
        </p:nvSpPr>
        <p:spPr>
          <a:xfrm>
            <a:off x="181782" y="1328524"/>
            <a:ext cx="11821227" cy="5170646"/>
          </a:xfrm>
          <a:prstGeom prst="rect">
            <a:avLst/>
          </a:prstGeom>
          <a:noFill/>
        </p:spPr>
        <p:txBody>
          <a:bodyPr wrap="square" lIns="91440" tIns="45720" rIns="91440" bIns="45720" rtlCol="0" anchor="t">
            <a:spAutoFit/>
          </a:bodyPr>
          <a:lstStyle/>
          <a:p>
            <a:pPr marL="342900" indent="-342900" algn="just">
              <a:lnSpc>
                <a:spcPct val="150000"/>
              </a:lnSpc>
              <a:buFont typeface="Arial" panose="020B0604020202020204" pitchFamily="34" charset="0"/>
              <a:buChar char="•"/>
            </a:pPr>
            <a:r>
              <a:rPr lang="en-US" sz="2000" dirty="0">
                <a:latin typeface="Apotos"/>
                <a:cs typeface="Times New Roman" panose="02020603050405020304" pitchFamily="18" charset="0"/>
              </a:rPr>
              <a:t>The Leave Management System (LMS) is a web-based platform developed to simplify and improve the process of requesting, recommending, approving, and tracking staff leave at the University of Computer Studies, </a:t>
            </a:r>
            <a:r>
              <a:rPr lang="en-US" sz="2000" dirty="0" err="1">
                <a:latin typeface="Apotos"/>
                <a:cs typeface="Times New Roman" panose="02020603050405020304" pitchFamily="18" charset="0"/>
              </a:rPr>
              <a:t>Hinthada</a:t>
            </a:r>
            <a:r>
              <a:rPr lang="en-US" sz="2000" dirty="0">
                <a:latin typeface="Apotos"/>
                <a:cs typeface="Times New Roman" panose="02020603050405020304" pitchFamily="18" charset="0"/>
              </a:rPr>
              <a:t> (UCSH).</a:t>
            </a:r>
          </a:p>
          <a:p>
            <a:pPr marL="342900" indent="-342900" algn="just">
              <a:lnSpc>
                <a:spcPct val="150000"/>
              </a:lnSpc>
              <a:buFont typeface="Arial" panose="020B0604020202020204" pitchFamily="34" charset="0"/>
              <a:buChar char="•"/>
            </a:pPr>
            <a:r>
              <a:rPr lang="en-US" sz="2000" dirty="0">
                <a:latin typeface="Apotos"/>
                <a:cs typeface="Times New Roman" panose="02020603050405020304" pitchFamily="18" charset="0"/>
              </a:rPr>
              <a:t>The system provides a centralized platform that enables staff members to submit leave requests digitally, Department Heads to review and provide recommendations, and the System Administrator to make final approval decisions efficiently, while allowing management to track staff leave records.</a:t>
            </a:r>
          </a:p>
          <a:p>
            <a:pPr marL="342900" indent="-342900" algn="just">
              <a:lnSpc>
                <a:spcPct val="150000"/>
              </a:lnSpc>
              <a:buFont typeface="Arial" panose="020B0604020202020204" pitchFamily="34" charset="0"/>
              <a:buChar char="•"/>
            </a:pPr>
            <a:r>
              <a:rPr lang="en-US" sz="2000" dirty="0">
                <a:latin typeface="Apotos"/>
                <a:cs typeface="Times New Roman" panose="02020603050405020304" pitchFamily="18" charset="0"/>
              </a:rPr>
              <a:t>The system reduces manual paperwork, minimizes errors, and ensures accurate, transparent, and well-organized management of leave records through automated notification workflows.</a:t>
            </a:r>
          </a:p>
          <a:p>
            <a:pPr marL="342900" indent="-342900" algn="just">
              <a:lnSpc>
                <a:spcPct val="150000"/>
              </a:lnSpc>
              <a:buFont typeface="Arial" panose="020B0604020202020204" pitchFamily="34" charset="0"/>
              <a:buChar char="•"/>
            </a:pPr>
            <a:r>
              <a:rPr lang="en-US" sz="2000" dirty="0">
                <a:latin typeface="Apotos"/>
                <a:cs typeface="Times New Roman" panose="02020603050405020304" pitchFamily="18" charset="0"/>
              </a:rPr>
              <a:t>The system supports effective workforce management and operational planning by generating reliable leave reports, enabling continuous improvement in administrative efficiency and decision-making.</a:t>
            </a:r>
            <a:endParaRPr lang="en-US" sz="2000" dirty="0">
              <a:latin typeface="Apotos"/>
              <a:ea typeface="+mn-lt"/>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2BDA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54864"/>
          </a:xfrm>
          <a:prstGeom prst="rect">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565392"/>
            <a:ext cx="12191695" cy="292608"/>
          </a:xfrm>
          <a:prstGeom prst="rect">
            <a:avLst/>
          </a:prstGeom>
          <a:solidFill>
            <a:srgbClr val="2BDA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519672"/>
            <a:ext cx="12191695" cy="45720"/>
          </a:xfrm>
          <a:prstGeom prst="rect">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284131"/>
            <a:ext cx="2763898" cy="492443"/>
          </a:xfrm>
          <a:prstGeom prst="rect">
            <a:avLst/>
          </a:prstGeom>
          <a:noFill/>
        </p:spPr>
        <p:txBody>
          <a:bodyPr wrap="none" anchor="ctr">
            <a:spAutoFit/>
          </a:bodyPr>
          <a:lstStyle/>
          <a:p>
            <a:pPr>
              <a:defRPr sz="2600" b="1">
                <a:solidFill>
                  <a:srgbClr val="FFFFFF"/>
                </a:solidFill>
                <a:latin typeface="Arial" panose="020B0604020202020204"/>
              </a:defRPr>
            </a:pPr>
            <a:r>
              <a:rPr lang="en-US" dirty="0"/>
              <a:t>📖  </a:t>
            </a:r>
            <a:r>
              <a:rPr lang="en-US" dirty="0">
                <a:solidFill>
                  <a:srgbClr val="000000"/>
                </a:solidFill>
              </a:rPr>
              <a:t>Introduction</a:t>
            </a:r>
          </a:p>
        </p:txBody>
      </p:sp>
      <p:sp>
        <p:nvSpPr>
          <p:cNvPr id="9" name="Oval 8"/>
          <p:cNvSpPr/>
          <p:nvPr/>
        </p:nvSpPr>
        <p:spPr>
          <a:xfrm>
            <a:off x="11408228" y="6164220"/>
            <a:ext cx="594781" cy="594781"/>
          </a:xfrm>
          <a:prstGeom prst="ellipse">
            <a:avLst/>
          </a:prstGeom>
          <a:solidFill>
            <a:srgbClr val="D3F0FD"/>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2400" b="1" dirty="0">
                <a:solidFill>
                  <a:srgbClr val="0B2046"/>
                </a:solidFill>
              </a:rPr>
              <a:t>4</a:t>
            </a:r>
          </a:p>
        </p:txBody>
      </p:sp>
      <p:sp>
        <p:nvSpPr>
          <p:cNvPr id="7" name="TextBox 6"/>
          <p:cNvSpPr txBox="1"/>
          <p:nvPr/>
        </p:nvSpPr>
        <p:spPr>
          <a:xfrm>
            <a:off x="235974" y="1358017"/>
            <a:ext cx="11621729" cy="4708981"/>
          </a:xfrm>
          <a:prstGeom prst="rect">
            <a:avLst/>
          </a:prstGeom>
          <a:noFill/>
        </p:spPr>
        <p:txBody>
          <a:bodyPr wrap="square" lIns="91440" tIns="45720" rIns="91440" bIns="45720" rtlCol="0" anchor="t">
            <a:spAutoFit/>
          </a:bodyPr>
          <a:lstStyle/>
          <a:p>
            <a:pPr marL="342900" indent="-342900" algn="just">
              <a:lnSpc>
                <a:spcPct val="150000"/>
              </a:lnSpc>
              <a:buFont typeface="Arial" panose="020B0604020202020204" pitchFamily="34" charset="0"/>
              <a:buChar char="•"/>
            </a:pPr>
            <a:r>
              <a:rPr lang="en-US" sz="2000" dirty="0">
                <a:latin typeface="Apotos"/>
                <a:cs typeface="Times New Roman" panose="02020603050405020304" pitchFamily="18" charset="0"/>
              </a:rPr>
              <a:t>Universities often use manual or paper-based methods to process leave requests, making the workflow time-consuming and hard to track.</a:t>
            </a:r>
          </a:p>
          <a:p>
            <a:pPr marL="342900" indent="-342900" algn="just">
              <a:lnSpc>
                <a:spcPct val="150000"/>
              </a:lnSpc>
              <a:buFont typeface="Arial" panose="020B0604020202020204" pitchFamily="34" charset="0"/>
              <a:buChar char="•"/>
            </a:pPr>
            <a:r>
              <a:rPr lang="en-US" sz="2000" dirty="0">
                <a:latin typeface="Apotos"/>
                <a:cs typeface="Times New Roman" panose="02020603050405020304" pitchFamily="18" charset="0"/>
              </a:rPr>
              <a:t>The Leave Management System (LMS) provides a centralized web-based platform for managing the entire leave process.</a:t>
            </a:r>
          </a:p>
          <a:p>
            <a:pPr marL="342900" indent="-342900" algn="just">
              <a:lnSpc>
                <a:spcPct val="150000"/>
              </a:lnSpc>
              <a:buFont typeface="Arial" panose="020B0604020202020204" pitchFamily="34" charset="0"/>
              <a:buChar char="•"/>
            </a:pPr>
            <a:r>
              <a:rPr lang="en-US" sz="2000" dirty="0">
                <a:latin typeface="Apotos"/>
                <a:cs typeface="Times New Roman" panose="02020603050405020304" pitchFamily="18" charset="0"/>
              </a:rPr>
              <a:t>The system allows administrators to set leave types and provide final approvals, staff to apply for leave online, and department heads to review and provide recommendations on requests.</a:t>
            </a:r>
          </a:p>
          <a:p>
            <a:pPr marL="342900" indent="-342900" algn="just">
              <a:lnSpc>
                <a:spcPct val="150000"/>
              </a:lnSpc>
              <a:buFont typeface="Arial" panose="020B0604020202020204" pitchFamily="34" charset="0"/>
              <a:buChar char="•"/>
            </a:pPr>
            <a:r>
              <a:rPr lang="en-US" sz="2000" dirty="0">
                <a:latin typeface="Apotos"/>
                <a:ea typeface="+mn-lt"/>
                <a:cs typeface="Times New Roman" panose="02020603050405020304"/>
              </a:rPr>
              <a:t>The system provides real-time access to leave balances, helping staff members plan their leave and reduce administrative work.</a:t>
            </a:r>
            <a:endParaRPr lang="en-US" sz="2000" dirty="0">
              <a:latin typeface="Apotos"/>
              <a:cs typeface="Times New Roman" panose="02020603050405020304" pitchFamily="18" charset="0"/>
            </a:endParaRPr>
          </a:p>
          <a:p>
            <a:pPr marL="342900" indent="-342900" algn="just">
              <a:lnSpc>
                <a:spcPct val="150000"/>
              </a:lnSpc>
              <a:buFont typeface="Arial" panose="020B0604020202020204" pitchFamily="34" charset="0"/>
              <a:buChar char="•"/>
            </a:pPr>
            <a:r>
              <a:rPr lang="en-US" sz="2000" dirty="0">
                <a:latin typeface="Apotos"/>
                <a:ea typeface="+mn-lt"/>
                <a:cs typeface="Times New Roman" panose="02020603050405020304"/>
              </a:rPr>
              <a:t>By automating leave applications, balance tracking, and reporting, the system improves efficiency, ensures data accuracy, and supports better administration.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5" y="0"/>
            <a:ext cx="12191695" cy="1051560"/>
          </a:xfrm>
          <a:prstGeom prst="rect">
            <a:avLst/>
          </a:prstGeom>
          <a:solidFill>
            <a:srgbClr val="2BDA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54864"/>
          </a:xfrm>
          <a:prstGeom prst="rect">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565392"/>
            <a:ext cx="12191695" cy="292608"/>
          </a:xfrm>
          <a:prstGeom prst="rect">
            <a:avLst/>
          </a:prstGeom>
          <a:solidFill>
            <a:srgbClr val="2BDA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519672"/>
            <a:ext cx="12191695" cy="45720"/>
          </a:xfrm>
          <a:prstGeom prst="rect">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284131"/>
            <a:ext cx="2509020" cy="492443"/>
          </a:xfrm>
          <a:prstGeom prst="rect">
            <a:avLst/>
          </a:prstGeom>
          <a:noFill/>
        </p:spPr>
        <p:txBody>
          <a:bodyPr wrap="none" anchor="ctr">
            <a:spAutoFit/>
          </a:bodyPr>
          <a:lstStyle/>
          <a:p>
            <a:pPr>
              <a:defRPr sz="2600" b="1">
                <a:solidFill>
                  <a:srgbClr val="FFFFFF"/>
                </a:solidFill>
                <a:latin typeface="Arial" panose="020B0604020202020204"/>
              </a:defRPr>
            </a:pPr>
            <a:r>
              <a:rPr lang="en-US" dirty="0"/>
              <a:t>🎯  </a:t>
            </a:r>
            <a:r>
              <a:rPr lang="en-US" dirty="0">
                <a:solidFill>
                  <a:srgbClr val="000000"/>
                </a:solidFill>
              </a:rPr>
              <a:t>Objectives</a:t>
            </a:r>
          </a:p>
        </p:txBody>
      </p:sp>
      <p:sp>
        <p:nvSpPr>
          <p:cNvPr id="9" name="Oval 8"/>
          <p:cNvSpPr/>
          <p:nvPr/>
        </p:nvSpPr>
        <p:spPr>
          <a:xfrm>
            <a:off x="11408228" y="6164220"/>
            <a:ext cx="594781" cy="594781"/>
          </a:xfrm>
          <a:prstGeom prst="ellipse">
            <a:avLst/>
          </a:prstGeom>
          <a:solidFill>
            <a:srgbClr val="D3F0FD"/>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2400" b="1" dirty="0">
                <a:solidFill>
                  <a:srgbClr val="0B2046"/>
                </a:solidFill>
              </a:rPr>
              <a:t>5</a:t>
            </a:r>
          </a:p>
        </p:txBody>
      </p:sp>
      <p:sp>
        <p:nvSpPr>
          <p:cNvPr id="7" name="TextBox 6"/>
          <p:cNvSpPr txBox="1"/>
          <p:nvPr/>
        </p:nvSpPr>
        <p:spPr>
          <a:xfrm>
            <a:off x="339969" y="1018816"/>
            <a:ext cx="11453446" cy="5575309"/>
          </a:xfrm>
          <a:prstGeom prst="rect">
            <a:avLst/>
          </a:prstGeom>
          <a:noFill/>
        </p:spPr>
        <p:txBody>
          <a:bodyPr wrap="square" lIns="91440" tIns="45720" rIns="91440" bIns="45720" rtlCol="0" anchor="t">
            <a:spAutoFit/>
          </a:bodyPr>
          <a:lstStyle/>
          <a:p>
            <a:pPr marL="342900" indent="-342900" algn="just">
              <a:lnSpc>
                <a:spcPct val="150000"/>
              </a:lnSpc>
              <a:buFont typeface="Arial" panose="020B0604020202020204" pitchFamily="34" charset="0"/>
              <a:buChar char="•"/>
            </a:pPr>
            <a:r>
              <a:rPr lang="en-US" sz="2000" b="0" i="0" dirty="0">
                <a:solidFill>
                  <a:srgbClr val="1F1F1F"/>
                </a:solidFill>
                <a:effectLst/>
                <a:latin typeface="Apotos"/>
                <a:cs typeface="Times New Roman" panose="02020603050405020304" pitchFamily="18" charset="0"/>
              </a:rPr>
              <a:t>To provide an efficient web-based platform for submitting, recommending, approving, and tracking staff leave requests.</a:t>
            </a:r>
          </a:p>
          <a:p>
            <a:pPr marL="342900" indent="-342900" algn="just">
              <a:lnSpc>
                <a:spcPct val="150000"/>
              </a:lnSpc>
              <a:buFont typeface="Arial" panose="020B0604020202020204" pitchFamily="34" charset="0"/>
              <a:buChar char="•"/>
            </a:pPr>
            <a:r>
              <a:rPr lang="en-US" sz="2000" dirty="0">
                <a:latin typeface="Apotos"/>
                <a:cs typeface="Times New Roman" panose="02020603050405020304" pitchFamily="18" charset="0"/>
              </a:rPr>
              <a:t>To implement a structured recommendation and approval workflow to streamline leave processing and formal evaluation.</a:t>
            </a:r>
          </a:p>
          <a:p>
            <a:pPr marL="342900" indent="-342900" algn="just">
              <a:lnSpc>
                <a:spcPct val="150000"/>
              </a:lnSpc>
              <a:buFont typeface="Arial,Sans-Serif" panose="020B0604020202020204" pitchFamily="34" charset="0"/>
              <a:buChar char="•"/>
            </a:pPr>
            <a:r>
              <a:rPr lang="en-US" sz="2000" b="0" i="0" dirty="0">
                <a:solidFill>
                  <a:srgbClr val="1F1F1F"/>
                </a:solidFill>
                <a:effectLst/>
                <a:latin typeface="Apotos"/>
                <a:cs typeface="Times New Roman" panose="02020603050405020304" pitchFamily="18" charset="0"/>
              </a:rPr>
              <a:t>To provide secure access for administrators, department heads, and staff members to manage profile and leave-related information.</a:t>
            </a:r>
          </a:p>
          <a:p>
            <a:pPr marL="342900" indent="-342900" algn="just">
              <a:lnSpc>
                <a:spcPct val="150000"/>
              </a:lnSpc>
              <a:buFont typeface="Arial,Sans-Serif" panose="020B0604020202020204" pitchFamily="34" charset="0"/>
              <a:buChar char="•"/>
            </a:pPr>
            <a:r>
              <a:rPr lang="en-US" sz="2000" b="0" i="0" dirty="0">
                <a:solidFill>
                  <a:srgbClr val="1F1F1F"/>
                </a:solidFill>
                <a:effectLst/>
                <a:latin typeface="Apotos"/>
                <a:cs typeface="Times New Roman" panose="02020603050405020304" pitchFamily="18" charset="0"/>
              </a:rPr>
              <a:t>To reduce manual paperwork and automate the calculation of remaining leave balances in real time.</a:t>
            </a:r>
          </a:p>
          <a:p>
            <a:pPr marL="342900" indent="-342900" algn="just">
              <a:lnSpc>
                <a:spcPct val="150000"/>
              </a:lnSpc>
              <a:buFont typeface="Arial,Sans-Serif" panose="020B0604020202020204" pitchFamily="34" charset="0"/>
              <a:buChar char="•"/>
            </a:pPr>
            <a:r>
              <a:rPr lang="en-US" sz="2000" dirty="0">
                <a:latin typeface="Apotos"/>
                <a:cs typeface="Times New Roman" panose="02020603050405020304" pitchFamily="18" charset="0"/>
              </a:rPr>
              <a:t>To provide real-time status tracking for leave applications to ensure transparency and accountability throughout the process.</a:t>
            </a:r>
          </a:p>
          <a:p>
            <a:pPr marL="342900" indent="-342900" algn="just">
              <a:lnSpc>
                <a:spcPct val="150000"/>
              </a:lnSpc>
              <a:buFont typeface="Arial" panose="020B0604020202020204" pitchFamily="34" charset="0"/>
              <a:buChar char="•"/>
            </a:pPr>
            <a:r>
              <a:rPr lang="en-US" sz="2000" b="0" i="0" dirty="0">
                <a:solidFill>
                  <a:srgbClr val="1F1F1F"/>
                </a:solidFill>
                <a:effectLst/>
                <a:latin typeface="Apotos"/>
                <a:cs typeface="Times New Roman" panose="02020603050405020304" pitchFamily="18" charset="0"/>
              </a:rPr>
              <a:t>To generate comprehensive leave reports to support administrative decision-making and accurate record keeping.</a:t>
            </a:r>
            <a:endParaRPr lang="en-US" sz="2000" dirty="0">
              <a:latin typeface="Apotos"/>
              <a:ea typeface="Calibri" panose="020F0502020204030204"/>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2BDA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54864"/>
          </a:xfrm>
          <a:prstGeom prst="rect">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565392"/>
            <a:ext cx="12191695" cy="292608"/>
          </a:xfrm>
          <a:prstGeom prst="rect">
            <a:avLst/>
          </a:prstGeom>
          <a:solidFill>
            <a:srgbClr val="2BDA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519672"/>
            <a:ext cx="12191695" cy="45720"/>
          </a:xfrm>
          <a:prstGeom prst="rect">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284131"/>
            <a:ext cx="4307589" cy="492443"/>
          </a:xfrm>
          <a:prstGeom prst="rect">
            <a:avLst/>
          </a:prstGeom>
          <a:noFill/>
        </p:spPr>
        <p:txBody>
          <a:bodyPr wrap="none" anchor="ctr">
            <a:spAutoFit/>
          </a:bodyPr>
          <a:lstStyle/>
          <a:p>
            <a:pPr>
              <a:defRPr sz="2600" b="1">
                <a:solidFill>
                  <a:srgbClr val="FFFFFF"/>
                </a:solidFill>
                <a:latin typeface="Arial" panose="020B0604020202020204"/>
              </a:defRPr>
            </a:pPr>
            <a:r>
              <a:rPr lang="en-US" dirty="0"/>
              <a:t>💼  </a:t>
            </a:r>
            <a:r>
              <a:rPr lang="en-US" sz="2600" b="1" dirty="0">
                <a:solidFill>
                  <a:srgbClr val="000000"/>
                </a:solidFill>
              </a:rPr>
              <a:t>Internship Experience</a:t>
            </a:r>
            <a:endParaRPr lang="en-US" dirty="0">
              <a:solidFill>
                <a:srgbClr val="000000"/>
              </a:solidFill>
            </a:endParaRPr>
          </a:p>
        </p:txBody>
      </p:sp>
      <p:sp>
        <p:nvSpPr>
          <p:cNvPr id="9" name="Oval 8"/>
          <p:cNvSpPr/>
          <p:nvPr/>
        </p:nvSpPr>
        <p:spPr>
          <a:xfrm>
            <a:off x="11408228" y="6164220"/>
            <a:ext cx="594781" cy="594781"/>
          </a:xfrm>
          <a:prstGeom prst="ellipse">
            <a:avLst/>
          </a:prstGeom>
          <a:solidFill>
            <a:srgbClr val="D3F0FD"/>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2400" b="1" dirty="0">
                <a:solidFill>
                  <a:srgbClr val="0B2046"/>
                </a:solidFill>
              </a:rPr>
              <a:t>6</a:t>
            </a:r>
          </a:p>
        </p:txBody>
      </p:sp>
      <p:sp>
        <p:nvSpPr>
          <p:cNvPr id="7" name="TextBox 6"/>
          <p:cNvSpPr txBox="1"/>
          <p:nvPr/>
        </p:nvSpPr>
        <p:spPr>
          <a:xfrm>
            <a:off x="339969" y="1328524"/>
            <a:ext cx="11453446" cy="5009833"/>
          </a:xfrm>
          <a:prstGeom prst="rect">
            <a:avLst/>
          </a:prstGeom>
          <a:noFill/>
        </p:spPr>
        <p:txBody>
          <a:bodyPr wrap="square" lIns="91440" tIns="45720" rIns="91440" bIns="45720" rtlCol="0" anchor="t">
            <a:spAutoFit/>
          </a:bodyPr>
          <a:lstStyle/>
          <a:p>
            <a:pPr marL="342900" indent="-342900" algn="just">
              <a:lnSpc>
                <a:spcPct val="150000"/>
              </a:lnSpc>
              <a:buFont typeface="Arial" panose="020B0604020202020204" pitchFamily="34" charset="0"/>
              <a:buChar char="•"/>
            </a:pPr>
            <a:r>
              <a:rPr lang="en-US" sz="2400" dirty="0">
                <a:latin typeface="Apotos"/>
                <a:ea typeface="+mn-lt"/>
                <a:cs typeface="Times New Roman" panose="02020603050405020304" pitchFamily="18" charset="0"/>
              </a:rPr>
              <a:t>Applied academic computer science principles directly to a real-world corporate software development environment.</a:t>
            </a:r>
          </a:p>
          <a:p>
            <a:pPr marL="342900" indent="-342900" algn="just">
              <a:lnSpc>
                <a:spcPct val="150000"/>
              </a:lnSpc>
              <a:buFont typeface="Arial" panose="020B0604020202020204" pitchFamily="34" charset="0"/>
              <a:buChar char="•"/>
            </a:pPr>
            <a:r>
              <a:rPr lang="en-US" sz="2400" dirty="0">
                <a:latin typeface="Apotos"/>
                <a:ea typeface="+mn-lt"/>
                <a:cs typeface="Times New Roman" panose="02020603050405020304" pitchFamily="18" charset="0"/>
              </a:rPr>
              <a:t>Developed self-learning skills by researching official technical documentations to independently address technical challenges.</a:t>
            </a:r>
          </a:p>
          <a:p>
            <a:pPr marL="342900" indent="-342900" algn="just">
              <a:lnSpc>
                <a:spcPct val="150000"/>
              </a:lnSpc>
              <a:buFont typeface="Arial" panose="020B0604020202020204" pitchFamily="34" charset="0"/>
              <a:buChar char="•"/>
            </a:pPr>
            <a:r>
              <a:rPr lang="en-US" sz="2400" dirty="0">
                <a:latin typeface="Apotos"/>
                <a:ea typeface="+mn-lt"/>
                <a:cs typeface="Times New Roman" panose="02020603050405020304" pitchFamily="18" charset="0"/>
              </a:rPr>
              <a:t>Gained hands-on experience in analyzing corporate workflows and designing scalable system architecture.</a:t>
            </a:r>
          </a:p>
          <a:p>
            <a:pPr marL="342900" indent="-342900" algn="just">
              <a:lnSpc>
                <a:spcPct val="150000"/>
              </a:lnSpc>
              <a:buFont typeface="Arial" panose="020B0604020202020204" pitchFamily="34" charset="0"/>
              <a:buChar char="•"/>
            </a:pPr>
            <a:r>
              <a:rPr lang="en-US" sz="2400" dirty="0">
                <a:latin typeface="Apotos"/>
                <a:ea typeface="+mn-lt"/>
                <a:cs typeface="Times New Roman" panose="02020603050405020304" pitchFamily="18" charset="0"/>
              </a:rPr>
              <a:t>Enhanced practical experience in Time Management, Professional Communication, and System Design, alongside collaborative Teamwork using GitHub in a corporate environment.</a:t>
            </a:r>
            <a:endParaRPr lang="en-US" sz="2400" dirty="0">
              <a:latin typeface="Apotos"/>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2BDA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54864"/>
          </a:xfrm>
          <a:prstGeom prst="rect">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565392"/>
            <a:ext cx="12191695" cy="292608"/>
          </a:xfrm>
          <a:prstGeom prst="rect">
            <a:avLst/>
          </a:prstGeom>
          <a:solidFill>
            <a:srgbClr val="2BDA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519672"/>
            <a:ext cx="12191695" cy="45720"/>
          </a:xfrm>
          <a:prstGeom prst="rect">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284131"/>
            <a:ext cx="6499087" cy="492443"/>
          </a:xfrm>
          <a:prstGeom prst="rect">
            <a:avLst/>
          </a:prstGeom>
          <a:noFill/>
        </p:spPr>
        <p:txBody>
          <a:bodyPr wrap="none" anchor="ctr">
            <a:spAutoFit/>
          </a:bodyPr>
          <a:lstStyle/>
          <a:p>
            <a:pPr>
              <a:defRPr sz="2600" b="1">
                <a:solidFill>
                  <a:srgbClr val="FFFFFF"/>
                </a:solidFill>
                <a:latin typeface="Arial" panose="020B0604020202020204"/>
              </a:defRPr>
            </a:pPr>
            <a:r>
              <a:rPr lang="en-US" dirty="0"/>
              <a:t>💻  </a:t>
            </a:r>
            <a:r>
              <a:rPr lang="en-US" dirty="0">
                <a:solidFill>
                  <a:srgbClr val="000000"/>
                </a:solidFill>
              </a:rPr>
              <a:t>Programming Technologies &amp; Tools</a:t>
            </a:r>
          </a:p>
        </p:txBody>
      </p:sp>
      <p:sp>
        <p:nvSpPr>
          <p:cNvPr id="9" name="Oval 8"/>
          <p:cNvSpPr/>
          <p:nvPr/>
        </p:nvSpPr>
        <p:spPr>
          <a:xfrm>
            <a:off x="11408228" y="6164220"/>
            <a:ext cx="594781" cy="594781"/>
          </a:xfrm>
          <a:prstGeom prst="ellipse">
            <a:avLst/>
          </a:prstGeom>
          <a:solidFill>
            <a:srgbClr val="D3F0FD"/>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2400" b="1" dirty="0">
                <a:solidFill>
                  <a:srgbClr val="0B2046"/>
                </a:solidFill>
              </a:rPr>
              <a:t>7</a:t>
            </a:r>
          </a:p>
        </p:txBody>
      </p:sp>
      <p:sp>
        <p:nvSpPr>
          <p:cNvPr id="7" name="TextBox 6"/>
          <p:cNvSpPr txBox="1"/>
          <p:nvPr/>
        </p:nvSpPr>
        <p:spPr>
          <a:xfrm>
            <a:off x="339969" y="1176127"/>
            <a:ext cx="11453446" cy="5447645"/>
          </a:xfrm>
          <a:prstGeom prst="rect">
            <a:avLst/>
          </a:prstGeom>
          <a:noFill/>
        </p:spPr>
        <p:txBody>
          <a:bodyPr wrap="square" lIns="91440" tIns="45720" rIns="91440" bIns="45720" rtlCol="0" anchor="t">
            <a:spAutoFit/>
          </a:bodyPr>
          <a:lstStyle/>
          <a:p>
            <a:pPr>
              <a:lnSpc>
                <a:spcPct val="150000"/>
              </a:lnSpc>
            </a:pPr>
            <a:r>
              <a:rPr lang="en-US" sz="2400" b="1" dirty="0">
                <a:latin typeface="Apotos"/>
                <a:cs typeface="Times New Roman" panose="02020603050405020304" pitchFamily="18" charset="0"/>
              </a:rPr>
              <a:t>Front-End Technologies</a:t>
            </a:r>
          </a:p>
          <a:p>
            <a:pPr marL="342900" indent="-342900">
              <a:lnSpc>
                <a:spcPct val="150000"/>
              </a:lnSpc>
              <a:buFont typeface="Arial" panose="020B0604020202020204" pitchFamily="34" charset="0"/>
              <a:buChar char="•"/>
            </a:pPr>
            <a:r>
              <a:rPr lang="en-US" sz="2400" b="1" dirty="0">
                <a:latin typeface="Apotos"/>
                <a:cs typeface="Times New Roman" panose="02020603050405020304" pitchFamily="18" charset="0"/>
              </a:rPr>
              <a:t>HTML:</a:t>
            </a:r>
            <a:r>
              <a:rPr lang="en-US" sz="2400" dirty="0">
                <a:latin typeface="Apotos"/>
                <a:cs typeface="Times New Roman" panose="02020603050405020304" pitchFamily="18" charset="0"/>
              </a:rPr>
              <a:t> Defines the structure and content of web pages.</a:t>
            </a:r>
          </a:p>
          <a:p>
            <a:pPr marL="342900" indent="-342900">
              <a:lnSpc>
                <a:spcPct val="150000"/>
              </a:lnSpc>
              <a:buFont typeface="Arial" panose="020B0604020202020204" pitchFamily="34" charset="0"/>
              <a:buChar char="•"/>
            </a:pPr>
            <a:r>
              <a:rPr lang="en-US" sz="2400" b="1" dirty="0">
                <a:latin typeface="Apotos"/>
                <a:cs typeface="Times New Roman" panose="02020603050405020304" pitchFamily="18" charset="0"/>
              </a:rPr>
              <a:t>CSS:</a:t>
            </a:r>
            <a:r>
              <a:rPr lang="en-US" sz="2400" dirty="0">
                <a:latin typeface="Apotos"/>
                <a:cs typeface="Times New Roman" panose="02020603050405020304" pitchFamily="18" charset="0"/>
              </a:rPr>
              <a:t> Defines the appearance and layout of web pages.</a:t>
            </a:r>
          </a:p>
          <a:p>
            <a:pPr marL="342900" indent="-342900">
              <a:lnSpc>
                <a:spcPct val="150000"/>
              </a:lnSpc>
              <a:buFont typeface="Arial" panose="020B0604020202020204" pitchFamily="34" charset="0"/>
              <a:buChar char="•"/>
            </a:pPr>
            <a:r>
              <a:rPr lang="en-US" sz="2400" b="1" dirty="0">
                <a:latin typeface="Apotos"/>
                <a:cs typeface="Times New Roman" panose="02020603050405020304" pitchFamily="18" charset="0"/>
              </a:rPr>
              <a:t>JavaScript:</a:t>
            </a:r>
            <a:r>
              <a:rPr lang="en-US" sz="2400" dirty="0">
                <a:latin typeface="Apotos"/>
                <a:cs typeface="Times New Roman" panose="02020603050405020304" pitchFamily="18" charset="0"/>
              </a:rPr>
              <a:t> Adds interactive features and improves user experience.</a:t>
            </a:r>
          </a:p>
          <a:p>
            <a:pPr marL="342900" indent="-342900">
              <a:lnSpc>
                <a:spcPct val="150000"/>
              </a:lnSpc>
              <a:buFont typeface="Arial" panose="020B0604020202020204" pitchFamily="34" charset="0"/>
              <a:buChar char="•"/>
            </a:pPr>
            <a:r>
              <a:rPr lang="en-US" sz="2400" b="1" dirty="0">
                <a:latin typeface="Apotos"/>
                <a:cs typeface="Times New Roman" panose="02020603050405020304" pitchFamily="18" charset="0"/>
              </a:rPr>
              <a:t>Tailwind CSS:</a:t>
            </a:r>
            <a:r>
              <a:rPr lang="en-US" sz="2400" dirty="0">
                <a:latin typeface="Apotos"/>
                <a:cs typeface="Times New Roman" panose="02020603050405020304" pitchFamily="18" charset="0"/>
              </a:rPr>
              <a:t> A utility-first CSS framework used to create responsive and modern user interfaces.</a:t>
            </a:r>
          </a:p>
          <a:p>
            <a:pPr>
              <a:lnSpc>
                <a:spcPct val="150000"/>
              </a:lnSpc>
            </a:pPr>
            <a:r>
              <a:rPr lang="en-US" sz="2400" b="1" dirty="0">
                <a:latin typeface="Apotos"/>
                <a:cs typeface="Times New Roman" panose="02020603050405020304" pitchFamily="18" charset="0"/>
              </a:rPr>
              <a:t>Back-End Technology</a:t>
            </a:r>
          </a:p>
          <a:p>
            <a:pPr marL="342900" indent="-342900">
              <a:lnSpc>
                <a:spcPct val="150000"/>
              </a:lnSpc>
              <a:buFont typeface="Arial" panose="020B0604020202020204" pitchFamily="34" charset="0"/>
              <a:buChar char="•"/>
            </a:pPr>
            <a:r>
              <a:rPr lang="en-US" sz="2400" b="1" dirty="0">
                <a:latin typeface="Apotos"/>
                <a:ea typeface="Calibri" panose="020F0502020204030204"/>
                <a:cs typeface="Times New Roman" panose="02020603050405020304" pitchFamily="18" charset="0"/>
              </a:rPr>
              <a:t>LARAVEL: </a:t>
            </a:r>
            <a:r>
              <a:rPr lang="en-US" sz="2400" dirty="0">
                <a:latin typeface="Apotos"/>
                <a:ea typeface="+mn-lt"/>
                <a:cs typeface="Times New Roman" panose="02020603050405020304" pitchFamily="18" charset="0"/>
              </a:rPr>
              <a:t>A powerful PHP framework used to streamline backend logic, routing, authentication, and database interactions with clean and elegant syntax.</a:t>
            </a:r>
          </a:p>
          <a:p>
            <a:endParaRPr lang="en-US" sz="2400" dirty="0">
              <a:latin typeface="Apotos"/>
              <a:ea typeface="Calibri" panose="020F0502020204030204"/>
              <a:cs typeface="Calibri" panose="020F05020202040302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2BDA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54864"/>
          </a:xfrm>
          <a:prstGeom prst="rect">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565392"/>
            <a:ext cx="12191695" cy="292608"/>
          </a:xfrm>
          <a:prstGeom prst="rect">
            <a:avLst/>
          </a:prstGeom>
          <a:solidFill>
            <a:srgbClr val="2BDA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519672"/>
            <a:ext cx="12191695" cy="45720"/>
          </a:xfrm>
          <a:prstGeom prst="rect">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284131"/>
            <a:ext cx="7813549" cy="492443"/>
          </a:xfrm>
          <a:prstGeom prst="rect">
            <a:avLst/>
          </a:prstGeom>
          <a:noFill/>
        </p:spPr>
        <p:txBody>
          <a:bodyPr wrap="none" anchor="ctr">
            <a:spAutoFit/>
          </a:bodyPr>
          <a:lstStyle/>
          <a:p>
            <a:pPr>
              <a:defRPr sz="2600" b="1">
                <a:solidFill>
                  <a:srgbClr val="FFFFFF"/>
                </a:solidFill>
                <a:latin typeface="Arial" panose="020B0604020202020204"/>
              </a:defRPr>
            </a:pPr>
            <a:r>
              <a:rPr lang="en-US" dirty="0"/>
              <a:t>💻  </a:t>
            </a:r>
            <a:r>
              <a:rPr lang="en-US" dirty="0">
                <a:solidFill>
                  <a:srgbClr val="000000"/>
                </a:solidFill>
              </a:rPr>
              <a:t>Programming Technologies &amp; Tools (cont’d)</a:t>
            </a:r>
          </a:p>
        </p:txBody>
      </p:sp>
      <p:sp>
        <p:nvSpPr>
          <p:cNvPr id="9" name="Oval 8"/>
          <p:cNvSpPr/>
          <p:nvPr/>
        </p:nvSpPr>
        <p:spPr>
          <a:xfrm>
            <a:off x="11408228" y="6164220"/>
            <a:ext cx="594781" cy="594781"/>
          </a:xfrm>
          <a:prstGeom prst="ellipse">
            <a:avLst/>
          </a:prstGeom>
          <a:solidFill>
            <a:srgbClr val="D3F0FD"/>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2400" b="1" dirty="0">
                <a:solidFill>
                  <a:srgbClr val="0B2046"/>
                </a:solidFill>
              </a:rPr>
              <a:t>8</a:t>
            </a:r>
          </a:p>
        </p:txBody>
      </p:sp>
      <p:sp>
        <p:nvSpPr>
          <p:cNvPr id="7" name="TextBox 6"/>
          <p:cNvSpPr txBox="1"/>
          <p:nvPr/>
        </p:nvSpPr>
        <p:spPr>
          <a:xfrm>
            <a:off x="339969" y="1328524"/>
            <a:ext cx="11453446" cy="3477875"/>
          </a:xfrm>
          <a:prstGeom prst="rect">
            <a:avLst/>
          </a:prstGeom>
          <a:noFill/>
        </p:spPr>
        <p:txBody>
          <a:bodyPr wrap="square" lIns="91440" tIns="45720" rIns="91440" bIns="45720" rtlCol="0" anchor="t">
            <a:spAutoFit/>
          </a:bodyPr>
          <a:lstStyle/>
          <a:p>
            <a:pPr algn="just">
              <a:lnSpc>
                <a:spcPct val="150000"/>
              </a:lnSpc>
            </a:pPr>
            <a:r>
              <a:rPr lang="en-US" sz="2400" b="1" dirty="0">
                <a:latin typeface="Apotos"/>
                <a:cs typeface="Times New Roman" panose="02020603050405020304"/>
              </a:rPr>
              <a:t>Database Management System Technologies</a:t>
            </a:r>
          </a:p>
          <a:p>
            <a:pPr marL="342900" indent="-342900" algn="just">
              <a:lnSpc>
                <a:spcPct val="150000"/>
              </a:lnSpc>
              <a:buFont typeface="Arial" panose="020B0604020202020204" pitchFamily="34" charset="0"/>
              <a:buChar char="•"/>
            </a:pPr>
            <a:r>
              <a:rPr lang="en-US" sz="2400" b="1" dirty="0">
                <a:latin typeface="Apotos"/>
                <a:ea typeface="+mn-lt"/>
                <a:cs typeface="Times New Roman" panose="02020603050405020304"/>
              </a:rPr>
              <a:t>MySQL</a:t>
            </a:r>
            <a:r>
              <a:rPr lang="en-US" sz="2400" dirty="0">
                <a:latin typeface="Apotos"/>
                <a:ea typeface="+mn-lt"/>
                <a:cs typeface="Times New Roman" panose="02020603050405020304"/>
              </a:rPr>
              <a:t>: A relational database management system (RDBMS) used to store, manage, and retrieve application data efficiently.</a:t>
            </a:r>
            <a:endParaRPr lang="en-US" sz="2400" dirty="0">
              <a:latin typeface="Apotos"/>
              <a:ea typeface="Calibri" panose="020F0502020204030204"/>
              <a:cs typeface="Times New Roman" panose="02020603050405020304"/>
            </a:endParaRPr>
          </a:p>
          <a:p>
            <a:pPr algn="just">
              <a:lnSpc>
                <a:spcPct val="150000"/>
              </a:lnSpc>
            </a:pPr>
            <a:r>
              <a:rPr lang="en-US" sz="2400" b="1" dirty="0">
                <a:latin typeface="Apotos"/>
                <a:cs typeface="Times New Roman" panose="02020603050405020304"/>
              </a:rPr>
              <a:t>Development Tools</a:t>
            </a:r>
            <a:endParaRPr lang="en-US" sz="2400" dirty="0">
              <a:latin typeface="Apotos"/>
              <a:cs typeface="Times New Roman" panose="02020603050405020304"/>
            </a:endParaRPr>
          </a:p>
          <a:p>
            <a:pPr marL="342900" indent="-342900" algn="just">
              <a:lnSpc>
                <a:spcPct val="150000"/>
              </a:lnSpc>
              <a:buFont typeface="Arial" panose="020B0604020202020204" pitchFamily="34" charset="0"/>
              <a:buChar char="•"/>
            </a:pPr>
            <a:r>
              <a:rPr lang="en-US" sz="2400" dirty="0">
                <a:latin typeface="Apotos"/>
                <a:cs typeface="Times New Roman" panose="02020603050405020304"/>
              </a:rPr>
              <a:t>VS Code.</a:t>
            </a:r>
          </a:p>
          <a:p>
            <a:pPr algn="just"/>
            <a:endParaRPr lang="en-US" sz="2000" dirty="0">
              <a:latin typeface="Apotos"/>
            </a:endParaRPr>
          </a:p>
          <a:p>
            <a:pPr algn="just"/>
            <a:endParaRPr lang="en-US" sz="2000" dirty="0">
              <a:latin typeface="Apoto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2BDA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54864"/>
          </a:xfrm>
          <a:prstGeom prst="rect">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565392"/>
            <a:ext cx="12191695" cy="292608"/>
          </a:xfrm>
          <a:prstGeom prst="rect">
            <a:avLst/>
          </a:prstGeom>
          <a:solidFill>
            <a:srgbClr val="2BDA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519672"/>
            <a:ext cx="12191695" cy="45720"/>
          </a:xfrm>
          <a:prstGeom prst="rect">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284131"/>
            <a:ext cx="2393604" cy="492443"/>
          </a:xfrm>
          <a:prstGeom prst="rect">
            <a:avLst/>
          </a:prstGeom>
          <a:noFill/>
        </p:spPr>
        <p:txBody>
          <a:bodyPr wrap="none" anchor="ctr">
            <a:spAutoFit/>
          </a:bodyPr>
          <a:lstStyle/>
          <a:p>
            <a:pPr>
              <a:defRPr sz="2600" b="1">
                <a:solidFill>
                  <a:srgbClr val="FFFFFF"/>
                </a:solidFill>
                <a:latin typeface="Arial" panose="020B0604020202020204"/>
              </a:defRPr>
            </a:pPr>
            <a:r>
              <a:rPr lang="en-US" dirty="0">
                <a:solidFill>
                  <a:srgbClr val="000000"/>
                </a:solidFill>
              </a:rPr>
              <a:t>System Users</a:t>
            </a:r>
          </a:p>
        </p:txBody>
      </p:sp>
      <p:sp>
        <p:nvSpPr>
          <p:cNvPr id="9" name="Oval 8"/>
          <p:cNvSpPr/>
          <p:nvPr/>
        </p:nvSpPr>
        <p:spPr>
          <a:xfrm>
            <a:off x="11408228" y="6164220"/>
            <a:ext cx="594781" cy="594781"/>
          </a:xfrm>
          <a:prstGeom prst="ellipse">
            <a:avLst/>
          </a:prstGeom>
          <a:solidFill>
            <a:srgbClr val="D3F0FD"/>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2400" b="1" dirty="0">
                <a:solidFill>
                  <a:srgbClr val="0B2046"/>
                </a:solidFill>
              </a:rPr>
              <a:t>9</a:t>
            </a:r>
          </a:p>
        </p:txBody>
      </p:sp>
      <p:sp>
        <p:nvSpPr>
          <p:cNvPr id="7" name="TextBox 6"/>
          <p:cNvSpPr txBox="1"/>
          <p:nvPr/>
        </p:nvSpPr>
        <p:spPr>
          <a:xfrm>
            <a:off x="339969" y="1328524"/>
            <a:ext cx="11453446" cy="4832092"/>
          </a:xfrm>
          <a:prstGeom prst="rect">
            <a:avLst/>
          </a:prstGeom>
          <a:noFill/>
        </p:spPr>
        <p:txBody>
          <a:bodyPr wrap="square" lIns="91440" tIns="45720" rIns="91440" bIns="45720" rtlCol="0" anchor="t">
            <a:spAutoFit/>
          </a:bodyPr>
          <a:lstStyle/>
          <a:p>
            <a:pPr marL="342900" indent="-342900" algn="just">
              <a:lnSpc>
                <a:spcPct val="250000"/>
              </a:lnSpc>
              <a:buFont typeface="Arial" panose="020B0604020202020204" pitchFamily="34" charset="0"/>
              <a:buChar char="•"/>
            </a:pPr>
            <a:r>
              <a:rPr lang="en-US" sz="2800" b="1" dirty="0">
                <a:latin typeface="Apotos"/>
                <a:cs typeface="Times New Roman" panose="02020603050405020304"/>
              </a:rPr>
              <a:t>Administrator</a:t>
            </a:r>
          </a:p>
          <a:p>
            <a:pPr marL="342900" indent="-342900" algn="just">
              <a:lnSpc>
                <a:spcPct val="250000"/>
              </a:lnSpc>
              <a:buFont typeface="Arial" panose="020B0604020202020204" pitchFamily="34" charset="0"/>
              <a:buChar char="•"/>
            </a:pPr>
            <a:r>
              <a:rPr lang="en-US" sz="2800" b="1" dirty="0">
                <a:latin typeface="Apotos"/>
                <a:cs typeface="Times New Roman" panose="02020603050405020304"/>
              </a:rPr>
              <a:t>Department Head</a:t>
            </a:r>
            <a:endParaRPr lang="en-US" sz="2800" dirty="0">
              <a:latin typeface="Apotos"/>
              <a:ea typeface="Calibri" panose="020F0502020204030204"/>
              <a:cs typeface="Times New Roman" panose="02020603050405020304"/>
            </a:endParaRPr>
          </a:p>
          <a:p>
            <a:pPr marL="342900" indent="-342900" algn="just">
              <a:lnSpc>
                <a:spcPct val="250000"/>
              </a:lnSpc>
              <a:buFont typeface="Arial" panose="020B0604020202020204" pitchFamily="34" charset="0"/>
              <a:buChar char="•"/>
            </a:pPr>
            <a:r>
              <a:rPr lang="en-US" sz="2800" b="1" dirty="0">
                <a:latin typeface="Apotos"/>
                <a:cs typeface="Times New Roman" panose="02020603050405020304"/>
              </a:rPr>
              <a:t>Staff</a:t>
            </a:r>
            <a:endParaRPr lang="en-US" sz="2800" dirty="0">
              <a:latin typeface="Apotos"/>
              <a:cs typeface="Times New Roman" panose="02020603050405020304"/>
            </a:endParaRPr>
          </a:p>
          <a:p>
            <a:pPr marL="342900" indent="-342900" algn="just">
              <a:lnSpc>
                <a:spcPct val="250000"/>
              </a:lnSpc>
              <a:buFont typeface="Arial" panose="020B0604020202020204" pitchFamily="34" charset="0"/>
              <a:buChar char="•"/>
            </a:pPr>
            <a:endParaRPr lang="en-US" sz="2800" dirty="0">
              <a:latin typeface="Apotos"/>
            </a:endParaRPr>
          </a:p>
          <a:p>
            <a:pPr algn="just"/>
            <a:endParaRPr lang="en-US" sz="2800" dirty="0">
              <a:latin typeface="Apotos"/>
            </a:endParaRPr>
          </a:p>
        </p:txBody>
      </p:sp>
      <p:pic>
        <p:nvPicPr>
          <p:cNvPr id="8" name="Picture 7"/>
          <p:cNvPicPr>
            <a:picLocks noChangeAspect="1"/>
          </p:cNvPicPr>
          <p:nvPr/>
        </p:nvPicPr>
        <p:blipFill>
          <a:blip r:embed="rId2">
            <a:lum bright="70000" contrast="-70000"/>
            <a:extLst>
              <a:ext uri="{BEBA8EAE-BF5A-486C-A8C5-ECC9F3942E4B}">
                <a14:imgProps xmlns:a14="http://schemas.microsoft.com/office/drawing/2010/main">
                  <a14:imgLayer r:embed="rId3">
                    <a14:imgEffect>
                      <a14:artisticMosiaicBubbles/>
                    </a14:imgEffect>
                    <a14:imgEffect>
                      <a14:backgroundRemoval t="10000" b="90000" l="10000" r="90000"/>
                    </a14:imgEffect>
                    <a14:imgEffect>
                      <a14:brightnessContrast bright="20000"/>
                    </a14:imgEffect>
                    <a14:imgEffect>
                      <a14:saturation sat="0"/>
                    </a14:imgEffect>
                    <a14:imgEffect>
                      <a14:sharpenSoften amount="-50000"/>
                    </a14:imgEffect>
                  </a14:imgLayer>
                </a14:imgProps>
              </a:ext>
              <a:ext uri="{28A0092B-C50C-407E-A947-70E740481C1C}">
                <a14:useLocalDpi xmlns:a14="http://schemas.microsoft.com/office/drawing/2010/main" val="0"/>
              </a:ext>
            </a:extLst>
          </a:blip>
          <a:stretch>
            <a:fillRect/>
          </a:stretch>
        </p:blipFill>
        <p:spPr>
          <a:xfrm>
            <a:off x="124692" y="205055"/>
            <a:ext cx="624405" cy="62440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2BDA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54864"/>
          </a:xfrm>
          <a:prstGeom prst="rect">
            <a:avLst/>
          </a:prstGeom>
          <a:solidFill>
            <a:srgbClr val="EEC7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565392"/>
            <a:ext cx="12191695" cy="292608"/>
          </a:xfrm>
          <a:prstGeom prst="rect">
            <a:avLst/>
          </a:prstGeom>
          <a:solidFill>
            <a:srgbClr val="2BDA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519672"/>
            <a:ext cx="12191695" cy="45720"/>
          </a:xfrm>
          <a:prstGeom prst="rect">
            <a:avLst/>
          </a:prstGeom>
          <a:solidFill>
            <a:srgbClr val="EEC7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1346875" y="6047447"/>
            <a:ext cx="725409" cy="725409"/>
          </a:xfrm>
          <a:prstGeom prst="ellipse">
            <a:avLst/>
          </a:prstGeom>
          <a:solidFill>
            <a:srgbClr val="D3F0FD"/>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2400" b="1" dirty="0">
                <a:solidFill>
                  <a:srgbClr val="0B2046"/>
                </a:solidFill>
              </a:rPr>
              <a:t>10</a:t>
            </a:r>
          </a:p>
        </p:txBody>
      </p:sp>
      <p:sp>
        <p:nvSpPr>
          <p:cNvPr id="7" name="TextBox 6"/>
          <p:cNvSpPr txBox="1"/>
          <p:nvPr/>
        </p:nvSpPr>
        <p:spPr>
          <a:xfrm>
            <a:off x="369124" y="1979688"/>
            <a:ext cx="11453446" cy="1377941"/>
          </a:xfrm>
          <a:prstGeom prst="rect">
            <a:avLst/>
          </a:prstGeom>
          <a:noFill/>
        </p:spPr>
        <p:txBody>
          <a:bodyPr wrap="square" rtlCol="0">
            <a:spAutoFit/>
          </a:bodyPr>
          <a:lstStyle/>
          <a:p>
            <a:pPr algn="ctr">
              <a:lnSpc>
                <a:spcPct val="250000"/>
              </a:lnSpc>
            </a:pPr>
            <a:r>
              <a:rPr lang="en-US" sz="4000" b="1" dirty="0">
                <a:effectLst>
                  <a:outerShdw blurRad="38100" dist="38100" dir="2700000" algn="tl">
                    <a:srgbClr val="000000">
                      <a:alpha val="43137"/>
                    </a:srgbClr>
                  </a:outerShdw>
                </a:effectLst>
                <a:latin typeface="Apotos"/>
              </a:rPr>
              <a:t>System Design</a:t>
            </a:r>
            <a:endParaRPr 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235979"/>
          </a:xfrm>
          <a:prstGeom prst="rect">
            <a:avLst/>
          </a:prstGeom>
          <a:solidFill>
            <a:srgbClr val="2BDA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 y="255875"/>
            <a:ext cx="12191695" cy="54864"/>
          </a:xfrm>
          <a:prstGeom prst="rect">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1325098" y="6017099"/>
            <a:ext cx="783467" cy="783467"/>
          </a:xfrm>
          <a:prstGeom prst="ellipse">
            <a:avLst/>
          </a:prstGeom>
          <a:solidFill>
            <a:srgbClr val="D3F0FD"/>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2400" b="1" dirty="0">
                <a:solidFill>
                  <a:srgbClr val="0B2046"/>
                </a:solidFill>
              </a:rPr>
              <a:t>11</a:t>
            </a:r>
          </a:p>
        </p:txBody>
      </p:sp>
      <p:pic>
        <p:nvPicPr>
          <p:cNvPr id="8" name="Picture 7"/>
          <p:cNvPicPr>
            <a:picLocks noChangeAspect="1"/>
          </p:cNvPicPr>
          <p:nvPr/>
        </p:nvPicPr>
        <p:blipFill>
          <a:blip r:embed="rId3"/>
          <a:stretch>
            <a:fillRect/>
          </a:stretch>
        </p:blipFill>
        <p:spPr>
          <a:xfrm>
            <a:off x="1438191" y="471153"/>
            <a:ext cx="8027608" cy="5857624"/>
          </a:xfrm>
          <a:prstGeom prst="rect">
            <a:avLst/>
          </a:prstGeom>
        </p:spPr>
      </p:pic>
      <p:sp>
        <p:nvSpPr>
          <p:cNvPr id="6" name="TextBox 5"/>
          <p:cNvSpPr txBox="1"/>
          <p:nvPr/>
        </p:nvSpPr>
        <p:spPr>
          <a:xfrm>
            <a:off x="3754955" y="6072949"/>
            <a:ext cx="5710844" cy="492443"/>
          </a:xfrm>
          <a:prstGeom prst="rect">
            <a:avLst/>
          </a:prstGeom>
          <a:noFill/>
        </p:spPr>
        <p:txBody>
          <a:bodyPr wrap="square" lIns="91440" tIns="45720" rIns="91440" bIns="45720" anchor="ctr">
            <a:spAutoFit/>
          </a:bodyPr>
          <a:lstStyle/>
          <a:p>
            <a:pPr>
              <a:defRPr sz="2600" b="1">
                <a:solidFill>
                  <a:srgbClr val="FFFFFF"/>
                </a:solidFill>
                <a:latin typeface="Arial" panose="020B0604020202020204"/>
              </a:defRPr>
            </a:pPr>
            <a:r>
              <a:rPr lang="en-US" dirty="0">
                <a:solidFill>
                  <a:schemeClr val="accent5">
                    <a:lumMod val="50000"/>
                  </a:schemeClr>
                </a:solidFill>
              </a:rPr>
              <a:t> </a:t>
            </a:r>
            <a:r>
              <a:rPr lang="en-US" sz="2000" dirty="0">
                <a:solidFill>
                  <a:schemeClr val="accent5">
                    <a:lumMod val="50000"/>
                  </a:schemeClr>
                </a:solidFill>
              </a:rPr>
              <a:t>Figure 1: Use Case Model for Staff</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235979"/>
          </a:xfrm>
          <a:prstGeom prst="rect">
            <a:avLst/>
          </a:prstGeom>
          <a:solidFill>
            <a:srgbClr val="2BDA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 y="255875"/>
            <a:ext cx="12191695" cy="54864"/>
          </a:xfrm>
          <a:prstGeom prst="rect">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1325098" y="6017099"/>
            <a:ext cx="783467" cy="783467"/>
          </a:xfrm>
          <a:prstGeom prst="ellipse">
            <a:avLst/>
          </a:prstGeom>
          <a:solidFill>
            <a:srgbClr val="D3F0FD"/>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2400" b="1" dirty="0">
                <a:solidFill>
                  <a:srgbClr val="0B2046"/>
                </a:solidFill>
              </a:rPr>
              <a:t>12</a:t>
            </a:r>
          </a:p>
        </p:txBody>
      </p:sp>
      <p:sp>
        <p:nvSpPr>
          <p:cNvPr id="6" name="TextBox 5"/>
          <p:cNvSpPr txBox="1"/>
          <p:nvPr/>
        </p:nvSpPr>
        <p:spPr>
          <a:xfrm>
            <a:off x="2848259" y="6280594"/>
            <a:ext cx="6495174" cy="492443"/>
          </a:xfrm>
          <a:prstGeom prst="rect">
            <a:avLst/>
          </a:prstGeom>
          <a:noFill/>
        </p:spPr>
        <p:txBody>
          <a:bodyPr wrap="square" lIns="91440" tIns="45720" rIns="91440" bIns="45720" anchor="ctr">
            <a:spAutoFit/>
          </a:bodyPr>
          <a:lstStyle/>
          <a:p>
            <a:pPr>
              <a:defRPr sz="2600" b="1">
                <a:solidFill>
                  <a:srgbClr val="FFFFFF"/>
                </a:solidFill>
                <a:latin typeface="Arial" panose="020B0604020202020204"/>
              </a:defRPr>
            </a:pPr>
            <a:r>
              <a:rPr lang="en-US" dirty="0">
                <a:solidFill>
                  <a:schemeClr val="accent5">
                    <a:lumMod val="50000"/>
                  </a:schemeClr>
                </a:solidFill>
              </a:rPr>
              <a:t> </a:t>
            </a:r>
            <a:r>
              <a:rPr lang="en-US" sz="2000" dirty="0">
                <a:solidFill>
                  <a:schemeClr val="accent5">
                    <a:lumMod val="50000"/>
                  </a:schemeClr>
                </a:solidFill>
              </a:rPr>
              <a:t>Figure 2 : Use Case Model for Department Head</a:t>
            </a:r>
          </a:p>
        </p:txBody>
      </p:sp>
      <p:pic>
        <p:nvPicPr>
          <p:cNvPr id="7" name="Picture 6">
            <a:extLst>
              <a:ext uri="{FF2B5EF4-FFF2-40B4-BE49-F238E27FC236}">
                <a16:creationId xmlns:a16="http://schemas.microsoft.com/office/drawing/2014/main" id="{71C910A2-25A7-4882-FD77-7074B3B692AB}"/>
              </a:ext>
            </a:extLst>
          </p:cNvPr>
          <p:cNvPicPr>
            <a:picLocks noChangeAspect="1"/>
          </p:cNvPicPr>
          <p:nvPr/>
        </p:nvPicPr>
        <p:blipFill>
          <a:blip r:embed="rId3"/>
          <a:stretch>
            <a:fillRect/>
          </a:stretch>
        </p:blipFill>
        <p:spPr>
          <a:xfrm>
            <a:off x="1385339" y="330634"/>
            <a:ext cx="7855093" cy="6084913"/>
          </a:xfrm>
          <a:prstGeom prst="rect">
            <a:avLst/>
          </a:prstGeom>
        </p:spPr>
      </p:pic>
    </p:spTree>
    <p:extLst>
      <p:ext uri="{BB962C8B-B14F-4D97-AF65-F5344CB8AC3E}">
        <p14:creationId xmlns:p14="http://schemas.microsoft.com/office/powerpoint/2010/main" val="17071271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235979"/>
          </a:xfrm>
          <a:prstGeom prst="rect">
            <a:avLst/>
          </a:prstGeom>
          <a:solidFill>
            <a:srgbClr val="2BDA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 y="255875"/>
            <a:ext cx="12191695" cy="54864"/>
          </a:xfrm>
          <a:prstGeom prst="rect">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1325098" y="6017099"/>
            <a:ext cx="783467" cy="783467"/>
          </a:xfrm>
          <a:prstGeom prst="ellipse">
            <a:avLst/>
          </a:prstGeom>
          <a:solidFill>
            <a:srgbClr val="D3F0FD"/>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2400" b="1" dirty="0">
                <a:solidFill>
                  <a:srgbClr val="0B2046"/>
                </a:solidFill>
              </a:rPr>
              <a:t>14</a:t>
            </a:r>
          </a:p>
        </p:txBody>
      </p:sp>
      <p:sp>
        <p:nvSpPr>
          <p:cNvPr id="6" name="TextBox 5"/>
          <p:cNvSpPr txBox="1"/>
          <p:nvPr/>
        </p:nvSpPr>
        <p:spPr>
          <a:xfrm>
            <a:off x="2678929" y="6280594"/>
            <a:ext cx="7142408" cy="492443"/>
          </a:xfrm>
          <a:prstGeom prst="rect">
            <a:avLst/>
          </a:prstGeom>
          <a:noFill/>
        </p:spPr>
        <p:txBody>
          <a:bodyPr wrap="square" lIns="91440" tIns="45720" rIns="91440" bIns="45720" anchor="ctr">
            <a:spAutoFit/>
          </a:bodyPr>
          <a:lstStyle/>
          <a:p>
            <a:pPr algn="ctr">
              <a:defRPr sz="2600" b="1">
                <a:solidFill>
                  <a:srgbClr val="FFFFFF"/>
                </a:solidFill>
                <a:latin typeface="Arial" panose="020B0604020202020204"/>
              </a:defRPr>
            </a:pPr>
            <a:r>
              <a:rPr lang="en-US" dirty="0">
                <a:solidFill>
                  <a:schemeClr val="accent5">
                    <a:lumMod val="50000"/>
                  </a:schemeClr>
                </a:solidFill>
              </a:rPr>
              <a:t> </a:t>
            </a:r>
            <a:r>
              <a:rPr lang="en-US" sz="2000" dirty="0">
                <a:solidFill>
                  <a:schemeClr val="accent5">
                    <a:lumMod val="50000"/>
                  </a:schemeClr>
                </a:solidFill>
              </a:rPr>
              <a:t>Figure 3 : System Flow Chart for Staff</a:t>
            </a:r>
          </a:p>
        </p:txBody>
      </p:sp>
      <p:pic>
        <p:nvPicPr>
          <p:cNvPr id="7" name="Picture 6">
            <a:extLst>
              <a:ext uri="{FF2B5EF4-FFF2-40B4-BE49-F238E27FC236}">
                <a16:creationId xmlns:a16="http://schemas.microsoft.com/office/drawing/2014/main" id="{7EB163F5-B721-B8FC-B8DB-2FA45CA7C02A}"/>
              </a:ext>
            </a:extLst>
          </p:cNvPr>
          <p:cNvPicPr>
            <a:picLocks noChangeAspect="1"/>
          </p:cNvPicPr>
          <p:nvPr/>
        </p:nvPicPr>
        <p:blipFill>
          <a:blip r:embed="rId3"/>
          <a:stretch>
            <a:fillRect/>
          </a:stretch>
        </p:blipFill>
        <p:spPr>
          <a:xfrm>
            <a:off x="2325302" y="391421"/>
            <a:ext cx="7849661" cy="6017411"/>
          </a:xfrm>
          <a:prstGeom prst="rect">
            <a:avLst/>
          </a:prstGeom>
        </p:spPr>
      </p:pic>
    </p:spTree>
    <p:extLst>
      <p:ext uri="{BB962C8B-B14F-4D97-AF65-F5344CB8AC3E}">
        <p14:creationId xmlns:p14="http://schemas.microsoft.com/office/powerpoint/2010/main" val="20742473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235979"/>
          </a:xfrm>
          <a:prstGeom prst="rect">
            <a:avLst/>
          </a:prstGeom>
          <a:solidFill>
            <a:srgbClr val="2BDA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 y="255875"/>
            <a:ext cx="12191695" cy="54864"/>
          </a:xfrm>
          <a:prstGeom prst="rect">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1325098" y="6017099"/>
            <a:ext cx="783467" cy="783467"/>
          </a:xfrm>
          <a:prstGeom prst="ellipse">
            <a:avLst/>
          </a:prstGeom>
          <a:solidFill>
            <a:srgbClr val="D3F0FD"/>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2400" b="1" dirty="0">
                <a:solidFill>
                  <a:srgbClr val="0B2046"/>
                </a:solidFill>
              </a:rPr>
              <a:t>15</a:t>
            </a:r>
          </a:p>
        </p:txBody>
      </p:sp>
      <p:sp>
        <p:nvSpPr>
          <p:cNvPr id="6" name="TextBox 5"/>
          <p:cNvSpPr txBox="1"/>
          <p:nvPr/>
        </p:nvSpPr>
        <p:spPr>
          <a:xfrm>
            <a:off x="2678929" y="6280594"/>
            <a:ext cx="7142408" cy="492443"/>
          </a:xfrm>
          <a:prstGeom prst="rect">
            <a:avLst/>
          </a:prstGeom>
          <a:noFill/>
        </p:spPr>
        <p:txBody>
          <a:bodyPr wrap="square" lIns="91440" tIns="45720" rIns="91440" bIns="45720" anchor="ctr">
            <a:spAutoFit/>
          </a:bodyPr>
          <a:lstStyle/>
          <a:p>
            <a:pPr algn="ctr">
              <a:defRPr sz="2600" b="1">
                <a:solidFill>
                  <a:srgbClr val="FFFFFF"/>
                </a:solidFill>
                <a:latin typeface="Arial" panose="020B0604020202020204"/>
              </a:defRPr>
            </a:pPr>
            <a:r>
              <a:rPr lang="en-US" dirty="0">
                <a:solidFill>
                  <a:schemeClr val="accent5">
                    <a:lumMod val="50000"/>
                  </a:schemeClr>
                </a:solidFill>
              </a:rPr>
              <a:t> </a:t>
            </a:r>
            <a:r>
              <a:rPr lang="en-US" sz="2000" dirty="0">
                <a:solidFill>
                  <a:schemeClr val="accent5">
                    <a:lumMod val="50000"/>
                  </a:schemeClr>
                </a:solidFill>
              </a:rPr>
              <a:t>Figure 4 : System Flow Chart for Department Head</a:t>
            </a:r>
          </a:p>
        </p:txBody>
      </p:sp>
      <p:pic>
        <p:nvPicPr>
          <p:cNvPr id="8" name="Picture 7">
            <a:extLst>
              <a:ext uri="{FF2B5EF4-FFF2-40B4-BE49-F238E27FC236}">
                <a16:creationId xmlns:a16="http://schemas.microsoft.com/office/drawing/2014/main" id="{8BBEE332-46F0-BDE5-BBD2-A48015322AAC}"/>
              </a:ext>
            </a:extLst>
          </p:cNvPr>
          <p:cNvPicPr>
            <a:picLocks noChangeAspect="1"/>
          </p:cNvPicPr>
          <p:nvPr/>
        </p:nvPicPr>
        <p:blipFill>
          <a:blip r:embed="rId3"/>
          <a:stretch>
            <a:fillRect/>
          </a:stretch>
        </p:blipFill>
        <p:spPr>
          <a:xfrm>
            <a:off x="3117370" y="378095"/>
            <a:ext cx="5956952" cy="6030189"/>
          </a:xfrm>
          <a:prstGeom prst="rect">
            <a:avLst/>
          </a:prstGeom>
        </p:spPr>
      </p:pic>
    </p:spTree>
    <p:extLst>
      <p:ext uri="{BB962C8B-B14F-4D97-AF65-F5344CB8AC3E}">
        <p14:creationId xmlns:p14="http://schemas.microsoft.com/office/powerpoint/2010/main" val="26572913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235979"/>
          </a:xfrm>
          <a:prstGeom prst="rect">
            <a:avLst/>
          </a:prstGeom>
          <a:solidFill>
            <a:srgbClr val="2BDA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 y="255875"/>
            <a:ext cx="12191695" cy="54864"/>
          </a:xfrm>
          <a:prstGeom prst="rect">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1325098" y="6017099"/>
            <a:ext cx="783467" cy="783467"/>
          </a:xfrm>
          <a:prstGeom prst="ellipse">
            <a:avLst/>
          </a:prstGeom>
          <a:solidFill>
            <a:srgbClr val="D3F0FD"/>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2400" b="1" dirty="0">
                <a:solidFill>
                  <a:srgbClr val="0B2046"/>
                </a:solidFill>
              </a:rPr>
              <a:t>13</a:t>
            </a:r>
          </a:p>
        </p:txBody>
      </p:sp>
      <p:sp>
        <p:nvSpPr>
          <p:cNvPr id="6" name="TextBox 5"/>
          <p:cNvSpPr txBox="1"/>
          <p:nvPr/>
        </p:nvSpPr>
        <p:spPr>
          <a:xfrm>
            <a:off x="2678929" y="6280594"/>
            <a:ext cx="7142408" cy="492443"/>
          </a:xfrm>
          <a:prstGeom prst="rect">
            <a:avLst/>
          </a:prstGeom>
          <a:noFill/>
        </p:spPr>
        <p:txBody>
          <a:bodyPr wrap="square" lIns="91440" tIns="45720" rIns="91440" bIns="45720" anchor="ctr">
            <a:spAutoFit/>
          </a:bodyPr>
          <a:lstStyle/>
          <a:p>
            <a:pPr algn="ctr">
              <a:defRPr sz="2600" b="1">
                <a:solidFill>
                  <a:srgbClr val="FFFFFF"/>
                </a:solidFill>
                <a:latin typeface="Arial" panose="020B0604020202020204"/>
              </a:defRPr>
            </a:pPr>
            <a:r>
              <a:rPr lang="en-US" dirty="0">
                <a:solidFill>
                  <a:schemeClr val="accent5">
                    <a:lumMod val="50000"/>
                  </a:schemeClr>
                </a:solidFill>
              </a:rPr>
              <a:t> </a:t>
            </a:r>
            <a:r>
              <a:rPr lang="en-US" sz="2000" dirty="0">
                <a:solidFill>
                  <a:schemeClr val="accent5">
                    <a:lumMod val="50000"/>
                  </a:schemeClr>
                </a:solidFill>
              </a:rPr>
              <a:t>Figure 5 : Use Case Model for Administrator </a:t>
            </a:r>
          </a:p>
        </p:txBody>
      </p:sp>
      <p:pic>
        <p:nvPicPr>
          <p:cNvPr id="8" name="Picture 7"/>
          <p:cNvPicPr>
            <a:picLocks noChangeAspect="1"/>
          </p:cNvPicPr>
          <p:nvPr/>
        </p:nvPicPr>
        <p:blipFill>
          <a:blip r:embed="rId3"/>
          <a:stretch>
            <a:fillRect/>
          </a:stretch>
        </p:blipFill>
        <p:spPr>
          <a:xfrm>
            <a:off x="1591917" y="345174"/>
            <a:ext cx="8229420" cy="6047251"/>
          </a:xfrm>
          <a:prstGeom prst="rect">
            <a:avLst/>
          </a:prstGeom>
        </p:spPr>
      </p:pic>
    </p:spTree>
    <p:extLst>
      <p:ext uri="{BB962C8B-B14F-4D97-AF65-F5344CB8AC3E}">
        <p14:creationId xmlns:p14="http://schemas.microsoft.com/office/powerpoint/2010/main" val="6012598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235979"/>
          </a:xfrm>
          <a:prstGeom prst="rect">
            <a:avLst/>
          </a:prstGeom>
          <a:solidFill>
            <a:srgbClr val="2BDA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 y="255875"/>
            <a:ext cx="12191695" cy="54864"/>
          </a:xfrm>
          <a:prstGeom prst="rect">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1325098" y="6017099"/>
            <a:ext cx="783467" cy="783467"/>
          </a:xfrm>
          <a:prstGeom prst="ellipse">
            <a:avLst/>
          </a:prstGeom>
          <a:solidFill>
            <a:srgbClr val="D3F0FD"/>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2400" b="1" dirty="0">
                <a:solidFill>
                  <a:srgbClr val="0B2046"/>
                </a:solidFill>
              </a:rPr>
              <a:t>16</a:t>
            </a:r>
          </a:p>
        </p:txBody>
      </p:sp>
      <p:sp>
        <p:nvSpPr>
          <p:cNvPr id="6" name="TextBox 5"/>
          <p:cNvSpPr txBox="1"/>
          <p:nvPr/>
        </p:nvSpPr>
        <p:spPr>
          <a:xfrm>
            <a:off x="2678929" y="6280594"/>
            <a:ext cx="7142408" cy="492443"/>
          </a:xfrm>
          <a:prstGeom prst="rect">
            <a:avLst/>
          </a:prstGeom>
          <a:noFill/>
        </p:spPr>
        <p:txBody>
          <a:bodyPr wrap="square" lIns="91440" tIns="45720" rIns="91440" bIns="45720" anchor="ctr">
            <a:spAutoFit/>
          </a:bodyPr>
          <a:lstStyle/>
          <a:p>
            <a:pPr algn="ctr">
              <a:defRPr sz="2600" b="1">
                <a:solidFill>
                  <a:srgbClr val="FFFFFF"/>
                </a:solidFill>
                <a:latin typeface="Arial" panose="020B0604020202020204"/>
              </a:defRPr>
            </a:pPr>
            <a:r>
              <a:rPr lang="en-US" dirty="0">
                <a:solidFill>
                  <a:schemeClr val="accent5">
                    <a:lumMod val="50000"/>
                  </a:schemeClr>
                </a:solidFill>
              </a:rPr>
              <a:t> </a:t>
            </a:r>
            <a:r>
              <a:rPr lang="en-US" sz="2000" dirty="0">
                <a:solidFill>
                  <a:schemeClr val="accent5">
                    <a:lumMod val="50000"/>
                  </a:schemeClr>
                </a:solidFill>
              </a:rPr>
              <a:t>Figure 6 : System Flow Chart for Administrator</a:t>
            </a:r>
          </a:p>
        </p:txBody>
      </p:sp>
      <p:pic>
        <p:nvPicPr>
          <p:cNvPr id="7" name="Picture 6" descr="SFDADMIN.drawio"/>
          <p:cNvPicPr/>
          <p:nvPr/>
        </p:nvPicPr>
        <p:blipFill>
          <a:blip r:embed="rId2"/>
          <a:stretch>
            <a:fillRect/>
          </a:stretch>
        </p:blipFill>
        <p:spPr>
          <a:xfrm>
            <a:off x="1874662" y="352965"/>
            <a:ext cx="7946675" cy="6072252"/>
          </a:xfrm>
          <a:prstGeom prst="rect">
            <a:avLst/>
          </a:prstGeom>
        </p:spPr>
      </p:pic>
    </p:spTree>
    <p:extLst>
      <p:ext uri="{BB962C8B-B14F-4D97-AF65-F5344CB8AC3E}">
        <p14:creationId xmlns:p14="http://schemas.microsoft.com/office/powerpoint/2010/main" val="39415829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58952"/>
          </a:xfrm>
          <a:prstGeom prst="rect">
            <a:avLst/>
          </a:prstGeom>
          <a:solidFill>
            <a:srgbClr val="2BDA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75115"/>
            <a:ext cx="12191695" cy="54864"/>
          </a:xfrm>
          <a:prstGeom prst="rect">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565392"/>
            <a:ext cx="12191695" cy="292608"/>
          </a:xfrm>
          <a:prstGeom prst="rect">
            <a:avLst/>
          </a:prstGeom>
          <a:solidFill>
            <a:srgbClr val="2BDA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519672"/>
            <a:ext cx="12191695" cy="45720"/>
          </a:xfrm>
          <a:prstGeom prst="rect">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284131"/>
            <a:ext cx="8166018" cy="492443"/>
          </a:xfrm>
          <a:prstGeom prst="rect">
            <a:avLst/>
          </a:prstGeom>
          <a:noFill/>
        </p:spPr>
        <p:txBody>
          <a:bodyPr wrap="none" anchor="ctr">
            <a:spAutoFit/>
          </a:bodyPr>
          <a:lstStyle/>
          <a:p>
            <a:pPr>
              <a:defRPr sz="2600" b="1">
                <a:solidFill>
                  <a:srgbClr val="FFFFFF"/>
                </a:solidFill>
                <a:latin typeface="Arial" panose="020B0604020202020204"/>
              </a:defRPr>
            </a:pPr>
            <a:r>
              <a:rPr lang="en-US" dirty="0"/>
              <a:t>🗄️  Database Design </a:t>
            </a:r>
            <a:r>
              <a:rPr lang="en-US" sz="2600" b="1" dirty="0"/>
              <a:t>(Entity Relationship Diagram)</a:t>
            </a:r>
            <a:endParaRPr lang="en-US" dirty="0"/>
          </a:p>
        </p:txBody>
      </p:sp>
      <p:sp>
        <p:nvSpPr>
          <p:cNvPr id="9" name="Oval 8"/>
          <p:cNvSpPr/>
          <p:nvPr/>
        </p:nvSpPr>
        <p:spPr>
          <a:xfrm>
            <a:off x="11388440" y="6089012"/>
            <a:ext cx="697700" cy="697700"/>
          </a:xfrm>
          <a:prstGeom prst="ellipse">
            <a:avLst/>
          </a:prstGeom>
          <a:solidFill>
            <a:srgbClr val="D3F0FD"/>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2400" b="1" dirty="0">
                <a:solidFill>
                  <a:srgbClr val="0B2046"/>
                </a:solidFill>
              </a:rPr>
              <a:t>17</a:t>
            </a:r>
          </a:p>
        </p:txBody>
      </p:sp>
      <p:pic>
        <p:nvPicPr>
          <p:cNvPr id="10" name="Picture 9">
            <a:extLst>
              <a:ext uri="{FF2B5EF4-FFF2-40B4-BE49-F238E27FC236}">
                <a16:creationId xmlns:a16="http://schemas.microsoft.com/office/drawing/2014/main" id="{036965F7-AC3D-EF45-FE16-BECD759C0760}"/>
              </a:ext>
            </a:extLst>
          </p:cNvPr>
          <p:cNvPicPr>
            <a:picLocks noChangeAspect="1"/>
          </p:cNvPicPr>
          <p:nvPr/>
        </p:nvPicPr>
        <p:blipFill>
          <a:blip r:embed="rId3"/>
          <a:stretch>
            <a:fillRect/>
          </a:stretch>
        </p:blipFill>
        <p:spPr>
          <a:xfrm>
            <a:off x="2658141" y="899006"/>
            <a:ext cx="6391854" cy="4946135"/>
          </a:xfrm>
          <a:prstGeom prst="rect">
            <a:avLst/>
          </a:prstGeom>
        </p:spPr>
      </p:pic>
      <p:sp>
        <p:nvSpPr>
          <p:cNvPr id="7" name="TextBox 6">
            <a:extLst>
              <a:ext uri="{FF2B5EF4-FFF2-40B4-BE49-F238E27FC236}">
                <a16:creationId xmlns:a16="http://schemas.microsoft.com/office/drawing/2014/main" id="{66473F34-B5C1-9EC5-D218-C40B8D0A9630}"/>
              </a:ext>
            </a:extLst>
          </p:cNvPr>
          <p:cNvSpPr txBox="1"/>
          <p:nvPr/>
        </p:nvSpPr>
        <p:spPr>
          <a:xfrm>
            <a:off x="4169228" y="5898219"/>
            <a:ext cx="5007429" cy="369332"/>
          </a:xfrm>
          <a:prstGeom prst="rect">
            <a:avLst/>
          </a:prstGeom>
          <a:noFill/>
        </p:spPr>
        <p:txBody>
          <a:bodyPr wrap="square" rtlCol="0">
            <a:spAutoFit/>
          </a:bodyPr>
          <a:lstStyle/>
          <a:p>
            <a:r>
              <a:rPr lang="en-US" b="1" dirty="0"/>
              <a:t>Figure 7 : ER Diagram</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2BDA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54864"/>
          </a:xfrm>
          <a:prstGeom prst="rect">
            <a:avLst/>
          </a:prstGeom>
          <a:solidFill>
            <a:srgbClr val="EEC7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565392"/>
            <a:ext cx="12191695" cy="292608"/>
          </a:xfrm>
          <a:prstGeom prst="rect">
            <a:avLst/>
          </a:prstGeom>
          <a:solidFill>
            <a:srgbClr val="2BDA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519672"/>
            <a:ext cx="12191695" cy="45720"/>
          </a:xfrm>
          <a:prstGeom prst="rect">
            <a:avLst/>
          </a:prstGeom>
          <a:solidFill>
            <a:srgbClr val="EEC7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1346875" y="6047447"/>
            <a:ext cx="725409" cy="725409"/>
          </a:xfrm>
          <a:prstGeom prst="ellipse">
            <a:avLst/>
          </a:prstGeom>
          <a:solidFill>
            <a:srgbClr val="D3F0FD"/>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2400" b="1" dirty="0">
                <a:solidFill>
                  <a:srgbClr val="0B2046"/>
                </a:solidFill>
              </a:rPr>
              <a:t>18</a:t>
            </a:r>
          </a:p>
        </p:txBody>
      </p:sp>
      <p:sp>
        <p:nvSpPr>
          <p:cNvPr id="7" name="TextBox 6"/>
          <p:cNvSpPr txBox="1"/>
          <p:nvPr/>
        </p:nvSpPr>
        <p:spPr>
          <a:xfrm>
            <a:off x="-3440876" y="-533845"/>
            <a:ext cx="11453446" cy="1377941"/>
          </a:xfrm>
          <a:prstGeom prst="rect">
            <a:avLst/>
          </a:prstGeom>
          <a:noFill/>
        </p:spPr>
        <p:txBody>
          <a:bodyPr wrap="square" rtlCol="0">
            <a:spAutoFit/>
          </a:bodyPr>
          <a:lstStyle/>
          <a:p>
            <a:pPr algn="ctr">
              <a:lnSpc>
                <a:spcPct val="250000"/>
              </a:lnSpc>
            </a:pPr>
            <a:r>
              <a:rPr lang="en-US" sz="4000" b="1" dirty="0">
                <a:effectLst>
                  <a:outerShdw blurRad="38100" dist="38100" dir="2700000" algn="tl">
                    <a:srgbClr val="000000">
                      <a:alpha val="43137"/>
                    </a:srgbClr>
                  </a:outerShdw>
                </a:effectLst>
                <a:latin typeface="Apotos"/>
              </a:rPr>
              <a:t>Implementation</a:t>
            </a:r>
            <a:endParaRPr lang="en-US" sz="2000" dirty="0"/>
          </a:p>
        </p:txBody>
      </p:sp>
      <p:pic>
        <p:nvPicPr>
          <p:cNvPr id="8" name="Picture 7">
            <a:extLst>
              <a:ext uri="{FF2B5EF4-FFF2-40B4-BE49-F238E27FC236}">
                <a16:creationId xmlns:a16="http://schemas.microsoft.com/office/drawing/2014/main" id="{49AF0371-69FF-8721-1804-6A5EE59D6EE1}"/>
              </a:ext>
            </a:extLst>
          </p:cNvPr>
          <p:cNvPicPr>
            <a:picLocks noChangeAspect="1"/>
          </p:cNvPicPr>
          <p:nvPr/>
        </p:nvPicPr>
        <p:blipFill>
          <a:blip r:embed="rId2"/>
          <a:stretch>
            <a:fillRect/>
          </a:stretch>
        </p:blipFill>
        <p:spPr>
          <a:xfrm>
            <a:off x="2252133" y="1546795"/>
            <a:ext cx="7643119" cy="4765413"/>
          </a:xfrm>
          <a:prstGeom prst="rect">
            <a:avLst/>
          </a:prstGeom>
        </p:spPr>
      </p:pic>
    </p:spTree>
    <p:extLst>
      <p:ext uri="{BB962C8B-B14F-4D97-AF65-F5344CB8AC3E}">
        <p14:creationId xmlns:p14="http://schemas.microsoft.com/office/powerpoint/2010/main" val="42298588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2BDA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24128"/>
            <a:ext cx="12191695" cy="54864"/>
          </a:xfrm>
          <a:prstGeom prst="rect">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565392"/>
            <a:ext cx="12191695" cy="292608"/>
          </a:xfrm>
          <a:prstGeom prst="rect">
            <a:avLst/>
          </a:prstGeom>
          <a:solidFill>
            <a:srgbClr val="2BDA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519672"/>
            <a:ext cx="12191695" cy="45720"/>
          </a:xfrm>
          <a:prstGeom prst="rect">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284131"/>
            <a:ext cx="3764172" cy="492443"/>
          </a:xfrm>
          <a:prstGeom prst="rect">
            <a:avLst/>
          </a:prstGeom>
          <a:noFill/>
        </p:spPr>
        <p:txBody>
          <a:bodyPr wrap="none" anchor="ctr">
            <a:spAutoFit/>
          </a:bodyPr>
          <a:lstStyle/>
          <a:p>
            <a:pPr>
              <a:defRPr sz="2600" b="1">
                <a:solidFill>
                  <a:srgbClr val="FFFFFF"/>
                </a:solidFill>
                <a:latin typeface="Arial" panose="020B0604020202020204"/>
              </a:defRPr>
            </a:pPr>
            <a:r>
              <a:rPr lang="en-US" dirty="0">
                <a:solidFill>
                  <a:srgbClr val="000000"/>
                </a:solidFill>
              </a:rPr>
              <a:t>Advantages of System</a:t>
            </a:r>
          </a:p>
        </p:txBody>
      </p:sp>
      <p:sp>
        <p:nvSpPr>
          <p:cNvPr id="9" name="Oval 8"/>
          <p:cNvSpPr/>
          <p:nvPr/>
        </p:nvSpPr>
        <p:spPr>
          <a:xfrm>
            <a:off x="11374586" y="6075158"/>
            <a:ext cx="711554" cy="711554"/>
          </a:xfrm>
          <a:prstGeom prst="ellipse">
            <a:avLst/>
          </a:prstGeom>
          <a:solidFill>
            <a:srgbClr val="D3F0FD"/>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2400" b="1" dirty="0">
                <a:solidFill>
                  <a:srgbClr val="0B2046"/>
                </a:solidFill>
              </a:rPr>
              <a:t>19</a:t>
            </a:r>
          </a:p>
        </p:txBody>
      </p:sp>
      <p:sp>
        <p:nvSpPr>
          <p:cNvPr id="7" name="TextBox 6"/>
          <p:cNvSpPr txBox="1"/>
          <p:nvPr/>
        </p:nvSpPr>
        <p:spPr>
          <a:xfrm>
            <a:off x="339969" y="972925"/>
            <a:ext cx="11453446" cy="5632311"/>
          </a:xfrm>
          <a:prstGeom prst="rect">
            <a:avLst/>
          </a:prstGeom>
          <a:noFill/>
        </p:spPr>
        <p:txBody>
          <a:bodyPr wrap="square" lIns="91440" tIns="45720" rIns="91440" bIns="45720" rtlCol="0" anchor="t">
            <a:spAutoFit/>
          </a:bodyPr>
          <a:lstStyle/>
          <a:p>
            <a:pPr marL="342900" indent="-342900" algn="just">
              <a:lnSpc>
                <a:spcPct val="150000"/>
              </a:lnSpc>
              <a:buFont typeface="Arial" panose="020B0604020202020204" pitchFamily="34" charset="0"/>
              <a:buChar char="•"/>
            </a:pPr>
            <a:r>
              <a:rPr lang="en-US" sz="2400" b="1" dirty="0">
                <a:latin typeface="Apotos"/>
                <a:cs typeface="Times New Roman" panose="02020603050405020304" pitchFamily="18" charset="0"/>
              </a:rPr>
              <a:t>Faster and More Efficient Process</a:t>
            </a:r>
            <a:r>
              <a:rPr lang="en-US" sz="2400" dirty="0">
                <a:latin typeface="Apotos"/>
                <a:cs typeface="Times New Roman" panose="02020603050405020304" pitchFamily="18" charset="0"/>
              </a:rPr>
              <a:t>: Streamlines the leave application and approval process, making it faster and more organized.</a:t>
            </a:r>
          </a:p>
          <a:p>
            <a:pPr marL="342900" indent="-342900" algn="just">
              <a:lnSpc>
                <a:spcPct val="150000"/>
              </a:lnSpc>
              <a:buFont typeface="Arial" panose="020B0604020202020204" pitchFamily="34" charset="0"/>
              <a:buChar char="•"/>
            </a:pPr>
            <a:r>
              <a:rPr lang="en-US" sz="2400" b="1" dirty="0">
                <a:latin typeface="Apotos"/>
                <a:cs typeface="Times New Roman" panose="02020603050405020304" pitchFamily="18" charset="0"/>
              </a:rPr>
              <a:t>Real-Time Monitoring</a:t>
            </a:r>
            <a:r>
              <a:rPr lang="en-US" sz="2400" dirty="0">
                <a:latin typeface="Apotos"/>
                <a:cs typeface="Times New Roman" panose="02020603050405020304" pitchFamily="18" charset="0"/>
              </a:rPr>
              <a:t>: Allows users to track leave application status, approvals, and leave balances in real time.</a:t>
            </a:r>
          </a:p>
          <a:p>
            <a:pPr marL="342900" indent="-342900" algn="just">
              <a:lnSpc>
                <a:spcPct val="150000"/>
              </a:lnSpc>
              <a:buFont typeface="Arial" panose="020B0604020202020204" pitchFamily="34" charset="0"/>
              <a:buChar char="•"/>
            </a:pPr>
            <a:r>
              <a:rPr lang="en-US" sz="2400" b="1" dirty="0">
                <a:latin typeface="Apotos"/>
                <a:cs typeface="Times New Roman" panose="02020603050405020304" pitchFamily="18" charset="0"/>
              </a:rPr>
              <a:t>Reduced Human Errors</a:t>
            </a:r>
            <a:r>
              <a:rPr lang="en-US" sz="2400" dirty="0">
                <a:latin typeface="Apotos"/>
                <a:cs typeface="Times New Roman" panose="02020603050405020304" pitchFamily="18" charset="0"/>
              </a:rPr>
              <a:t>: Minimizes manual calculations and record-keeping errors, ensuring more accurate leave balances and records.</a:t>
            </a:r>
          </a:p>
          <a:p>
            <a:pPr marL="342900" indent="-342900" algn="just">
              <a:lnSpc>
                <a:spcPct val="150000"/>
              </a:lnSpc>
              <a:buFont typeface="Arial" panose="020B0604020202020204" pitchFamily="34" charset="0"/>
              <a:buChar char="•"/>
            </a:pPr>
            <a:r>
              <a:rPr lang="en-US" sz="2400" b="1" dirty="0">
                <a:latin typeface="Apotos"/>
                <a:cs typeface="Times New Roman" panose="02020603050405020304" pitchFamily="18" charset="0"/>
              </a:rPr>
              <a:t>Enhanced Transparency and Security</a:t>
            </a:r>
            <a:r>
              <a:rPr lang="en-US" sz="2400" dirty="0">
                <a:latin typeface="Apotos"/>
                <a:cs typeface="Times New Roman" panose="02020603050405020304" pitchFamily="18" charset="0"/>
              </a:rPr>
              <a:t>: Provides a clear approval workflow and role-based access control, improving transparency and system security.</a:t>
            </a:r>
          </a:p>
          <a:p>
            <a:pPr marL="342900" indent="-342900" algn="just">
              <a:lnSpc>
                <a:spcPct val="150000"/>
              </a:lnSpc>
              <a:buFont typeface="Arial" panose="020B0604020202020204" pitchFamily="34" charset="0"/>
              <a:buChar char="•"/>
            </a:pPr>
            <a:r>
              <a:rPr lang="en-US" sz="2400" b="1" dirty="0">
                <a:latin typeface="Apotos"/>
                <a:cs typeface="Times New Roman" panose="02020603050405020304" pitchFamily="18" charset="0"/>
              </a:rPr>
              <a:t>Easy Report Generation</a:t>
            </a:r>
            <a:r>
              <a:rPr lang="en-US" sz="2400" dirty="0">
                <a:latin typeface="Apotos"/>
                <a:cs typeface="Times New Roman" panose="02020603050405020304" pitchFamily="18" charset="0"/>
              </a:rPr>
              <a:t>: Makes it easy to view, manage, and generate reports related to leave applications and leave records.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2BDA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24128"/>
            <a:ext cx="12191695" cy="54864"/>
          </a:xfrm>
          <a:prstGeom prst="rect">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565392"/>
            <a:ext cx="12191695" cy="292608"/>
          </a:xfrm>
          <a:prstGeom prst="rect">
            <a:avLst/>
          </a:prstGeom>
          <a:solidFill>
            <a:srgbClr val="2BDA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519672"/>
            <a:ext cx="12191695" cy="45720"/>
          </a:xfrm>
          <a:prstGeom prst="rect">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284131"/>
            <a:ext cx="2000869" cy="492443"/>
          </a:xfrm>
          <a:prstGeom prst="rect">
            <a:avLst/>
          </a:prstGeom>
          <a:noFill/>
        </p:spPr>
        <p:txBody>
          <a:bodyPr wrap="none" anchor="ctr">
            <a:spAutoFit/>
          </a:bodyPr>
          <a:lstStyle/>
          <a:p>
            <a:pPr>
              <a:defRPr sz="2600" b="1">
                <a:solidFill>
                  <a:srgbClr val="FFFFFF"/>
                </a:solidFill>
                <a:latin typeface="Arial" panose="020B0604020202020204"/>
              </a:defRPr>
            </a:pPr>
            <a:r>
              <a:rPr lang="en-US" dirty="0">
                <a:solidFill>
                  <a:srgbClr val="000000"/>
                </a:solidFill>
              </a:rPr>
              <a:t>Conclusion</a:t>
            </a:r>
          </a:p>
        </p:txBody>
      </p:sp>
      <p:sp>
        <p:nvSpPr>
          <p:cNvPr id="9" name="Oval 8"/>
          <p:cNvSpPr/>
          <p:nvPr/>
        </p:nvSpPr>
        <p:spPr>
          <a:xfrm>
            <a:off x="11374586" y="6075158"/>
            <a:ext cx="711554" cy="711554"/>
          </a:xfrm>
          <a:prstGeom prst="ellipse">
            <a:avLst/>
          </a:prstGeom>
          <a:solidFill>
            <a:srgbClr val="D3F0FD"/>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2400" b="1" dirty="0">
                <a:solidFill>
                  <a:srgbClr val="0B2046"/>
                </a:solidFill>
              </a:rPr>
              <a:t>20</a:t>
            </a:r>
          </a:p>
        </p:txBody>
      </p:sp>
      <p:sp>
        <p:nvSpPr>
          <p:cNvPr id="7" name="TextBox 6"/>
          <p:cNvSpPr txBox="1"/>
          <p:nvPr/>
        </p:nvSpPr>
        <p:spPr>
          <a:xfrm>
            <a:off x="339969" y="1328524"/>
            <a:ext cx="11453446" cy="5009833"/>
          </a:xfrm>
          <a:prstGeom prst="rect">
            <a:avLst/>
          </a:prstGeom>
          <a:noFill/>
        </p:spPr>
        <p:txBody>
          <a:bodyPr wrap="square" lIns="91440" tIns="45720" rIns="91440" bIns="45720" rtlCol="0" anchor="t">
            <a:spAutoFit/>
          </a:bodyPr>
          <a:lstStyle/>
          <a:p>
            <a:pPr marL="342900" indent="-342900" algn="just">
              <a:lnSpc>
                <a:spcPct val="150000"/>
              </a:lnSpc>
              <a:buFont typeface="Arial" panose="020B0604020202020204" pitchFamily="34" charset="0"/>
              <a:buChar char="•"/>
            </a:pPr>
            <a:r>
              <a:rPr lang="en-US" sz="2400" dirty="0">
                <a:latin typeface="Apotos"/>
                <a:cs typeface="Times New Roman" panose="02020603050405020304" pitchFamily="18" charset="0"/>
              </a:rPr>
              <a:t>The Staff Leave Management System (SLMS) successfully stream-lines the process of requesting, recommending, approving, and tracking staff leave at UCSH.</a:t>
            </a:r>
          </a:p>
          <a:p>
            <a:pPr marL="342900" indent="-342900" algn="just">
              <a:lnSpc>
                <a:spcPct val="150000"/>
              </a:lnSpc>
              <a:buFont typeface="Arial" panose="020B0604020202020204" pitchFamily="34" charset="0"/>
              <a:buChar char="•"/>
            </a:pPr>
            <a:r>
              <a:rPr lang="en-US" sz="2400" dirty="0">
                <a:latin typeface="Apotos"/>
                <a:cs typeface="Times New Roman" panose="02020603050405020304" pitchFamily="18" charset="0"/>
              </a:rPr>
              <a:t>The platform provides a secure, accurate, and centralized web-based solution that eliminates manual paperwork and minimizes administrative errors.</a:t>
            </a:r>
          </a:p>
          <a:p>
            <a:pPr marL="342900" indent="-342900" algn="just">
              <a:lnSpc>
                <a:spcPct val="150000"/>
              </a:lnSpc>
              <a:buFont typeface="Arial" panose="020B0604020202020204" pitchFamily="34" charset="0"/>
              <a:buChar char="•"/>
            </a:pPr>
            <a:r>
              <a:rPr lang="en-US" sz="2400" dirty="0">
                <a:latin typeface="Apotos"/>
                <a:cs typeface="Times New Roman" panose="02020603050405020304" pitchFamily="18" charset="0"/>
              </a:rPr>
              <a:t>It supports timely decision-making and reliable record management through automated workflows and structured leave reporting</a:t>
            </a:r>
            <a:r>
              <a:rPr lang="en-US" sz="2400" dirty="0">
                <a:latin typeface="Apotos"/>
                <a:ea typeface="+mn-lt"/>
                <a:cs typeface="Times New Roman" panose="02020603050405020304" pitchFamily="18" charset="0"/>
              </a:rPr>
              <a:t>.</a:t>
            </a:r>
          </a:p>
          <a:p>
            <a:pPr marL="342900" indent="-342900" algn="just">
              <a:lnSpc>
                <a:spcPct val="150000"/>
              </a:lnSpc>
              <a:buFont typeface="Arial" panose="020B0604020202020204" pitchFamily="34" charset="0"/>
              <a:buChar char="•"/>
            </a:pPr>
            <a:r>
              <a:rPr lang="en-US" sz="2400" dirty="0">
                <a:latin typeface="Apotos"/>
                <a:cs typeface="Times New Roman" panose="02020603050405020304" pitchFamily="18" charset="0"/>
              </a:rPr>
              <a:t>Overall, this project enhanced our practical development, problem-solving, and collaboration skills while contributing to the digital transformation at UCSH.</a:t>
            </a:r>
          </a:p>
        </p:txBody>
      </p:sp>
    </p:spTree>
    <p:extLst>
      <p:ext uri="{BB962C8B-B14F-4D97-AF65-F5344CB8AC3E}">
        <p14:creationId xmlns:p14="http://schemas.microsoft.com/office/powerpoint/2010/main" val="3731329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729355"/>
            <a:ext cx="12191695" cy="4114800"/>
          </a:xfrm>
          <a:prstGeom prst="rect">
            <a:avLst/>
          </a:prstGeom>
          <a:solidFill>
            <a:srgbClr val="2BDA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2618507"/>
            <a:ext cx="12191695" cy="109728"/>
          </a:xfrm>
          <a:prstGeom prst="rect">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557043" y="3715795"/>
            <a:ext cx="5077607" cy="1692771"/>
          </a:xfrm>
          <a:prstGeom prst="rect">
            <a:avLst/>
          </a:prstGeom>
          <a:noFill/>
        </p:spPr>
        <p:txBody>
          <a:bodyPr wrap="none">
            <a:spAutoFit/>
          </a:bodyPr>
          <a:lstStyle/>
          <a:p>
            <a:pPr algn="ctr">
              <a:defRPr sz="5600" b="1">
                <a:solidFill>
                  <a:srgbClr val="D99B26"/>
                </a:solidFill>
              </a:defRPr>
            </a:pPr>
            <a:r>
              <a:rPr sz="72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THANK YOU!</a:t>
            </a:r>
          </a:p>
          <a:p>
            <a:pPr algn="ctr">
              <a:defRPr sz="2400">
                <a:solidFill>
                  <a:srgbClr val="FFFFFF"/>
                </a:solidFill>
              </a:defRPr>
            </a:pPr>
            <a:r>
              <a:rPr sz="3200" dirty="0"/>
              <a:t>Questions &amp; Answers</a:t>
            </a:r>
          </a:p>
        </p:txBody>
      </p:sp>
      <p:sp>
        <p:nvSpPr>
          <p:cNvPr id="5" name="TextBox 4"/>
          <p:cNvSpPr txBox="1"/>
          <p:nvPr/>
        </p:nvSpPr>
        <p:spPr>
          <a:xfrm>
            <a:off x="3354070" y="604130"/>
            <a:ext cx="5483552" cy="646331"/>
          </a:xfrm>
          <a:prstGeom prst="rect">
            <a:avLst/>
          </a:prstGeom>
          <a:noFill/>
        </p:spPr>
        <p:txBody>
          <a:bodyPr wrap="none">
            <a:spAutoFit/>
          </a:bodyPr>
          <a:lstStyle/>
          <a:p>
            <a:pPr algn="ctr">
              <a:defRPr sz="2000" b="1">
                <a:solidFill>
                  <a:srgbClr val="0B2046"/>
                </a:solidFill>
              </a:defRPr>
            </a:pPr>
            <a:r>
              <a:rPr dirty="0"/>
              <a:t>UNIVERSITY OF COMPUTER STUDIES (HINTHADA)</a:t>
            </a:r>
          </a:p>
          <a:p>
            <a:pPr algn="ctr">
              <a:defRPr sz="1600">
                <a:solidFill>
                  <a:srgbClr val="1E293B"/>
                </a:solidFill>
              </a:defRPr>
            </a:pPr>
            <a:r>
              <a:rPr dirty="0"/>
              <a:t>Final Year Project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740</TotalTime>
  <Words>14527</Words>
  <Application>Microsoft Office PowerPoint</Application>
  <PresentationFormat>Widescreen</PresentationFormat>
  <Paragraphs>441</Paragraphs>
  <Slides>21</Slides>
  <Notes>14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Apotos</vt:lpstr>
      <vt:lpstr>-apple-system-body</vt:lpstr>
      <vt:lpstr>Arial</vt:lpstr>
      <vt:lpstr>Arial,Sans-Serif</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CHERRY</dc:creator>
  <dc:description>generated using python-pptx</dc:description>
  <cp:lastModifiedBy>Su Wai Hnin</cp:lastModifiedBy>
  <cp:revision>276</cp:revision>
  <dcterms:created xsi:type="dcterms:W3CDTF">2013-01-27T09:14:00Z</dcterms:created>
  <dcterms:modified xsi:type="dcterms:W3CDTF">2026-08-31T07:28:22Z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1033-12.1.0.28032</vt:lpwstr>
  </property>
  <property fmtid="{D5CDD505-2E9C-101B-9397-08002B2CF9AE}" pid="3" name="ICV">
    <vt:lpwstr>8EF765F34FF844A298A22402ABC1C72B_12</vt:lpwstr>
  </property>
</Properties>
</file>